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090A"/>
        </a:solidFill>
      </p:bgPr>
    </p:bg>
    <p:spTree>
      <p:nvGrpSpPr>
        <p:cNvPr id="1" name=""/>
        <p:cNvGrpSpPr/>
        <p:nvPr/>
      </p:nvGrpSpPr>
      <p:grpSpPr>
        <a:xfrm>
          <a:off x="0" y="0"/>
          <a:ext cx="0" cy="0"/>
          <a:chOff x="0" y="0"/>
          <a:chExt cx="0" cy="0"/>
        </a:xfrm>
      </p:grpSpPr>
      <p:sp>
        <p:nvSpPr>
          <p:cNvPr id="2" name="Shape 0"/>
          <p:cNvSpPr/>
          <p:nvPr/>
        </p:nvSpPr>
        <p:spPr>
          <a:xfrm>
            <a:off x="7772400" y="-2011680"/>
            <a:ext cx="6400800" cy="6400800"/>
          </a:xfrm>
          <a:prstGeom prst="ellipse">
            <a:avLst/>
          </a:prstGeom>
          <a:solidFill>
            <a:srgbClr val="171A3A">
              <a:alpha val="70000"/>
            </a:srgbClr>
          </a:solidFill>
          <a:ln/>
        </p:spPr>
      </p:sp>
      <p:sp>
        <p:nvSpPr>
          <p:cNvPr id="3" name="Shape 1"/>
          <p:cNvSpPr/>
          <p:nvPr/>
        </p:nvSpPr>
        <p:spPr>
          <a:xfrm>
            <a:off x="-1828800" y="3200400"/>
            <a:ext cx="5486400" cy="5486400"/>
          </a:xfrm>
          <a:prstGeom prst="ellipse">
            <a:avLst/>
          </a:prstGeom>
          <a:solidFill>
            <a:srgbClr val="120F25">
              <a:alpha val="60000"/>
            </a:srgbClr>
          </a:solidFill>
          <a:ln/>
        </p:spPr>
      </p:sp>
      <p:sp>
        <p:nvSpPr>
          <p:cNvPr id="4" name="Shape 2"/>
          <p:cNvSpPr/>
          <p:nvPr/>
        </p:nvSpPr>
        <p:spPr>
          <a:xfrm>
            <a:off x="640080" y="640080"/>
            <a:ext cx="502920" cy="502920"/>
          </a:xfrm>
          <a:prstGeom prst="roundRect">
            <a:avLst>
              <a:gd name="adj" fmla="val 21818"/>
            </a:avLst>
          </a:prstGeom>
          <a:solidFill>
            <a:srgbClr val="16172A"/>
          </a:solidFill>
          <a:ln w="15875">
            <a:solidFill>
              <a:srgbClr val="7C7FFF"/>
            </a:solidFill>
            <a:prstDash val="solid"/>
          </a:ln>
        </p:spPr>
      </p:sp>
      <p:sp>
        <p:nvSpPr>
          <p:cNvPr id="5" name="Text 3"/>
          <p:cNvSpPr/>
          <p:nvPr/>
        </p:nvSpPr>
        <p:spPr>
          <a:xfrm>
            <a:off x="640080" y="640080"/>
            <a:ext cx="502920" cy="502920"/>
          </a:xfrm>
          <a:prstGeom prst="rect">
            <a:avLst/>
          </a:prstGeom>
          <a:noFill/>
          <a:ln/>
        </p:spPr>
        <p:txBody>
          <a:bodyPr wrap="square" lIns="0" tIns="0" rIns="0" bIns="0" rtlCol="0" anchor="ctr"/>
          <a:lstStyle/>
          <a:p>
            <a:pPr algn="ctr" indent="0" marL="0">
              <a:buNone/>
            </a:pPr>
            <a:r>
              <a:rPr lang="en-US" sz="2400" b="1" dirty="0">
                <a:solidFill>
                  <a:srgbClr val="B59AFF"/>
                </a:solidFill>
                <a:latin typeface="Arial" pitchFamily="34" charset="0"/>
                <a:ea typeface="Arial" pitchFamily="34" charset="-122"/>
                <a:cs typeface="Arial" pitchFamily="34" charset="-120"/>
              </a:rPr>
              <a:t>B</a:t>
            </a:r>
            <a:endParaRPr lang="en-US" sz="2400" dirty="0"/>
          </a:p>
        </p:txBody>
      </p:sp>
      <p:sp>
        <p:nvSpPr>
          <p:cNvPr id="6" name="Text 4"/>
          <p:cNvSpPr/>
          <p:nvPr/>
        </p:nvSpPr>
        <p:spPr>
          <a:xfrm>
            <a:off x="1280160" y="640080"/>
            <a:ext cx="3657600" cy="502920"/>
          </a:xfrm>
          <a:prstGeom prst="rect">
            <a:avLst/>
          </a:prstGeom>
          <a:noFill/>
          <a:ln/>
        </p:spPr>
        <p:txBody>
          <a:bodyPr wrap="square" lIns="0" tIns="0" rIns="0" bIns="0" rtlCol="0" anchor="ctr"/>
          <a:lstStyle/>
          <a:p>
            <a:pPr indent="0" marL="0">
              <a:buNone/>
            </a:pPr>
            <a:r>
              <a:rPr lang="en-US" sz="1800" b="1" dirty="0">
                <a:solidFill>
                  <a:srgbClr val="F7F8F8"/>
                </a:solidFill>
                <a:latin typeface="Arial" pitchFamily="34" charset="0"/>
                <a:ea typeface="Arial" pitchFamily="34" charset="-122"/>
                <a:cs typeface="Arial" pitchFamily="34" charset="-120"/>
              </a:rPr>
              <a:t>Biblio</a:t>
            </a:r>
            <a:endParaRPr lang="en-US" sz="1800" dirty="0"/>
          </a:p>
        </p:txBody>
      </p:sp>
      <p:sp>
        <p:nvSpPr>
          <p:cNvPr id="7" name="Text 5"/>
          <p:cNvSpPr/>
          <p:nvPr/>
        </p:nvSpPr>
        <p:spPr>
          <a:xfrm>
            <a:off x="8808415" y="640080"/>
            <a:ext cx="2743200" cy="502920"/>
          </a:xfrm>
          <a:prstGeom prst="rect">
            <a:avLst/>
          </a:prstGeom>
          <a:noFill/>
          <a:ln/>
        </p:spPr>
        <p:txBody>
          <a:bodyPr wrap="square" lIns="0" tIns="0" rIns="0" bIns="0" rtlCol="0" anchor="ctr"/>
          <a:lstStyle/>
          <a:p>
            <a:pPr algn="r" indent="0" marL="0">
              <a:buNone/>
            </a:pPr>
            <a:r>
              <a:rPr lang="en-US" sz="1200" dirty="0">
                <a:solidFill>
                  <a:srgbClr val="8A8F98"/>
                </a:solidFill>
                <a:latin typeface="Arial" pitchFamily="34" charset="0"/>
                <a:ea typeface="Arial" pitchFamily="34" charset="-122"/>
                <a:cs typeface="Arial" pitchFamily="34" charset="-120"/>
              </a:rPr>
              <a:t>by Wonderly</a:t>
            </a:r>
            <a:endParaRPr lang="en-US" sz="1200" dirty="0"/>
          </a:p>
        </p:txBody>
      </p:sp>
      <p:sp>
        <p:nvSpPr>
          <p:cNvPr id="8" name="Text 6"/>
          <p:cNvSpPr/>
          <p:nvPr/>
        </p:nvSpPr>
        <p:spPr>
          <a:xfrm>
            <a:off x="640080" y="2331720"/>
            <a:ext cx="8229600" cy="365760"/>
          </a:xfrm>
          <a:prstGeom prst="rect">
            <a:avLst/>
          </a:prstGeom>
          <a:noFill/>
          <a:ln/>
        </p:spPr>
        <p:txBody>
          <a:bodyPr wrap="square" lIns="0" tIns="0" rIns="0" bIns="0" rtlCol="0" anchor="ctr"/>
          <a:lstStyle/>
          <a:p>
            <a:pPr indent="0" marL="0">
              <a:buNone/>
            </a:pPr>
            <a:r>
              <a:rPr lang="en-US" sz="1300" b="1" spc="200" kern="0" dirty="0">
                <a:solidFill>
                  <a:srgbClr val="B59AFF"/>
                </a:solidFill>
                <a:latin typeface="Arial" pitchFamily="34" charset="0"/>
                <a:ea typeface="Arial" pitchFamily="34" charset="-122"/>
                <a:cs typeface="Arial" pitchFamily="34" charset="-120"/>
              </a:rPr>
              <a:t>Knowledge base for AI coding teams</a:t>
            </a:r>
            <a:endParaRPr lang="en-US" sz="1300" dirty="0"/>
          </a:p>
        </p:txBody>
      </p:sp>
      <p:sp>
        <p:nvSpPr>
          <p:cNvPr id="9" name="Text 7"/>
          <p:cNvSpPr/>
          <p:nvPr/>
        </p:nvSpPr>
        <p:spPr>
          <a:xfrm>
            <a:off x="640080" y="2743200"/>
            <a:ext cx="10424160" cy="1828800"/>
          </a:xfrm>
          <a:prstGeom prst="rect">
            <a:avLst/>
          </a:prstGeom>
          <a:noFill/>
          <a:ln/>
        </p:spPr>
        <p:txBody>
          <a:bodyPr wrap="square" lIns="0" tIns="0" rIns="0" bIns="0" rtlCol="0" anchor="ctr"/>
          <a:lstStyle/>
          <a:p>
            <a:pPr indent="0" marL="0">
              <a:lnSpc>
                <a:spcPct val="102000"/>
              </a:lnSpc>
              <a:buNone/>
            </a:pPr>
            <a:r>
              <a:rPr lang="en-US" sz="4600" b="1" dirty="0">
                <a:solidFill>
                  <a:srgbClr val="F7F8F8"/>
                </a:solidFill>
                <a:latin typeface="Arial" pitchFamily="34" charset="0"/>
                <a:ea typeface="Arial" pitchFamily="34" charset="-122"/>
                <a:cs typeface="Arial" pitchFamily="34" charset="-120"/>
              </a:rPr>
              <a:t>Make every coding agent write</a:t>
            </a:r>
            <a:endParaRPr lang="en-US" sz="4600" dirty="0"/>
          </a:p>
          <a:p>
            <a:pPr indent="0" marL="0">
              <a:lnSpc>
                <a:spcPct val="102000"/>
              </a:lnSpc>
              <a:buNone/>
            </a:pPr>
            <a:r>
              <a:rPr lang="en-US" sz="4600" b="1" dirty="0">
                <a:solidFill>
                  <a:srgbClr val="F7F8F8"/>
                </a:solidFill>
                <a:latin typeface="Arial" pitchFamily="34" charset="0"/>
                <a:ea typeface="Arial" pitchFamily="34" charset="-122"/>
                <a:cs typeface="Arial" pitchFamily="34" charset="-120"/>
              </a:rPr>
              <a:t>like your best engineer.</a:t>
            </a:r>
            <a:endParaRPr lang="en-US" sz="4600" dirty="0"/>
          </a:p>
        </p:txBody>
      </p:sp>
      <p:sp>
        <p:nvSpPr>
          <p:cNvPr id="10" name="Text 8"/>
          <p:cNvSpPr/>
          <p:nvPr/>
        </p:nvSpPr>
        <p:spPr>
          <a:xfrm>
            <a:off x="640080" y="4709160"/>
            <a:ext cx="9784080" cy="914400"/>
          </a:xfrm>
          <a:prstGeom prst="rect">
            <a:avLst/>
          </a:prstGeom>
          <a:noFill/>
          <a:ln/>
        </p:spPr>
        <p:txBody>
          <a:bodyPr wrap="square" lIns="0" tIns="0" rIns="0" bIns="0" rtlCol="0" anchor="ctr"/>
          <a:lstStyle/>
          <a:p>
            <a:pPr indent="0" marL="0">
              <a:lnSpc>
                <a:spcPct val="125000"/>
              </a:lnSpc>
              <a:buNone/>
            </a:pPr>
            <a:r>
              <a:rPr lang="en-US" sz="1500" dirty="0">
                <a:solidFill>
                  <a:srgbClr val="B4BCD0"/>
                </a:solidFill>
                <a:latin typeface="Arial" pitchFamily="34" charset="0"/>
                <a:ea typeface="Arial" pitchFamily="34" charset="-122"/>
                <a:cs typeface="Arial" pitchFamily="34" charset="-120"/>
              </a:rPr>
              <a:t>Biblio gives every coding agent one source of truth: your team's engineering standards. It checks the agent's code against those standards in review, then saves the corrections so the same mistake doesn't ship twice.</a:t>
            </a:r>
            <a:endParaRPr lang="en-US" sz="1500" dirty="0"/>
          </a:p>
        </p:txBody>
      </p:sp>
      <p:sp>
        <p:nvSpPr>
          <p:cNvPr id="11" name="Text 9"/>
          <p:cNvSpPr/>
          <p:nvPr/>
        </p:nvSpPr>
        <p:spPr>
          <a:xfrm>
            <a:off x="640080" y="5943600"/>
            <a:ext cx="5486400" cy="274320"/>
          </a:xfrm>
          <a:prstGeom prst="rect">
            <a:avLst/>
          </a:prstGeom>
          <a:noFill/>
          <a:ln/>
        </p:spPr>
        <p:txBody>
          <a:bodyPr wrap="square" lIns="0" tIns="0" rIns="0" bIns="0" rtlCol="0" anchor="ctr"/>
          <a:lstStyle/>
          <a:p>
            <a:pPr indent="0" marL="0">
              <a:buNone/>
            </a:pPr>
            <a:r>
              <a:rPr lang="en-US" sz="1100" dirty="0">
                <a:solidFill>
                  <a:srgbClr val="8A8F98"/>
                </a:solidFill>
                <a:latin typeface="Courier New" pitchFamily="34" charset="0"/>
                <a:ea typeface="Courier New" pitchFamily="34" charset="-122"/>
                <a:cs typeface="Courier New" pitchFamily="34" charset="-120"/>
              </a:rPr>
              <a:t>Seed round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090A"/>
        </a:solidFill>
      </p:bgPr>
    </p:bg>
    <p:spTree>
      <p:nvGrpSpPr>
        <p:cNvPr id="1" name=""/>
        <p:cNvGrpSpPr/>
        <p:nvPr/>
      </p:nvGrpSpPr>
      <p:grpSpPr>
        <a:xfrm>
          <a:off x="0" y="0"/>
          <a:ext cx="0" cy="0"/>
          <a:chOff x="0" y="0"/>
          <a:chExt cx="0" cy="0"/>
        </a:xfrm>
      </p:grpSpPr>
      <p:sp>
        <p:nvSpPr>
          <p:cNvPr id="2" name="Text 0"/>
          <p:cNvSpPr/>
          <p:nvPr/>
        </p:nvSpPr>
        <p:spPr>
          <a:xfrm>
            <a:off x="640080" y="594360"/>
            <a:ext cx="7315200" cy="274320"/>
          </a:xfrm>
          <a:prstGeom prst="rect">
            <a:avLst/>
          </a:prstGeom>
          <a:noFill/>
          <a:ln/>
        </p:spPr>
        <p:txBody>
          <a:bodyPr wrap="square" lIns="0" tIns="0" rIns="0" bIns="0" rtlCol="0" anchor="ctr"/>
          <a:lstStyle/>
          <a:p>
            <a:pPr algn="l" indent="0" marL="0">
              <a:buNone/>
            </a:pPr>
            <a:r>
              <a:rPr lang="en-US" sz="1100" b="1" spc="300" kern="0" dirty="0">
                <a:solidFill>
                  <a:srgbClr val="B59AFF"/>
                </a:solidFill>
                <a:latin typeface="Arial" pitchFamily="34" charset="0"/>
                <a:ea typeface="Arial" pitchFamily="34" charset="-122"/>
                <a:cs typeface="Arial" pitchFamily="34" charset="-120"/>
              </a:rPr>
              <a:t>THE PROBLEM</a:t>
            </a:r>
            <a:endParaRPr lang="en-US" sz="1100" dirty="0"/>
          </a:p>
        </p:txBody>
      </p:sp>
      <p:sp>
        <p:nvSpPr>
          <p:cNvPr id="3" name="Text 1"/>
          <p:cNvSpPr/>
          <p:nvPr/>
        </p:nvSpPr>
        <p:spPr>
          <a:xfrm>
            <a:off x="640080" y="960120"/>
            <a:ext cx="10515600" cy="1005840"/>
          </a:xfrm>
          <a:prstGeom prst="rect">
            <a:avLst/>
          </a:prstGeom>
          <a:noFill/>
          <a:ln/>
        </p:spPr>
        <p:txBody>
          <a:bodyPr wrap="square" lIns="0" tIns="0" rIns="0" bIns="0" rtlCol="0" anchor="t"/>
          <a:lstStyle/>
          <a:p>
            <a:pPr algn="l" indent="0" marL="0">
              <a:lnSpc>
                <a:spcPct val="100000"/>
              </a:lnSpc>
              <a:buNone/>
            </a:pPr>
            <a:r>
              <a:rPr lang="en-US" sz="3000" b="1" dirty="0">
                <a:solidFill>
                  <a:srgbClr val="F7F8F8"/>
                </a:solidFill>
                <a:latin typeface="Arial" pitchFamily="34" charset="0"/>
                <a:ea typeface="Arial" pitchFamily="34" charset="-122"/>
                <a:cs typeface="Arial" pitchFamily="34" charset="-120"/>
              </a:rPr>
              <a:t>Right now, AI coding is</a:t>
            </a:r>
            <a:endParaRPr lang="en-US" sz="3000" dirty="0"/>
          </a:p>
          <a:p>
            <a:pPr algn="l" indent="0" marL="0">
              <a:lnSpc>
                <a:spcPct val="100000"/>
              </a:lnSpc>
              <a:buNone/>
            </a:pPr>
            <a:r>
              <a:rPr lang="en-US" sz="3000" b="1" dirty="0">
                <a:solidFill>
                  <a:srgbClr val="F7F8F8"/>
                </a:solidFill>
                <a:latin typeface="Arial" pitchFamily="34" charset="0"/>
                <a:ea typeface="Arial" pitchFamily="34" charset="-122"/>
                <a:cs typeface="Arial" pitchFamily="34" charset="-120"/>
              </a:rPr>
              <a:t>a wild west.</a:t>
            </a:r>
            <a:endParaRPr lang="en-US" sz="3000" dirty="0"/>
          </a:p>
        </p:txBody>
      </p:sp>
      <p:sp>
        <p:nvSpPr>
          <p:cNvPr id="4" name="Text 2"/>
          <p:cNvSpPr/>
          <p:nvPr/>
        </p:nvSpPr>
        <p:spPr>
          <a:xfrm>
            <a:off x="640080" y="2331720"/>
            <a:ext cx="10424160" cy="548640"/>
          </a:xfrm>
          <a:prstGeom prst="rect">
            <a:avLst/>
          </a:prstGeom>
          <a:noFill/>
          <a:ln/>
        </p:spPr>
        <p:txBody>
          <a:bodyPr wrap="square" lIns="0" tIns="0" rIns="0" bIns="0" rtlCol="0" anchor="ctr"/>
          <a:lstStyle/>
          <a:p>
            <a:pPr indent="0" marL="0">
              <a:lnSpc>
                <a:spcPct val="120000"/>
              </a:lnSpc>
              <a:buNone/>
            </a:pPr>
            <a:r>
              <a:rPr lang="en-US" sz="1400" dirty="0">
                <a:solidFill>
                  <a:srgbClr val="8A8F98"/>
                </a:solidFill>
                <a:latin typeface="Arial" pitchFamily="34" charset="0"/>
                <a:ea typeface="Arial" pitchFamily="34" charset="-122"/>
                <a:cs typeface="Arial" pitchFamily="34" charset="-120"/>
              </a:rPr>
              <a:t>The same model and the same codebase produce wildly different code depending on who is prompting it. That variance ends up in production.</a:t>
            </a:r>
            <a:endParaRPr lang="en-US" sz="1400" dirty="0"/>
          </a:p>
        </p:txBody>
      </p:sp>
      <p:sp>
        <p:nvSpPr>
          <p:cNvPr id="5" name="Shape 3"/>
          <p:cNvSpPr/>
          <p:nvPr/>
        </p:nvSpPr>
        <p:spPr>
          <a:xfrm>
            <a:off x="640080" y="3154680"/>
            <a:ext cx="3346704" cy="2423160"/>
          </a:xfrm>
          <a:prstGeom prst="roundRect">
            <a:avLst>
              <a:gd name="adj" fmla="val 3396"/>
            </a:avLst>
          </a:prstGeom>
          <a:solidFill>
            <a:srgbClr val="131418"/>
          </a:solidFill>
          <a:ln w="12700">
            <a:solidFill>
              <a:srgbClr val="26282E"/>
            </a:solidFill>
            <a:prstDash val="solid"/>
          </a:ln>
          <a:effectLst>
            <a:outerShdw sx="100000" sy="100000" kx="0" ky="0" algn="bl" rotWithShape="0" blurRad="127000" dist="50800" dir="5400000">
              <a:srgbClr val="000000">
                <a:alpha val="35000"/>
              </a:srgbClr>
            </a:outerShdw>
          </a:effectLst>
        </p:spPr>
      </p:sp>
      <p:sp>
        <p:nvSpPr>
          <p:cNvPr id="6" name="Shape 4"/>
          <p:cNvSpPr/>
          <p:nvPr/>
        </p:nvSpPr>
        <p:spPr>
          <a:xfrm>
            <a:off x="640080" y="3154680"/>
            <a:ext cx="3346704" cy="54864"/>
          </a:xfrm>
          <a:prstGeom prst="rect">
            <a:avLst/>
          </a:prstGeom>
          <a:solidFill>
            <a:srgbClr val="B59AFF"/>
          </a:solidFill>
          <a:ln/>
        </p:spPr>
      </p:sp>
      <p:sp>
        <p:nvSpPr>
          <p:cNvPr id="7" name="Text 5"/>
          <p:cNvSpPr/>
          <p:nvPr/>
        </p:nvSpPr>
        <p:spPr>
          <a:xfrm>
            <a:off x="932688" y="3429000"/>
            <a:ext cx="2798064" cy="731520"/>
          </a:xfrm>
          <a:prstGeom prst="rect">
            <a:avLst/>
          </a:prstGeom>
          <a:noFill/>
          <a:ln/>
        </p:spPr>
        <p:txBody>
          <a:bodyPr wrap="square" lIns="0" tIns="0" rIns="0" bIns="0" rtlCol="0" anchor="ctr"/>
          <a:lstStyle/>
          <a:p>
            <a:pPr indent="0" marL="0">
              <a:buNone/>
            </a:pPr>
            <a:r>
              <a:rPr lang="en-US" sz="3000" b="1" dirty="0">
                <a:solidFill>
                  <a:srgbClr val="F7F8F8"/>
                </a:solidFill>
                <a:latin typeface="Arial" pitchFamily="34" charset="0"/>
                <a:ea typeface="Arial" pitchFamily="34" charset="-122"/>
                <a:cs typeface="Arial" pitchFamily="34" charset="-120"/>
              </a:rPr>
              <a:t>10 agents</a:t>
            </a:r>
            <a:endParaRPr lang="en-US" sz="3000" dirty="0"/>
          </a:p>
        </p:txBody>
      </p:sp>
      <p:sp>
        <p:nvSpPr>
          <p:cNvPr id="8" name="Text 6"/>
          <p:cNvSpPr/>
          <p:nvPr/>
        </p:nvSpPr>
        <p:spPr>
          <a:xfrm>
            <a:off x="932688" y="4178808"/>
            <a:ext cx="2798064" cy="365760"/>
          </a:xfrm>
          <a:prstGeom prst="rect">
            <a:avLst/>
          </a:prstGeom>
          <a:noFill/>
          <a:ln/>
        </p:spPr>
        <p:txBody>
          <a:bodyPr wrap="square" lIns="0" tIns="0" rIns="0" bIns="0" rtlCol="0" anchor="ctr"/>
          <a:lstStyle/>
          <a:p>
            <a:pPr indent="0" marL="0">
              <a:buNone/>
            </a:pPr>
            <a:r>
              <a:rPr lang="en-US" sz="1500" b="1" dirty="0">
                <a:solidFill>
                  <a:srgbClr val="F7F8F8"/>
                </a:solidFill>
                <a:latin typeface="Arial" pitchFamily="34" charset="0"/>
                <a:ea typeface="Arial" pitchFamily="34" charset="-122"/>
                <a:cs typeface="Arial" pitchFamily="34" charset="-120"/>
              </a:rPr>
              <a:t>Ten different baselines</a:t>
            </a:r>
            <a:endParaRPr lang="en-US" sz="1500" dirty="0"/>
          </a:p>
        </p:txBody>
      </p:sp>
      <p:sp>
        <p:nvSpPr>
          <p:cNvPr id="9" name="Text 7"/>
          <p:cNvSpPr/>
          <p:nvPr/>
        </p:nvSpPr>
        <p:spPr>
          <a:xfrm>
            <a:off x="932688" y="4572000"/>
            <a:ext cx="2779776" cy="914400"/>
          </a:xfrm>
          <a:prstGeom prst="rect">
            <a:avLst/>
          </a:prstGeom>
          <a:noFill/>
          <a:ln/>
        </p:spPr>
        <p:txBody>
          <a:bodyPr wrap="square" lIns="0" tIns="0" rIns="0" bIns="0" rtlCol="0" anchor="ctr"/>
          <a:lstStyle/>
          <a:p>
            <a:pPr indent="0" marL="0">
              <a:lnSpc>
                <a:spcPct val="118000"/>
              </a:lnSpc>
              <a:buNone/>
            </a:pPr>
            <a:r>
              <a:rPr lang="en-US" sz="1150" dirty="0">
                <a:solidFill>
                  <a:srgbClr val="8A8F98"/>
                </a:solidFill>
                <a:latin typeface="Arial" pitchFamily="34" charset="0"/>
                <a:ea typeface="Arial" pitchFamily="34" charset="-122"/>
                <a:cs typeface="Arial" pitchFamily="34" charset="-120"/>
              </a:rPr>
              <a:t>Every developer prompts differently, with a different tool. Your standards only apply when someone remembers to paste them in.</a:t>
            </a:r>
            <a:endParaRPr lang="en-US" sz="1150" dirty="0"/>
          </a:p>
        </p:txBody>
      </p:sp>
      <p:sp>
        <p:nvSpPr>
          <p:cNvPr id="10" name="Shape 8"/>
          <p:cNvSpPr/>
          <p:nvPr/>
        </p:nvSpPr>
        <p:spPr>
          <a:xfrm>
            <a:off x="4270248" y="3154680"/>
            <a:ext cx="3346704" cy="2423160"/>
          </a:xfrm>
          <a:prstGeom prst="roundRect">
            <a:avLst>
              <a:gd name="adj" fmla="val 3396"/>
            </a:avLst>
          </a:prstGeom>
          <a:solidFill>
            <a:srgbClr val="131418"/>
          </a:solidFill>
          <a:ln w="12700">
            <a:solidFill>
              <a:srgbClr val="26282E"/>
            </a:solidFill>
            <a:prstDash val="solid"/>
          </a:ln>
          <a:effectLst>
            <a:outerShdw sx="100000" sy="100000" kx="0" ky="0" algn="bl" rotWithShape="0" blurRad="127000" dist="50800" dir="5400000">
              <a:srgbClr val="000000">
                <a:alpha val="35000"/>
              </a:srgbClr>
            </a:outerShdw>
          </a:effectLst>
        </p:spPr>
      </p:sp>
      <p:sp>
        <p:nvSpPr>
          <p:cNvPr id="11" name="Shape 9"/>
          <p:cNvSpPr/>
          <p:nvPr/>
        </p:nvSpPr>
        <p:spPr>
          <a:xfrm>
            <a:off x="4270248" y="3154680"/>
            <a:ext cx="3346704" cy="54864"/>
          </a:xfrm>
          <a:prstGeom prst="rect">
            <a:avLst/>
          </a:prstGeom>
          <a:solidFill>
            <a:srgbClr val="FBBF24"/>
          </a:solidFill>
          <a:ln/>
        </p:spPr>
      </p:sp>
      <p:sp>
        <p:nvSpPr>
          <p:cNvPr id="12" name="Text 10"/>
          <p:cNvSpPr/>
          <p:nvPr/>
        </p:nvSpPr>
        <p:spPr>
          <a:xfrm>
            <a:off x="4562856" y="3429000"/>
            <a:ext cx="2798064" cy="731520"/>
          </a:xfrm>
          <a:prstGeom prst="rect">
            <a:avLst/>
          </a:prstGeom>
          <a:noFill/>
          <a:ln/>
        </p:spPr>
        <p:txBody>
          <a:bodyPr wrap="square" lIns="0" tIns="0" rIns="0" bIns="0" rtlCol="0" anchor="ctr"/>
          <a:lstStyle/>
          <a:p>
            <a:pPr indent="0" marL="0">
              <a:buNone/>
            </a:pPr>
            <a:r>
              <a:rPr lang="en-US" sz="3000" b="1" dirty="0">
                <a:solidFill>
                  <a:srgbClr val="F7F8F8"/>
                </a:solidFill>
                <a:latin typeface="Arial" pitchFamily="34" charset="0"/>
                <a:ea typeface="Arial" pitchFamily="34" charset="-122"/>
                <a:cs typeface="Arial" pitchFamily="34" charset="-120"/>
              </a:rPr>
              <a:t>+20%</a:t>
            </a:r>
            <a:endParaRPr lang="en-US" sz="3000" dirty="0"/>
          </a:p>
        </p:txBody>
      </p:sp>
      <p:sp>
        <p:nvSpPr>
          <p:cNvPr id="13" name="Text 11"/>
          <p:cNvSpPr/>
          <p:nvPr/>
        </p:nvSpPr>
        <p:spPr>
          <a:xfrm>
            <a:off x="4562856" y="4178808"/>
            <a:ext cx="2798064" cy="365760"/>
          </a:xfrm>
          <a:prstGeom prst="rect">
            <a:avLst/>
          </a:prstGeom>
          <a:noFill/>
          <a:ln/>
        </p:spPr>
        <p:txBody>
          <a:bodyPr wrap="square" lIns="0" tIns="0" rIns="0" bIns="0" rtlCol="0" anchor="ctr"/>
          <a:lstStyle/>
          <a:p>
            <a:pPr indent="0" marL="0">
              <a:buNone/>
            </a:pPr>
            <a:r>
              <a:rPr lang="en-US" sz="1500" b="1" dirty="0">
                <a:solidFill>
                  <a:srgbClr val="F7F8F8"/>
                </a:solidFill>
                <a:latin typeface="Arial" pitchFamily="34" charset="0"/>
                <a:ea typeface="Arial" pitchFamily="34" charset="-122"/>
                <a:cs typeface="Arial" pitchFamily="34" charset="-120"/>
              </a:rPr>
              <a:t>Context files don't scale</a:t>
            </a:r>
            <a:endParaRPr lang="en-US" sz="1500" dirty="0"/>
          </a:p>
        </p:txBody>
      </p:sp>
      <p:sp>
        <p:nvSpPr>
          <p:cNvPr id="14" name="Text 12"/>
          <p:cNvSpPr/>
          <p:nvPr/>
        </p:nvSpPr>
        <p:spPr>
          <a:xfrm>
            <a:off x="4562856" y="4572000"/>
            <a:ext cx="2779776" cy="914400"/>
          </a:xfrm>
          <a:prstGeom prst="rect">
            <a:avLst/>
          </a:prstGeom>
          <a:noFill/>
          <a:ln/>
        </p:spPr>
        <p:txBody>
          <a:bodyPr wrap="square" lIns="0" tIns="0" rIns="0" bIns="0" rtlCol="0" anchor="ctr"/>
          <a:lstStyle/>
          <a:p>
            <a:pPr indent="0" marL="0">
              <a:lnSpc>
                <a:spcPct val="118000"/>
              </a:lnSpc>
              <a:buNone/>
            </a:pPr>
            <a:r>
              <a:rPr lang="en-US" sz="1150" dirty="0">
                <a:solidFill>
                  <a:srgbClr val="8A8F98"/>
                </a:solidFill>
                <a:latin typeface="Arial" pitchFamily="34" charset="0"/>
                <a:ea typeface="Arial" pitchFamily="34" charset="-122"/>
                <a:cs typeface="Arial" pitchFamily="34" charset="-120"/>
              </a:rPr>
              <a:t>Repo-level AGENTS.md files were found to lower task success while adding over 20% to inference cost (ETH Zürich, 2026).</a:t>
            </a:r>
            <a:endParaRPr lang="en-US" sz="1150" dirty="0"/>
          </a:p>
        </p:txBody>
      </p:sp>
      <p:sp>
        <p:nvSpPr>
          <p:cNvPr id="15" name="Shape 13"/>
          <p:cNvSpPr/>
          <p:nvPr/>
        </p:nvSpPr>
        <p:spPr>
          <a:xfrm>
            <a:off x="7900416" y="3154680"/>
            <a:ext cx="3346704" cy="2423160"/>
          </a:xfrm>
          <a:prstGeom prst="roundRect">
            <a:avLst>
              <a:gd name="adj" fmla="val 3396"/>
            </a:avLst>
          </a:prstGeom>
          <a:solidFill>
            <a:srgbClr val="131418"/>
          </a:solidFill>
          <a:ln w="12700">
            <a:solidFill>
              <a:srgbClr val="26282E"/>
            </a:solidFill>
            <a:prstDash val="solid"/>
          </a:ln>
          <a:effectLst>
            <a:outerShdw sx="100000" sy="100000" kx="0" ky="0" algn="bl" rotWithShape="0" blurRad="127000" dist="50800" dir="5400000">
              <a:srgbClr val="000000">
                <a:alpha val="35000"/>
              </a:srgbClr>
            </a:outerShdw>
          </a:effectLst>
        </p:spPr>
      </p:sp>
      <p:sp>
        <p:nvSpPr>
          <p:cNvPr id="16" name="Shape 14"/>
          <p:cNvSpPr/>
          <p:nvPr/>
        </p:nvSpPr>
        <p:spPr>
          <a:xfrm>
            <a:off x="7900416" y="3154680"/>
            <a:ext cx="3346704" cy="54864"/>
          </a:xfrm>
          <a:prstGeom prst="rect">
            <a:avLst/>
          </a:prstGeom>
          <a:solidFill>
            <a:srgbClr val="F87171"/>
          </a:solidFill>
          <a:ln/>
        </p:spPr>
      </p:sp>
      <p:sp>
        <p:nvSpPr>
          <p:cNvPr id="17" name="Text 15"/>
          <p:cNvSpPr/>
          <p:nvPr/>
        </p:nvSpPr>
        <p:spPr>
          <a:xfrm>
            <a:off x="8193024" y="3429000"/>
            <a:ext cx="2798064" cy="731520"/>
          </a:xfrm>
          <a:prstGeom prst="rect">
            <a:avLst/>
          </a:prstGeom>
          <a:noFill/>
          <a:ln/>
        </p:spPr>
        <p:txBody>
          <a:bodyPr wrap="square" lIns="0" tIns="0" rIns="0" bIns="0" rtlCol="0" anchor="ctr"/>
          <a:lstStyle/>
          <a:p>
            <a:pPr indent="0" marL="0">
              <a:buNone/>
            </a:pPr>
            <a:r>
              <a:rPr lang="en-US" sz="3000" b="1" dirty="0">
                <a:solidFill>
                  <a:srgbClr val="F7F8F8"/>
                </a:solidFill>
                <a:latin typeface="Arial" pitchFamily="34" charset="0"/>
                <a:ea typeface="Arial" pitchFamily="34" charset="-122"/>
                <a:cs typeface="Arial" pitchFamily="34" charset="-120"/>
              </a:rPr>
              <a:t>∞ repeats</a:t>
            </a:r>
            <a:endParaRPr lang="en-US" sz="3000" dirty="0"/>
          </a:p>
        </p:txBody>
      </p:sp>
      <p:sp>
        <p:nvSpPr>
          <p:cNvPr id="18" name="Text 16"/>
          <p:cNvSpPr/>
          <p:nvPr/>
        </p:nvSpPr>
        <p:spPr>
          <a:xfrm>
            <a:off x="8193024" y="4178808"/>
            <a:ext cx="2798064" cy="365760"/>
          </a:xfrm>
          <a:prstGeom prst="rect">
            <a:avLst/>
          </a:prstGeom>
          <a:noFill/>
          <a:ln/>
        </p:spPr>
        <p:txBody>
          <a:bodyPr wrap="square" lIns="0" tIns="0" rIns="0" bIns="0" rtlCol="0" anchor="ctr"/>
          <a:lstStyle/>
          <a:p>
            <a:pPr indent="0" marL="0">
              <a:buNone/>
            </a:pPr>
            <a:r>
              <a:rPr lang="en-US" sz="1500" b="1" dirty="0">
                <a:solidFill>
                  <a:srgbClr val="F7F8F8"/>
                </a:solidFill>
                <a:latin typeface="Arial" pitchFamily="34" charset="0"/>
                <a:ea typeface="Arial" pitchFamily="34" charset="-122"/>
                <a:cs typeface="Arial" pitchFamily="34" charset="-120"/>
              </a:rPr>
              <a:t>Corrections don't stick</a:t>
            </a:r>
            <a:endParaRPr lang="en-US" sz="1500" dirty="0"/>
          </a:p>
        </p:txBody>
      </p:sp>
      <p:sp>
        <p:nvSpPr>
          <p:cNvPr id="19" name="Text 17"/>
          <p:cNvSpPr/>
          <p:nvPr/>
        </p:nvSpPr>
        <p:spPr>
          <a:xfrm>
            <a:off x="8193024" y="4572000"/>
            <a:ext cx="2779776" cy="914400"/>
          </a:xfrm>
          <a:prstGeom prst="rect">
            <a:avLst/>
          </a:prstGeom>
          <a:noFill/>
          <a:ln/>
        </p:spPr>
        <p:txBody>
          <a:bodyPr wrap="square" lIns="0" tIns="0" rIns="0" bIns="0" rtlCol="0" anchor="ctr"/>
          <a:lstStyle/>
          <a:p>
            <a:pPr indent="0" marL="0">
              <a:lnSpc>
                <a:spcPct val="118000"/>
              </a:lnSpc>
              <a:buNone/>
            </a:pPr>
            <a:r>
              <a:rPr lang="en-US" sz="1150" dirty="0">
                <a:solidFill>
                  <a:srgbClr val="8A8F98"/>
                </a:solidFill>
                <a:latin typeface="Arial" pitchFamily="34" charset="0"/>
                <a:ea typeface="Arial" pitchFamily="34" charset="-122"/>
                <a:cs typeface="Arial" pitchFamily="34" charset="-120"/>
              </a:rPr>
              <a:t>A reviewer catches a bad pattern in today's PR. Next sprint a different agent writes it again, because nothing wrote the lesson down.</a:t>
            </a:r>
            <a:endParaRPr lang="en-US" sz="1150" dirty="0"/>
          </a:p>
        </p:txBody>
      </p:sp>
      <p:sp>
        <p:nvSpPr>
          <p:cNvPr id="20" name="Text 18"/>
          <p:cNvSpPr/>
          <p:nvPr/>
        </p:nvSpPr>
        <p:spPr>
          <a:xfrm>
            <a:off x="640080" y="5897880"/>
            <a:ext cx="10424160" cy="365760"/>
          </a:xfrm>
          <a:prstGeom prst="rect">
            <a:avLst/>
          </a:prstGeom>
          <a:noFill/>
          <a:ln/>
        </p:spPr>
        <p:txBody>
          <a:bodyPr wrap="square" lIns="0" tIns="0" rIns="0" bIns="0" rtlCol="0" anchor="ctr"/>
          <a:lstStyle/>
          <a:p>
            <a:pPr algn="ctr" indent="0" marL="0">
              <a:buNone/>
            </a:pPr>
            <a:r>
              <a:rPr lang="en-US" sz="1600" b="1" dirty="0">
                <a:solidFill>
                  <a:srgbClr val="B4BCD0"/>
                </a:solidFill>
                <a:latin typeface="Arial" pitchFamily="34" charset="0"/>
                <a:ea typeface="Arial" pitchFamily="34" charset="-122"/>
                <a:cs typeface="Arial" pitchFamily="34" charset="-120"/>
              </a:rPr>
              <a:t>A longer AGENTS.md won't fix this.</a:t>
            </a:r>
            <a:endParaRPr lang="en-US" sz="1600" dirty="0"/>
          </a:p>
        </p:txBody>
      </p:sp>
      <p:sp>
        <p:nvSpPr>
          <p:cNvPr id="21" name="Text 19"/>
          <p:cNvSpPr/>
          <p:nvPr/>
        </p:nvSpPr>
        <p:spPr>
          <a:xfrm>
            <a:off x="640080" y="6400800"/>
            <a:ext cx="4572000" cy="274320"/>
          </a:xfrm>
          <a:prstGeom prst="rect">
            <a:avLst/>
          </a:prstGeom>
          <a:noFill/>
          <a:ln/>
        </p:spPr>
        <p:txBody>
          <a:bodyPr wrap="square" lIns="0" tIns="0" rIns="0" bIns="0" rtlCol="0" anchor="ctr"/>
          <a:lstStyle/>
          <a:p>
            <a:pPr algn="l" indent="0" marL="0">
              <a:buNone/>
            </a:pPr>
            <a:r>
              <a:rPr lang="en-US" sz="900" dirty="0">
                <a:solidFill>
                  <a:srgbClr val="8A8F98"/>
                </a:solidFill>
                <a:latin typeface="Arial" pitchFamily="34" charset="0"/>
                <a:ea typeface="Arial" pitchFamily="34" charset="-122"/>
                <a:cs typeface="Arial" pitchFamily="34" charset="-120"/>
              </a:rPr>
              <a:t>Biblio  ·  Wonderly</a:t>
            </a:r>
            <a:endParaRPr lang="en-US" sz="900" dirty="0"/>
          </a:p>
        </p:txBody>
      </p:sp>
      <p:sp>
        <p:nvSpPr>
          <p:cNvPr id="22" name="Text 20"/>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8A8F98"/>
                </a:solidFill>
                <a:latin typeface="Courier New" pitchFamily="34" charset="0"/>
                <a:ea typeface="Courier New" pitchFamily="34" charset="-122"/>
                <a:cs typeface="Courier Ne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090A"/>
        </a:solidFill>
      </p:bgPr>
    </p:bg>
    <p:spTree>
      <p:nvGrpSpPr>
        <p:cNvPr id="1" name=""/>
        <p:cNvGrpSpPr/>
        <p:nvPr/>
      </p:nvGrpSpPr>
      <p:grpSpPr>
        <a:xfrm>
          <a:off x="0" y="0"/>
          <a:ext cx="0" cy="0"/>
          <a:chOff x="0" y="0"/>
          <a:chExt cx="0" cy="0"/>
        </a:xfrm>
      </p:grpSpPr>
      <p:sp>
        <p:nvSpPr>
          <p:cNvPr id="2" name="Text 0"/>
          <p:cNvSpPr/>
          <p:nvPr/>
        </p:nvSpPr>
        <p:spPr>
          <a:xfrm>
            <a:off x="640080" y="594360"/>
            <a:ext cx="7315200" cy="274320"/>
          </a:xfrm>
          <a:prstGeom prst="rect">
            <a:avLst/>
          </a:prstGeom>
          <a:noFill/>
          <a:ln/>
        </p:spPr>
        <p:txBody>
          <a:bodyPr wrap="square" lIns="0" tIns="0" rIns="0" bIns="0" rtlCol="0" anchor="ctr"/>
          <a:lstStyle/>
          <a:p>
            <a:pPr algn="l" indent="0" marL="0">
              <a:buNone/>
            </a:pPr>
            <a:r>
              <a:rPr lang="en-US" sz="1100" b="1" spc="300" kern="0" dirty="0">
                <a:solidFill>
                  <a:srgbClr val="B59AFF"/>
                </a:solidFill>
                <a:latin typeface="Arial" pitchFamily="34" charset="0"/>
                <a:ea typeface="Arial" pitchFamily="34" charset="-122"/>
                <a:cs typeface="Arial" pitchFamily="34" charset="-120"/>
              </a:rPr>
              <a:t>WHY NOW</a:t>
            </a:r>
            <a:endParaRPr lang="en-US" sz="1100" dirty="0"/>
          </a:p>
        </p:txBody>
      </p:sp>
      <p:sp>
        <p:nvSpPr>
          <p:cNvPr id="3" name="Text 1"/>
          <p:cNvSpPr/>
          <p:nvPr/>
        </p:nvSpPr>
        <p:spPr>
          <a:xfrm>
            <a:off x="640080" y="960120"/>
            <a:ext cx="10515600" cy="1005840"/>
          </a:xfrm>
          <a:prstGeom prst="rect">
            <a:avLst/>
          </a:prstGeom>
          <a:noFill/>
          <a:ln/>
        </p:spPr>
        <p:txBody>
          <a:bodyPr wrap="square" lIns="0" tIns="0" rIns="0" bIns="0" rtlCol="0" anchor="t"/>
          <a:lstStyle/>
          <a:p>
            <a:pPr algn="l" indent="0" marL="0">
              <a:lnSpc>
                <a:spcPct val="100000"/>
              </a:lnSpc>
              <a:buNone/>
            </a:pPr>
            <a:r>
              <a:rPr lang="en-US" sz="3000" b="1" dirty="0">
                <a:solidFill>
                  <a:srgbClr val="F7F8F8"/>
                </a:solidFill>
                <a:latin typeface="Arial" pitchFamily="34" charset="0"/>
                <a:ea typeface="Arial" pitchFamily="34" charset="-122"/>
                <a:cs typeface="Arial" pitchFamily="34" charset="-120"/>
              </a:rPr>
              <a:t>Teams adopted agents fast.</a:t>
            </a:r>
            <a:endParaRPr lang="en-US" sz="3000" dirty="0"/>
          </a:p>
          <a:p>
            <a:pPr algn="l" indent="0" marL="0">
              <a:lnSpc>
                <a:spcPct val="100000"/>
              </a:lnSpc>
              <a:buNone/>
            </a:pPr>
            <a:r>
              <a:rPr lang="en-US" sz="3000" b="1" dirty="0">
                <a:solidFill>
                  <a:srgbClr val="F7F8F8"/>
                </a:solidFill>
                <a:latin typeface="Arial" pitchFamily="34" charset="0"/>
                <a:ea typeface="Arial" pitchFamily="34" charset="-122"/>
                <a:cs typeface="Arial" pitchFamily="34" charset="-120"/>
              </a:rPr>
              <a:t>Quality didn't keep up.</a:t>
            </a:r>
            <a:endParaRPr lang="en-US" sz="3000" dirty="0"/>
          </a:p>
        </p:txBody>
      </p:sp>
      <p:sp>
        <p:nvSpPr>
          <p:cNvPr id="4" name="Shape 2"/>
          <p:cNvSpPr/>
          <p:nvPr/>
        </p:nvSpPr>
        <p:spPr>
          <a:xfrm>
            <a:off x="658368" y="2450592"/>
            <a:ext cx="109728" cy="109728"/>
          </a:xfrm>
          <a:prstGeom prst="ellipse">
            <a:avLst/>
          </a:prstGeom>
          <a:solidFill>
            <a:srgbClr val="7C7FFF"/>
          </a:solidFill>
          <a:ln/>
        </p:spPr>
      </p:sp>
      <p:sp>
        <p:nvSpPr>
          <p:cNvPr id="5" name="Text 3"/>
          <p:cNvSpPr/>
          <p:nvPr/>
        </p:nvSpPr>
        <p:spPr>
          <a:xfrm>
            <a:off x="932688" y="2331720"/>
            <a:ext cx="5760720" cy="320040"/>
          </a:xfrm>
          <a:prstGeom prst="rect">
            <a:avLst/>
          </a:prstGeom>
          <a:noFill/>
          <a:ln/>
        </p:spPr>
        <p:txBody>
          <a:bodyPr wrap="square" lIns="0" tIns="0" rIns="0" bIns="0" rtlCol="0" anchor="ctr"/>
          <a:lstStyle/>
          <a:p>
            <a:pPr indent="0" marL="0">
              <a:buNone/>
            </a:pPr>
            <a:r>
              <a:rPr lang="en-US" sz="1500" b="1" dirty="0">
                <a:solidFill>
                  <a:srgbClr val="F7F8F8"/>
                </a:solidFill>
                <a:latin typeface="Arial" pitchFamily="34" charset="0"/>
                <a:ea typeface="Arial" pitchFamily="34" charset="-122"/>
                <a:cs typeface="Arial" pitchFamily="34" charset="-120"/>
              </a:rPr>
              <a:t>Agents are everywhere</a:t>
            </a:r>
            <a:endParaRPr lang="en-US" sz="1500" dirty="0"/>
          </a:p>
        </p:txBody>
      </p:sp>
      <p:sp>
        <p:nvSpPr>
          <p:cNvPr id="6" name="Text 4"/>
          <p:cNvSpPr/>
          <p:nvPr/>
        </p:nvSpPr>
        <p:spPr>
          <a:xfrm>
            <a:off x="932688" y="2651760"/>
            <a:ext cx="5760720" cy="640080"/>
          </a:xfrm>
          <a:prstGeom prst="rect">
            <a:avLst/>
          </a:prstGeom>
          <a:noFill/>
          <a:ln/>
        </p:spPr>
        <p:txBody>
          <a:bodyPr wrap="square" lIns="0" tIns="0" rIns="0" bIns="0" rtlCol="0" anchor="ctr"/>
          <a:lstStyle/>
          <a:p>
            <a:pPr indent="0" marL="0">
              <a:lnSpc>
                <a:spcPct val="118000"/>
              </a:lnSpc>
              <a:buNone/>
            </a:pPr>
            <a:r>
              <a:rPr lang="en-US" sz="1150" dirty="0">
                <a:solidFill>
                  <a:srgbClr val="8A8F98"/>
                </a:solidFill>
                <a:latin typeface="Arial" pitchFamily="34" charset="0"/>
                <a:ea typeface="Arial" pitchFamily="34" charset="-122"/>
                <a:cs typeface="Arial" pitchFamily="34" charset="-120"/>
              </a:rPr>
              <a:t>Claude Code, Codex, Cursor, and Copilot are now standard issue. A large share of new code is written by an agent.</a:t>
            </a:r>
            <a:endParaRPr lang="en-US" sz="1150" dirty="0"/>
          </a:p>
        </p:txBody>
      </p:sp>
      <p:sp>
        <p:nvSpPr>
          <p:cNvPr id="7" name="Shape 5"/>
          <p:cNvSpPr/>
          <p:nvPr/>
        </p:nvSpPr>
        <p:spPr>
          <a:xfrm>
            <a:off x="658368" y="3410712"/>
            <a:ext cx="109728" cy="109728"/>
          </a:xfrm>
          <a:prstGeom prst="ellipse">
            <a:avLst/>
          </a:prstGeom>
          <a:solidFill>
            <a:srgbClr val="7C7FFF"/>
          </a:solidFill>
          <a:ln/>
        </p:spPr>
      </p:sp>
      <p:sp>
        <p:nvSpPr>
          <p:cNvPr id="8" name="Text 6"/>
          <p:cNvSpPr/>
          <p:nvPr/>
        </p:nvSpPr>
        <p:spPr>
          <a:xfrm>
            <a:off x="932688" y="3291840"/>
            <a:ext cx="5760720" cy="320040"/>
          </a:xfrm>
          <a:prstGeom prst="rect">
            <a:avLst/>
          </a:prstGeom>
          <a:noFill/>
          <a:ln/>
        </p:spPr>
        <p:txBody>
          <a:bodyPr wrap="square" lIns="0" tIns="0" rIns="0" bIns="0" rtlCol="0" anchor="ctr"/>
          <a:lstStyle/>
          <a:p>
            <a:pPr indent="0" marL="0">
              <a:buNone/>
            </a:pPr>
            <a:r>
              <a:rPr lang="en-US" sz="1500" b="1" dirty="0">
                <a:solidFill>
                  <a:srgbClr val="F7F8F8"/>
                </a:solidFill>
                <a:latin typeface="Arial" pitchFamily="34" charset="0"/>
                <a:ea typeface="Arial" pitchFamily="34" charset="-122"/>
                <a:cs typeface="Arial" pitchFamily="34" charset="-120"/>
              </a:rPr>
              <a:t>Quality became the bottleneck</a:t>
            </a:r>
            <a:endParaRPr lang="en-US" sz="1500" dirty="0"/>
          </a:p>
        </p:txBody>
      </p:sp>
      <p:sp>
        <p:nvSpPr>
          <p:cNvPr id="9" name="Text 7"/>
          <p:cNvSpPr/>
          <p:nvPr/>
        </p:nvSpPr>
        <p:spPr>
          <a:xfrm>
            <a:off x="932688" y="3611880"/>
            <a:ext cx="5760720" cy="640080"/>
          </a:xfrm>
          <a:prstGeom prst="rect">
            <a:avLst/>
          </a:prstGeom>
          <a:noFill/>
          <a:ln/>
        </p:spPr>
        <p:txBody>
          <a:bodyPr wrap="square" lIns="0" tIns="0" rIns="0" bIns="0" rtlCol="0" anchor="ctr"/>
          <a:lstStyle/>
          <a:p>
            <a:pPr indent="0" marL="0">
              <a:lnSpc>
                <a:spcPct val="118000"/>
              </a:lnSpc>
              <a:buNone/>
            </a:pPr>
            <a:r>
              <a:rPr lang="en-US" sz="1150" dirty="0">
                <a:solidFill>
                  <a:srgbClr val="8A8F98"/>
                </a:solidFill>
                <a:latin typeface="Arial" pitchFamily="34" charset="0"/>
                <a:ea typeface="Arial" pitchFamily="34" charset="-122"/>
                <a:cs typeface="Arial" pitchFamily="34" charset="-120"/>
              </a:rPr>
              <a:t>As AI volume climbs, studies show more duplicated code and less refactoring. Shipping fast stopped being the hard part. Trusting what shipped is.</a:t>
            </a:r>
            <a:endParaRPr lang="en-US" sz="1150" dirty="0"/>
          </a:p>
        </p:txBody>
      </p:sp>
      <p:sp>
        <p:nvSpPr>
          <p:cNvPr id="10" name="Shape 8"/>
          <p:cNvSpPr/>
          <p:nvPr/>
        </p:nvSpPr>
        <p:spPr>
          <a:xfrm>
            <a:off x="658368" y="4370832"/>
            <a:ext cx="109728" cy="109728"/>
          </a:xfrm>
          <a:prstGeom prst="ellipse">
            <a:avLst/>
          </a:prstGeom>
          <a:solidFill>
            <a:srgbClr val="7C7FFF"/>
          </a:solidFill>
          <a:ln/>
        </p:spPr>
      </p:sp>
      <p:sp>
        <p:nvSpPr>
          <p:cNvPr id="11" name="Text 9"/>
          <p:cNvSpPr/>
          <p:nvPr/>
        </p:nvSpPr>
        <p:spPr>
          <a:xfrm>
            <a:off x="932688" y="4251960"/>
            <a:ext cx="5760720" cy="320040"/>
          </a:xfrm>
          <a:prstGeom prst="rect">
            <a:avLst/>
          </a:prstGeom>
          <a:noFill/>
          <a:ln/>
        </p:spPr>
        <p:txBody>
          <a:bodyPr wrap="square" lIns="0" tIns="0" rIns="0" bIns="0" rtlCol="0" anchor="ctr"/>
          <a:lstStyle/>
          <a:p>
            <a:pPr indent="0" marL="0">
              <a:buNone/>
            </a:pPr>
            <a:r>
              <a:rPr lang="en-US" sz="1500" b="1" dirty="0">
                <a:solidFill>
                  <a:srgbClr val="F7F8F8"/>
                </a:solidFill>
                <a:latin typeface="Arial" pitchFamily="34" charset="0"/>
                <a:ea typeface="Arial" pitchFamily="34" charset="-122"/>
                <a:cs typeface="Arial" pitchFamily="34" charset="-120"/>
              </a:rPr>
              <a:t>Leaders are on the hook</a:t>
            </a:r>
            <a:endParaRPr lang="en-US" sz="1500" dirty="0"/>
          </a:p>
        </p:txBody>
      </p:sp>
      <p:sp>
        <p:nvSpPr>
          <p:cNvPr id="12" name="Text 10"/>
          <p:cNvSpPr/>
          <p:nvPr/>
        </p:nvSpPr>
        <p:spPr>
          <a:xfrm>
            <a:off x="932688" y="4572000"/>
            <a:ext cx="5760720" cy="640080"/>
          </a:xfrm>
          <a:prstGeom prst="rect">
            <a:avLst/>
          </a:prstGeom>
          <a:noFill/>
          <a:ln/>
        </p:spPr>
        <p:txBody>
          <a:bodyPr wrap="square" lIns="0" tIns="0" rIns="0" bIns="0" rtlCol="0" anchor="ctr"/>
          <a:lstStyle/>
          <a:p>
            <a:pPr indent="0" marL="0">
              <a:lnSpc>
                <a:spcPct val="118000"/>
              </a:lnSpc>
              <a:buNone/>
            </a:pPr>
            <a:r>
              <a:rPr lang="en-US" sz="1150" dirty="0">
                <a:solidFill>
                  <a:srgbClr val="8A8F98"/>
                </a:solidFill>
                <a:latin typeface="Arial" pitchFamily="34" charset="0"/>
                <a:ea typeface="Arial" pitchFamily="34" charset="-122"/>
                <a:cs typeface="Arial" pitchFamily="34" charset="-120"/>
              </a:rPr>
              <a:t>Eng managers and CTOs answer for what AI ships, with no way to see or enforce their standards across every agent.</a:t>
            </a:r>
            <a:endParaRPr lang="en-US" sz="1150" dirty="0"/>
          </a:p>
        </p:txBody>
      </p:sp>
      <p:sp>
        <p:nvSpPr>
          <p:cNvPr id="13" name="Shape 11"/>
          <p:cNvSpPr/>
          <p:nvPr/>
        </p:nvSpPr>
        <p:spPr>
          <a:xfrm>
            <a:off x="658368" y="5330952"/>
            <a:ext cx="109728" cy="109728"/>
          </a:xfrm>
          <a:prstGeom prst="ellipse">
            <a:avLst/>
          </a:prstGeom>
          <a:solidFill>
            <a:srgbClr val="7C7FFF"/>
          </a:solidFill>
          <a:ln/>
        </p:spPr>
      </p:sp>
      <p:sp>
        <p:nvSpPr>
          <p:cNvPr id="14" name="Text 12"/>
          <p:cNvSpPr/>
          <p:nvPr/>
        </p:nvSpPr>
        <p:spPr>
          <a:xfrm>
            <a:off x="932688" y="5212080"/>
            <a:ext cx="5760720" cy="320040"/>
          </a:xfrm>
          <a:prstGeom prst="rect">
            <a:avLst/>
          </a:prstGeom>
          <a:noFill/>
          <a:ln/>
        </p:spPr>
        <p:txBody>
          <a:bodyPr wrap="square" lIns="0" tIns="0" rIns="0" bIns="0" rtlCol="0" anchor="ctr"/>
          <a:lstStyle/>
          <a:p>
            <a:pPr indent="0" marL="0">
              <a:buNone/>
            </a:pPr>
            <a:r>
              <a:rPr lang="en-US" sz="1500" b="1" dirty="0">
                <a:solidFill>
                  <a:srgbClr val="F7F8F8"/>
                </a:solidFill>
                <a:latin typeface="Arial" pitchFamily="34" charset="0"/>
                <a:ea typeface="Arial" pitchFamily="34" charset="-122"/>
                <a:cs typeface="Arial" pitchFamily="34" charset="-120"/>
              </a:rPr>
              <a:t>The research caught up</a:t>
            </a:r>
            <a:endParaRPr lang="en-US" sz="1500" dirty="0"/>
          </a:p>
        </p:txBody>
      </p:sp>
      <p:sp>
        <p:nvSpPr>
          <p:cNvPr id="15" name="Text 13"/>
          <p:cNvSpPr/>
          <p:nvPr/>
        </p:nvSpPr>
        <p:spPr>
          <a:xfrm>
            <a:off x="932688" y="5532120"/>
            <a:ext cx="5760720" cy="640080"/>
          </a:xfrm>
          <a:prstGeom prst="rect">
            <a:avLst/>
          </a:prstGeom>
          <a:noFill/>
          <a:ln/>
        </p:spPr>
        <p:txBody>
          <a:bodyPr wrap="square" lIns="0" tIns="0" rIns="0" bIns="0" rtlCol="0" anchor="ctr"/>
          <a:lstStyle/>
          <a:p>
            <a:pPr indent="0" marL="0">
              <a:lnSpc>
                <a:spcPct val="118000"/>
              </a:lnSpc>
              <a:buNone/>
            </a:pPr>
            <a:r>
              <a:rPr lang="en-US" sz="1150" dirty="0">
                <a:solidFill>
                  <a:srgbClr val="8A8F98"/>
                </a:solidFill>
                <a:latin typeface="Arial" pitchFamily="34" charset="0"/>
                <a:ea typeface="Arial" pitchFamily="34" charset="-122"/>
                <a:cs typeface="Arial" pitchFamily="34" charset="-120"/>
              </a:rPr>
              <a:t>Peer-reviewed studies now show static context files often make agents worse, and that guidance pulled in on demand works better.</a:t>
            </a:r>
            <a:endParaRPr lang="en-US" sz="1150" dirty="0"/>
          </a:p>
        </p:txBody>
      </p:sp>
      <p:sp>
        <p:nvSpPr>
          <p:cNvPr id="16" name="Shape 14"/>
          <p:cNvSpPr/>
          <p:nvPr/>
        </p:nvSpPr>
        <p:spPr>
          <a:xfrm>
            <a:off x="7040880" y="2331720"/>
            <a:ext cx="4526280" cy="1143000"/>
          </a:xfrm>
          <a:prstGeom prst="roundRect">
            <a:avLst>
              <a:gd name="adj" fmla="val 7200"/>
            </a:avLst>
          </a:prstGeom>
          <a:solidFill>
            <a:srgbClr val="131418"/>
          </a:solidFill>
          <a:ln w="12700">
            <a:solidFill>
              <a:srgbClr val="26282E"/>
            </a:solidFill>
            <a:prstDash val="solid"/>
          </a:ln>
          <a:effectLst>
            <a:outerShdw sx="100000" sy="100000" kx="0" ky="0" algn="bl" rotWithShape="0" blurRad="127000" dist="50800" dir="5400000">
              <a:srgbClr val="000000">
                <a:alpha val="35000"/>
              </a:srgbClr>
            </a:outerShdw>
          </a:effectLst>
        </p:spPr>
      </p:sp>
      <p:sp>
        <p:nvSpPr>
          <p:cNvPr id="17" name="Text 15"/>
          <p:cNvSpPr/>
          <p:nvPr/>
        </p:nvSpPr>
        <p:spPr>
          <a:xfrm>
            <a:off x="7315200" y="2478024"/>
            <a:ext cx="3977640" cy="502920"/>
          </a:xfrm>
          <a:prstGeom prst="rect">
            <a:avLst/>
          </a:prstGeom>
          <a:noFill/>
          <a:ln/>
        </p:spPr>
        <p:txBody>
          <a:bodyPr wrap="square" lIns="0" tIns="0" rIns="0" bIns="0" rtlCol="0" anchor="ctr"/>
          <a:lstStyle/>
          <a:p>
            <a:pPr indent="0" marL="0">
              <a:buNone/>
            </a:pPr>
            <a:r>
              <a:rPr lang="en-US" sz="2600" b="1" dirty="0">
                <a:solidFill>
                  <a:srgbClr val="B59AFF"/>
                </a:solidFill>
                <a:latin typeface="Arial" pitchFamily="34" charset="0"/>
                <a:ea typeface="Arial" pitchFamily="34" charset="-122"/>
                <a:cs typeface="Arial" pitchFamily="34" charset="-120"/>
              </a:rPr>
              <a:t>28.7M</a:t>
            </a:r>
            <a:endParaRPr lang="en-US" sz="2600" dirty="0"/>
          </a:p>
        </p:txBody>
      </p:sp>
      <p:sp>
        <p:nvSpPr>
          <p:cNvPr id="18" name="Text 16"/>
          <p:cNvSpPr/>
          <p:nvPr/>
        </p:nvSpPr>
        <p:spPr>
          <a:xfrm>
            <a:off x="7315200" y="2990088"/>
            <a:ext cx="3977640" cy="411480"/>
          </a:xfrm>
          <a:prstGeom prst="rect">
            <a:avLst/>
          </a:prstGeom>
          <a:noFill/>
          <a:ln/>
        </p:spPr>
        <p:txBody>
          <a:bodyPr wrap="square" lIns="0" tIns="0" rIns="0" bIns="0" rtlCol="0" anchor="ctr"/>
          <a:lstStyle/>
          <a:p>
            <a:pPr indent="0" marL="0">
              <a:lnSpc>
                <a:spcPct val="110000"/>
              </a:lnSpc>
              <a:buNone/>
            </a:pPr>
            <a:r>
              <a:rPr lang="en-US" sz="1100" dirty="0">
                <a:solidFill>
                  <a:srgbClr val="8A8F98"/>
                </a:solidFill>
                <a:latin typeface="Arial" pitchFamily="34" charset="0"/>
                <a:ea typeface="Arial" pitchFamily="34" charset="-122"/>
                <a:cs typeface="Arial" pitchFamily="34" charset="-120"/>
              </a:rPr>
              <a:t>software developers worldwide, on the way to 45M by 2030</a:t>
            </a:r>
            <a:endParaRPr lang="en-US" sz="1100" dirty="0"/>
          </a:p>
        </p:txBody>
      </p:sp>
      <p:sp>
        <p:nvSpPr>
          <p:cNvPr id="19" name="Shape 17"/>
          <p:cNvSpPr/>
          <p:nvPr/>
        </p:nvSpPr>
        <p:spPr>
          <a:xfrm>
            <a:off x="7040880" y="3611880"/>
            <a:ext cx="4526280" cy="1143000"/>
          </a:xfrm>
          <a:prstGeom prst="roundRect">
            <a:avLst>
              <a:gd name="adj" fmla="val 7200"/>
            </a:avLst>
          </a:prstGeom>
          <a:solidFill>
            <a:srgbClr val="131418"/>
          </a:solidFill>
          <a:ln w="12700">
            <a:solidFill>
              <a:srgbClr val="26282E"/>
            </a:solidFill>
            <a:prstDash val="solid"/>
          </a:ln>
          <a:effectLst>
            <a:outerShdw sx="100000" sy="100000" kx="0" ky="0" algn="bl" rotWithShape="0" blurRad="127000" dist="50800" dir="5400000">
              <a:srgbClr val="000000">
                <a:alpha val="35000"/>
              </a:srgbClr>
            </a:outerShdw>
          </a:effectLst>
        </p:spPr>
      </p:sp>
      <p:sp>
        <p:nvSpPr>
          <p:cNvPr id="20" name="Text 18"/>
          <p:cNvSpPr/>
          <p:nvPr/>
        </p:nvSpPr>
        <p:spPr>
          <a:xfrm>
            <a:off x="7315200" y="3758184"/>
            <a:ext cx="3977640" cy="502920"/>
          </a:xfrm>
          <a:prstGeom prst="rect">
            <a:avLst/>
          </a:prstGeom>
          <a:noFill/>
          <a:ln/>
        </p:spPr>
        <p:txBody>
          <a:bodyPr wrap="square" lIns="0" tIns="0" rIns="0" bIns="0" rtlCol="0" anchor="ctr"/>
          <a:lstStyle/>
          <a:p>
            <a:pPr indent="0" marL="0">
              <a:buNone/>
            </a:pPr>
            <a:r>
              <a:rPr lang="en-US" sz="2600" b="1" dirty="0">
                <a:solidFill>
                  <a:srgbClr val="4ADE80"/>
                </a:solidFill>
                <a:latin typeface="Arial" pitchFamily="34" charset="0"/>
                <a:ea typeface="Arial" pitchFamily="34" charset="-122"/>
                <a:cs typeface="Arial" pitchFamily="34" charset="-120"/>
              </a:rPr>
              <a:t>$7.4B → $24B</a:t>
            </a:r>
            <a:endParaRPr lang="en-US" sz="2600" dirty="0"/>
          </a:p>
        </p:txBody>
      </p:sp>
      <p:sp>
        <p:nvSpPr>
          <p:cNvPr id="21" name="Text 19"/>
          <p:cNvSpPr/>
          <p:nvPr/>
        </p:nvSpPr>
        <p:spPr>
          <a:xfrm>
            <a:off x="7315200" y="4270248"/>
            <a:ext cx="3977640" cy="411480"/>
          </a:xfrm>
          <a:prstGeom prst="rect">
            <a:avLst/>
          </a:prstGeom>
          <a:noFill/>
          <a:ln/>
        </p:spPr>
        <p:txBody>
          <a:bodyPr wrap="square" lIns="0" tIns="0" rIns="0" bIns="0" rtlCol="0" anchor="ctr"/>
          <a:lstStyle/>
          <a:p>
            <a:pPr indent="0" marL="0">
              <a:lnSpc>
                <a:spcPct val="110000"/>
              </a:lnSpc>
              <a:buNone/>
            </a:pPr>
            <a:r>
              <a:rPr lang="en-US" sz="1100" dirty="0">
                <a:solidFill>
                  <a:srgbClr val="8A8F98"/>
                </a:solidFill>
                <a:latin typeface="Arial" pitchFamily="34" charset="0"/>
                <a:ea typeface="Arial" pitchFamily="34" charset="-122"/>
                <a:cs typeface="Arial" pitchFamily="34" charset="-120"/>
              </a:rPr>
              <a:t>AI code tools market, 2025 to 2030 (about 27% CAGR)</a:t>
            </a:r>
            <a:endParaRPr lang="en-US" sz="1100" dirty="0"/>
          </a:p>
        </p:txBody>
      </p:sp>
      <p:sp>
        <p:nvSpPr>
          <p:cNvPr id="22" name="Shape 20"/>
          <p:cNvSpPr/>
          <p:nvPr/>
        </p:nvSpPr>
        <p:spPr>
          <a:xfrm>
            <a:off x="7040880" y="4892040"/>
            <a:ext cx="4526280" cy="1143000"/>
          </a:xfrm>
          <a:prstGeom prst="roundRect">
            <a:avLst>
              <a:gd name="adj" fmla="val 7200"/>
            </a:avLst>
          </a:prstGeom>
          <a:solidFill>
            <a:srgbClr val="131418"/>
          </a:solidFill>
          <a:ln w="12700">
            <a:solidFill>
              <a:srgbClr val="26282E"/>
            </a:solidFill>
            <a:prstDash val="solid"/>
          </a:ln>
          <a:effectLst>
            <a:outerShdw sx="100000" sy="100000" kx="0" ky="0" algn="bl" rotWithShape="0" blurRad="127000" dist="50800" dir="5400000">
              <a:srgbClr val="000000">
                <a:alpha val="35000"/>
              </a:srgbClr>
            </a:outerShdw>
          </a:effectLst>
        </p:spPr>
      </p:sp>
      <p:sp>
        <p:nvSpPr>
          <p:cNvPr id="23" name="Text 21"/>
          <p:cNvSpPr/>
          <p:nvPr/>
        </p:nvSpPr>
        <p:spPr>
          <a:xfrm>
            <a:off x="7315200" y="5038344"/>
            <a:ext cx="3977640" cy="502920"/>
          </a:xfrm>
          <a:prstGeom prst="rect">
            <a:avLst/>
          </a:prstGeom>
          <a:noFill/>
          <a:ln/>
        </p:spPr>
        <p:txBody>
          <a:bodyPr wrap="square" lIns="0" tIns="0" rIns="0" bIns="0" rtlCol="0" anchor="ctr"/>
          <a:lstStyle/>
          <a:p>
            <a:pPr indent="0" marL="0">
              <a:buNone/>
            </a:pPr>
            <a:r>
              <a:rPr lang="en-US" sz="2600" b="1" dirty="0">
                <a:solidFill>
                  <a:srgbClr val="FBBF24"/>
                </a:solidFill>
                <a:latin typeface="Arial" pitchFamily="34" charset="0"/>
                <a:ea typeface="Arial" pitchFamily="34" charset="-122"/>
                <a:cs typeface="Arial" pitchFamily="34" charset="-120"/>
              </a:rPr>
              <a:t>&gt;20%</a:t>
            </a:r>
            <a:endParaRPr lang="en-US" sz="2600" dirty="0"/>
          </a:p>
        </p:txBody>
      </p:sp>
      <p:sp>
        <p:nvSpPr>
          <p:cNvPr id="24" name="Text 22"/>
          <p:cNvSpPr/>
          <p:nvPr/>
        </p:nvSpPr>
        <p:spPr>
          <a:xfrm>
            <a:off x="7315200" y="5550408"/>
            <a:ext cx="3977640" cy="411480"/>
          </a:xfrm>
          <a:prstGeom prst="rect">
            <a:avLst/>
          </a:prstGeom>
          <a:noFill/>
          <a:ln/>
        </p:spPr>
        <p:txBody>
          <a:bodyPr wrap="square" lIns="0" tIns="0" rIns="0" bIns="0" rtlCol="0" anchor="ctr"/>
          <a:lstStyle/>
          <a:p>
            <a:pPr indent="0" marL="0">
              <a:lnSpc>
                <a:spcPct val="110000"/>
              </a:lnSpc>
              <a:buNone/>
            </a:pPr>
            <a:r>
              <a:rPr lang="en-US" sz="1100" dirty="0">
                <a:solidFill>
                  <a:srgbClr val="8A8F98"/>
                </a:solidFill>
                <a:latin typeface="Arial" pitchFamily="34" charset="0"/>
                <a:ea typeface="Arial" pitchFamily="34" charset="-122"/>
                <a:cs typeface="Arial" pitchFamily="34" charset="-120"/>
              </a:rPr>
              <a:t>extra inference cost from repo context files, for worse results</a:t>
            </a:r>
            <a:endParaRPr lang="en-US" sz="1100" dirty="0"/>
          </a:p>
        </p:txBody>
      </p:sp>
      <p:sp>
        <p:nvSpPr>
          <p:cNvPr id="25" name="Text 23"/>
          <p:cNvSpPr/>
          <p:nvPr/>
        </p:nvSpPr>
        <p:spPr>
          <a:xfrm>
            <a:off x="640080" y="6400800"/>
            <a:ext cx="4572000" cy="274320"/>
          </a:xfrm>
          <a:prstGeom prst="rect">
            <a:avLst/>
          </a:prstGeom>
          <a:noFill/>
          <a:ln/>
        </p:spPr>
        <p:txBody>
          <a:bodyPr wrap="square" lIns="0" tIns="0" rIns="0" bIns="0" rtlCol="0" anchor="ctr"/>
          <a:lstStyle/>
          <a:p>
            <a:pPr algn="l" indent="0" marL="0">
              <a:buNone/>
            </a:pPr>
            <a:r>
              <a:rPr lang="en-US" sz="900" dirty="0">
                <a:solidFill>
                  <a:srgbClr val="8A8F98"/>
                </a:solidFill>
                <a:latin typeface="Arial" pitchFamily="34" charset="0"/>
                <a:ea typeface="Arial" pitchFamily="34" charset="-122"/>
                <a:cs typeface="Arial" pitchFamily="34" charset="-120"/>
              </a:rPr>
              <a:t>Biblio  ·  Wonderly</a:t>
            </a:r>
            <a:endParaRPr lang="en-US" sz="900" dirty="0"/>
          </a:p>
        </p:txBody>
      </p:sp>
      <p:sp>
        <p:nvSpPr>
          <p:cNvPr id="26" name="Text 24"/>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8A8F98"/>
                </a:solidFill>
                <a:latin typeface="Courier New" pitchFamily="34" charset="0"/>
                <a:ea typeface="Courier New" pitchFamily="34" charset="-122"/>
                <a:cs typeface="Courier Ne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090A"/>
        </a:solidFill>
      </p:bgPr>
    </p:bg>
    <p:spTree>
      <p:nvGrpSpPr>
        <p:cNvPr id="1" name=""/>
        <p:cNvGrpSpPr/>
        <p:nvPr/>
      </p:nvGrpSpPr>
      <p:grpSpPr>
        <a:xfrm>
          <a:off x="0" y="0"/>
          <a:ext cx="0" cy="0"/>
          <a:chOff x="0" y="0"/>
          <a:chExt cx="0" cy="0"/>
        </a:xfrm>
      </p:grpSpPr>
      <p:sp>
        <p:nvSpPr>
          <p:cNvPr id="2" name="Text 0"/>
          <p:cNvSpPr/>
          <p:nvPr/>
        </p:nvSpPr>
        <p:spPr>
          <a:xfrm>
            <a:off x="640080" y="594360"/>
            <a:ext cx="7315200" cy="274320"/>
          </a:xfrm>
          <a:prstGeom prst="rect">
            <a:avLst/>
          </a:prstGeom>
          <a:noFill/>
          <a:ln/>
        </p:spPr>
        <p:txBody>
          <a:bodyPr wrap="square" lIns="0" tIns="0" rIns="0" bIns="0" rtlCol="0" anchor="ctr"/>
          <a:lstStyle/>
          <a:p>
            <a:pPr algn="l" indent="0" marL="0">
              <a:buNone/>
            </a:pPr>
            <a:r>
              <a:rPr lang="en-US" sz="1100" b="1" spc="300" kern="0" dirty="0">
                <a:solidFill>
                  <a:srgbClr val="B59AFF"/>
                </a:solidFill>
                <a:latin typeface="Arial" pitchFamily="34" charset="0"/>
                <a:ea typeface="Arial" pitchFamily="34" charset="-122"/>
                <a:cs typeface="Arial" pitchFamily="34" charset="-120"/>
              </a:rPr>
              <a:t>THE INSIGHT</a:t>
            </a:r>
            <a:endParaRPr lang="en-US" sz="1100" dirty="0"/>
          </a:p>
        </p:txBody>
      </p:sp>
      <p:sp>
        <p:nvSpPr>
          <p:cNvPr id="3" name="Text 1"/>
          <p:cNvSpPr/>
          <p:nvPr/>
        </p:nvSpPr>
        <p:spPr>
          <a:xfrm>
            <a:off x="640080" y="960120"/>
            <a:ext cx="10972800" cy="1005840"/>
          </a:xfrm>
          <a:prstGeom prst="rect">
            <a:avLst/>
          </a:prstGeom>
          <a:noFill/>
          <a:ln/>
        </p:spPr>
        <p:txBody>
          <a:bodyPr wrap="square" lIns="0" tIns="0" rIns="0" bIns="0" rtlCol="0" anchor="t"/>
          <a:lstStyle/>
          <a:p>
            <a:pPr algn="l" indent="0" marL="0">
              <a:lnSpc>
                <a:spcPct val="100000"/>
              </a:lnSpc>
              <a:buNone/>
            </a:pPr>
            <a:r>
              <a:rPr lang="en-US" sz="2700" b="1" dirty="0">
                <a:solidFill>
                  <a:srgbClr val="F7F8F8"/>
                </a:solidFill>
                <a:latin typeface="Arial" pitchFamily="34" charset="0"/>
                <a:ea typeface="Arial" pitchFamily="34" charset="-122"/>
                <a:cs typeface="Arial" pitchFamily="34" charset="-120"/>
              </a:rPr>
              <a:t>Writing the standard down is easy.</a:t>
            </a:r>
            <a:endParaRPr lang="en-US" sz="2700" dirty="0"/>
          </a:p>
          <a:p>
            <a:pPr algn="l" indent="0" marL="0">
              <a:lnSpc>
                <a:spcPct val="100000"/>
              </a:lnSpc>
              <a:buNone/>
            </a:pPr>
            <a:r>
              <a:rPr lang="en-US" sz="2700" b="1" dirty="0">
                <a:solidFill>
                  <a:srgbClr val="F7F8F8"/>
                </a:solidFill>
                <a:latin typeface="Arial" pitchFamily="34" charset="0"/>
                <a:ea typeface="Arial" pitchFamily="34" charset="-122"/>
                <a:cs typeface="Arial" pitchFamily="34" charset="-120"/>
              </a:rPr>
              <a:t>Getting agents to use it is the problem.</a:t>
            </a:r>
            <a:endParaRPr lang="en-US" sz="2700" dirty="0"/>
          </a:p>
        </p:txBody>
      </p:sp>
      <p:sp>
        <p:nvSpPr>
          <p:cNvPr id="4" name="Shape 2"/>
          <p:cNvSpPr/>
          <p:nvPr/>
        </p:nvSpPr>
        <p:spPr>
          <a:xfrm>
            <a:off x="640080" y="2514600"/>
            <a:ext cx="5120640" cy="3383280"/>
          </a:xfrm>
          <a:prstGeom prst="roundRect">
            <a:avLst>
              <a:gd name="adj" fmla="val 2432"/>
            </a:avLst>
          </a:prstGeom>
          <a:solidFill>
            <a:srgbClr val="131418"/>
          </a:solidFill>
          <a:ln w="12700">
            <a:solidFill>
              <a:srgbClr val="26282E"/>
            </a:solidFill>
            <a:prstDash val="solid"/>
          </a:ln>
          <a:effectLst>
            <a:outerShdw sx="100000" sy="100000" kx="0" ky="0" algn="bl" rotWithShape="0" blurRad="127000" dist="50800" dir="5400000">
              <a:srgbClr val="000000">
                <a:alpha val="35000"/>
              </a:srgbClr>
            </a:outerShdw>
          </a:effectLst>
        </p:spPr>
      </p:sp>
      <p:sp>
        <p:nvSpPr>
          <p:cNvPr id="5" name="Text 3"/>
          <p:cNvSpPr/>
          <p:nvPr/>
        </p:nvSpPr>
        <p:spPr>
          <a:xfrm>
            <a:off x="960120" y="2770632"/>
            <a:ext cx="4480560" cy="365760"/>
          </a:xfrm>
          <a:prstGeom prst="rect">
            <a:avLst/>
          </a:prstGeom>
          <a:noFill/>
          <a:ln/>
        </p:spPr>
        <p:txBody>
          <a:bodyPr wrap="square" lIns="0" tIns="0" rIns="0" bIns="0" rtlCol="0" anchor="ctr"/>
          <a:lstStyle/>
          <a:p>
            <a:pPr indent="0" marL="0">
              <a:buNone/>
            </a:pPr>
            <a:r>
              <a:rPr lang="en-US" sz="1800" b="1" dirty="0">
                <a:solidFill>
                  <a:srgbClr val="B4BCD0"/>
                </a:solidFill>
                <a:latin typeface="Arial" pitchFamily="34" charset="0"/>
                <a:ea typeface="Arial" pitchFamily="34" charset="-122"/>
                <a:cs typeface="Arial" pitchFamily="34" charset="-120"/>
              </a:rPr>
              <a:t>Static files &amp; skills</a:t>
            </a:r>
            <a:endParaRPr lang="en-US" sz="1800" dirty="0"/>
          </a:p>
        </p:txBody>
      </p:sp>
      <p:sp>
        <p:nvSpPr>
          <p:cNvPr id="6" name="Text 4"/>
          <p:cNvSpPr/>
          <p:nvPr/>
        </p:nvSpPr>
        <p:spPr>
          <a:xfrm>
            <a:off x="960120" y="3172968"/>
            <a:ext cx="4480560" cy="274320"/>
          </a:xfrm>
          <a:prstGeom prst="rect">
            <a:avLst/>
          </a:prstGeom>
          <a:noFill/>
          <a:ln/>
        </p:spPr>
        <p:txBody>
          <a:bodyPr wrap="square" lIns="0" tIns="0" rIns="0" bIns="0" rtlCol="0" anchor="ctr"/>
          <a:lstStyle/>
          <a:p>
            <a:pPr indent="0" marL="0">
              <a:buNone/>
            </a:pPr>
            <a:r>
              <a:rPr lang="en-US" sz="1050" dirty="0">
                <a:solidFill>
                  <a:srgbClr val="8A8F98"/>
                </a:solidFill>
                <a:latin typeface="Courier New" pitchFamily="34" charset="0"/>
                <a:ea typeface="Courier New" pitchFamily="34" charset="-122"/>
                <a:cs typeface="Courier New" pitchFamily="34" charset="-120"/>
              </a:rPr>
              <a:t>AGENTS.md, CLAUDE.md, rules</a:t>
            </a:r>
            <a:endParaRPr lang="en-US" sz="1050" dirty="0"/>
          </a:p>
        </p:txBody>
      </p:sp>
      <p:sp>
        <p:nvSpPr>
          <p:cNvPr id="7" name="Text 5"/>
          <p:cNvSpPr/>
          <p:nvPr/>
        </p:nvSpPr>
        <p:spPr>
          <a:xfrm>
            <a:off x="960120" y="3703320"/>
            <a:ext cx="320040" cy="320040"/>
          </a:xfrm>
          <a:prstGeom prst="rect">
            <a:avLst/>
          </a:prstGeom>
          <a:noFill/>
          <a:ln/>
        </p:spPr>
        <p:txBody>
          <a:bodyPr wrap="square" lIns="0" tIns="0" rIns="0" bIns="0" rtlCol="0" anchor="t"/>
          <a:lstStyle/>
          <a:p>
            <a:pPr indent="0" marL="0">
              <a:buNone/>
            </a:pPr>
            <a:r>
              <a:rPr lang="en-US" sz="1300" b="1" dirty="0">
                <a:solidFill>
                  <a:srgbClr val="F87171"/>
                </a:solidFill>
                <a:latin typeface="Arial" pitchFamily="34" charset="0"/>
                <a:ea typeface="Arial" pitchFamily="34" charset="-122"/>
                <a:cs typeface="Arial" pitchFamily="34" charset="-120"/>
              </a:rPr>
              <a:t>✕</a:t>
            </a:r>
            <a:endParaRPr lang="en-US" sz="1300" dirty="0"/>
          </a:p>
        </p:txBody>
      </p:sp>
      <p:sp>
        <p:nvSpPr>
          <p:cNvPr id="8" name="Text 6"/>
          <p:cNvSpPr/>
          <p:nvPr/>
        </p:nvSpPr>
        <p:spPr>
          <a:xfrm>
            <a:off x="1298448" y="3685032"/>
            <a:ext cx="4160520" cy="502920"/>
          </a:xfrm>
          <a:prstGeom prst="rect">
            <a:avLst/>
          </a:prstGeom>
          <a:noFill/>
          <a:ln/>
        </p:spPr>
        <p:txBody>
          <a:bodyPr wrap="square" lIns="0" tIns="0" rIns="0" bIns="0" rtlCol="0" anchor="t"/>
          <a:lstStyle/>
          <a:p>
            <a:pPr indent="0" marL="0">
              <a:lnSpc>
                <a:spcPct val="110000"/>
              </a:lnSpc>
              <a:buNone/>
            </a:pPr>
            <a:r>
              <a:rPr lang="en-US" sz="1200" dirty="0">
                <a:solidFill>
                  <a:srgbClr val="8A8F98"/>
                </a:solidFill>
                <a:latin typeface="Arial" pitchFamily="34" charset="0"/>
                <a:ea typeface="Arial" pitchFamily="34" charset="-122"/>
                <a:cs typeface="Arial" pitchFamily="34" charset="-120"/>
              </a:rPr>
              <a:t>Loaded into every prompt whether they're relevant or not</a:t>
            </a:r>
            <a:endParaRPr lang="en-US" sz="1200" dirty="0"/>
          </a:p>
        </p:txBody>
      </p:sp>
      <p:sp>
        <p:nvSpPr>
          <p:cNvPr id="9" name="Text 7"/>
          <p:cNvSpPr/>
          <p:nvPr/>
        </p:nvSpPr>
        <p:spPr>
          <a:xfrm>
            <a:off x="960120" y="4251960"/>
            <a:ext cx="320040" cy="320040"/>
          </a:xfrm>
          <a:prstGeom prst="rect">
            <a:avLst/>
          </a:prstGeom>
          <a:noFill/>
          <a:ln/>
        </p:spPr>
        <p:txBody>
          <a:bodyPr wrap="square" lIns="0" tIns="0" rIns="0" bIns="0" rtlCol="0" anchor="t"/>
          <a:lstStyle/>
          <a:p>
            <a:pPr indent="0" marL="0">
              <a:buNone/>
            </a:pPr>
            <a:r>
              <a:rPr lang="en-US" sz="1300" b="1" dirty="0">
                <a:solidFill>
                  <a:srgbClr val="F87171"/>
                </a:solidFill>
                <a:latin typeface="Arial" pitchFamily="34" charset="0"/>
                <a:ea typeface="Arial" pitchFamily="34" charset="-122"/>
                <a:cs typeface="Arial" pitchFamily="34" charset="-120"/>
              </a:rPr>
              <a:t>✕</a:t>
            </a:r>
            <a:endParaRPr lang="en-US" sz="1300" dirty="0"/>
          </a:p>
        </p:txBody>
      </p:sp>
      <p:sp>
        <p:nvSpPr>
          <p:cNvPr id="10" name="Text 8"/>
          <p:cNvSpPr/>
          <p:nvPr/>
        </p:nvSpPr>
        <p:spPr>
          <a:xfrm>
            <a:off x="1298448" y="4233672"/>
            <a:ext cx="4160520" cy="502920"/>
          </a:xfrm>
          <a:prstGeom prst="rect">
            <a:avLst/>
          </a:prstGeom>
          <a:noFill/>
          <a:ln/>
        </p:spPr>
        <p:txBody>
          <a:bodyPr wrap="square" lIns="0" tIns="0" rIns="0" bIns="0" rtlCol="0" anchor="t"/>
          <a:lstStyle/>
          <a:p>
            <a:pPr indent="0" marL="0">
              <a:lnSpc>
                <a:spcPct val="110000"/>
              </a:lnSpc>
              <a:buNone/>
            </a:pPr>
            <a:r>
              <a:rPr lang="en-US" sz="1200" dirty="0">
                <a:solidFill>
                  <a:srgbClr val="8A8F98"/>
                </a:solidFill>
                <a:latin typeface="Arial" pitchFamily="34" charset="0"/>
                <a:ea typeface="Arial" pitchFamily="34" charset="-122"/>
                <a:cs typeface="Arial" pitchFamily="34" charset="-120"/>
              </a:rPr>
              <a:t>Copied between repos, then drift out of sync</a:t>
            </a:r>
            <a:endParaRPr lang="en-US" sz="1200" dirty="0"/>
          </a:p>
        </p:txBody>
      </p:sp>
      <p:sp>
        <p:nvSpPr>
          <p:cNvPr id="11" name="Text 9"/>
          <p:cNvSpPr/>
          <p:nvPr/>
        </p:nvSpPr>
        <p:spPr>
          <a:xfrm>
            <a:off x="960120" y="4800600"/>
            <a:ext cx="320040" cy="320040"/>
          </a:xfrm>
          <a:prstGeom prst="rect">
            <a:avLst/>
          </a:prstGeom>
          <a:noFill/>
          <a:ln/>
        </p:spPr>
        <p:txBody>
          <a:bodyPr wrap="square" lIns="0" tIns="0" rIns="0" bIns="0" rtlCol="0" anchor="t"/>
          <a:lstStyle/>
          <a:p>
            <a:pPr indent="0" marL="0">
              <a:buNone/>
            </a:pPr>
            <a:r>
              <a:rPr lang="en-US" sz="1300" b="1" dirty="0">
                <a:solidFill>
                  <a:srgbClr val="F87171"/>
                </a:solidFill>
                <a:latin typeface="Arial" pitchFamily="34" charset="0"/>
                <a:ea typeface="Arial" pitchFamily="34" charset="-122"/>
                <a:cs typeface="Arial" pitchFamily="34" charset="-120"/>
              </a:rPr>
              <a:t>✕</a:t>
            </a:r>
            <a:endParaRPr lang="en-US" sz="1300" dirty="0"/>
          </a:p>
        </p:txBody>
      </p:sp>
      <p:sp>
        <p:nvSpPr>
          <p:cNvPr id="12" name="Text 10"/>
          <p:cNvSpPr/>
          <p:nvPr/>
        </p:nvSpPr>
        <p:spPr>
          <a:xfrm>
            <a:off x="1298448" y="4782312"/>
            <a:ext cx="4160520" cy="502920"/>
          </a:xfrm>
          <a:prstGeom prst="rect">
            <a:avLst/>
          </a:prstGeom>
          <a:noFill/>
          <a:ln/>
        </p:spPr>
        <p:txBody>
          <a:bodyPr wrap="square" lIns="0" tIns="0" rIns="0" bIns="0" rtlCol="0" anchor="t"/>
          <a:lstStyle/>
          <a:p>
            <a:pPr indent="0" marL="0">
              <a:lnSpc>
                <a:spcPct val="110000"/>
              </a:lnSpc>
              <a:buNone/>
            </a:pPr>
            <a:r>
              <a:rPr lang="en-US" sz="1200" dirty="0">
                <a:solidFill>
                  <a:srgbClr val="8A8F98"/>
                </a:solidFill>
                <a:latin typeface="Arial" pitchFamily="34" charset="0"/>
                <a:ea typeface="Arial" pitchFamily="34" charset="-122"/>
                <a:cs typeface="Arial" pitchFamily="34" charset="-120"/>
              </a:rPr>
              <a:t>No way to know if any agent actually followed them</a:t>
            </a:r>
            <a:endParaRPr lang="en-US" sz="1200" dirty="0"/>
          </a:p>
        </p:txBody>
      </p:sp>
      <p:sp>
        <p:nvSpPr>
          <p:cNvPr id="13" name="Text 11"/>
          <p:cNvSpPr/>
          <p:nvPr/>
        </p:nvSpPr>
        <p:spPr>
          <a:xfrm>
            <a:off x="960120" y="5349240"/>
            <a:ext cx="320040" cy="320040"/>
          </a:xfrm>
          <a:prstGeom prst="rect">
            <a:avLst/>
          </a:prstGeom>
          <a:noFill/>
          <a:ln/>
        </p:spPr>
        <p:txBody>
          <a:bodyPr wrap="square" lIns="0" tIns="0" rIns="0" bIns="0" rtlCol="0" anchor="t"/>
          <a:lstStyle/>
          <a:p>
            <a:pPr indent="0" marL="0">
              <a:buNone/>
            </a:pPr>
            <a:r>
              <a:rPr lang="en-US" sz="1300" b="1" dirty="0">
                <a:solidFill>
                  <a:srgbClr val="F87171"/>
                </a:solidFill>
                <a:latin typeface="Arial" pitchFamily="34" charset="0"/>
                <a:ea typeface="Arial" pitchFamily="34" charset="-122"/>
                <a:cs typeface="Arial" pitchFamily="34" charset="-120"/>
              </a:rPr>
              <a:t>✕</a:t>
            </a:r>
            <a:endParaRPr lang="en-US" sz="1300" dirty="0"/>
          </a:p>
        </p:txBody>
      </p:sp>
      <p:sp>
        <p:nvSpPr>
          <p:cNvPr id="14" name="Text 12"/>
          <p:cNvSpPr/>
          <p:nvPr/>
        </p:nvSpPr>
        <p:spPr>
          <a:xfrm>
            <a:off x="1298448" y="5330952"/>
            <a:ext cx="4160520" cy="502920"/>
          </a:xfrm>
          <a:prstGeom prst="rect">
            <a:avLst/>
          </a:prstGeom>
          <a:noFill/>
          <a:ln/>
        </p:spPr>
        <p:txBody>
          <a:bodyPr wrap="square" lIns="0" tIns="0" rIns="0" bIns="0" rtlCol="0" anchor="t"/>
          <a:lstStyle/>
          <a:p>
            <a:pPr indent="0" marL="0">
              <a:lnSpc>
                <a:spcPct val="110000"/>
              </a:lnSpc>
              <a:buNone/>
            </a:pPr>
            <a:r>
              <a:rPr lang="en-US" sz="1200" dirty="0">
                <a:solidFill>
                  <a:srgbClr val="8A8F98"/>
                </a:solidFill>
                <a:latin typeface="Arial" pitchFamily="34" charset="0"/>
                <a:ea typeface="Arial" pitchFamily="34" charset="-122"/>
                <a:cs typeface="Arial" pitchFamily="34" charset="-120"/>
              </a:rPr>
              <a:t>Corrections vanish when the chat session ends</a:t>
            </a:r>
            <a:endParaRPr lang="en-US" sz="1200" dirty="0"/>
          </a:p>
        </p:txBody>
      </p:sp>
      <p:sp>
        <p:nvSpPr>
          <p:cNvPr id="15" name="Shape 13"/>
          <p:cNvSpPr/>
          <p:nvPr/>
        </p:nvSpPr>
        <p:spPr>
          <a:xfrm>
            <a:off x="6126480" y="2514600"/>
            <a:ext cx="5120640" cy="3383280"/>
          </a:xfrm>
          <a:prstGeom prst="roundRect">
            <a:avLst>
              <a:gd name="adj" fmla="val 2432"/>
            </a:avLst>
          </a:prstGeom>
          <a:solidFill>
            <a:srgbClr val="12132A"/>
          </a:solidFill>
          <a:ln w="12700">
            <a:solidFill>
              <a:srgbClr val="3A3B6A"/>
            </a:solidFill>
            <a:prstDash val="solid"/>
          </a:ln>
          <a:effectLst>
            <a:outerShdw sx="100000" sy="100000" kx="0" ky="0" algn="bl" rotWithShape="0" blurRad="127000" dist="50800" dir="5400000">
              <a:srgbClr val="000000">
                <a:alpha val="35000"/>
              </a:srgbClr>
            </a:outerShdw>
          </a:effectLst>
        </p:spPr>
      </p:sp>
      <p:sp>
        <p:nvSpPr>
          <p:cNvPr id="16" name="Text 14"/>
          <p:cNvSpPr/>
          <p:nvPr/>
        </p:nvSpPr>
        <p:spPr>
          <a:xfrm>
            <a:off x="6446520" y="2770632"/>
            <a:ext cx="4480560" cy="365760"/>
          </a:xfrm>
          <a:prstGeom prst="rect">
            <a:avLst/>
          </a:prstGeom>
          <a:noFill/>
          <a:ln/>
        </p:spPr>
        <p:txBody>
          <a:bodyPr wrap="square" lIns="0" tIns="0" rIns="0" bIns="0" rtlCol="0" anchor="ctr"/>
          <a:lstStyle/>
          <a:p>
            <a:pPr indent="0" marL="0">
              <a:buNone/>
            </a:pPr>
            <a:r>
              <a:rPr lang="en-US" sz="1800" b="1" dirty="0">
                <a:solidFill>
                  <a:srgbClr val="F7F8F8"/>
                </a:solidFill>
                <a:latin typeface="Arial" pitchFamily="34" charset="0"/>
                <a:ea typeface="Arial" pitchFamily="34" charset="-122"/>
                <a:cs typeface="Arial" pitchFamily="34" charset="-120"/>
              </a:rPr>
              <a:t>Biblio</a:t>
            </a:r>
            <a:endParaRPr lang="en-US" sz="1800" dirty="0"/>
          </a:p>
        </p:txBody>
      </p:sp>
      <p:sp>
        <p:nvSpPr>
          <p:cNvPr id="17" name="Text 15"/>
          <p:cNvSpPr/>
          <p:nvPr/>
        </p:nvSpPr>
        <p:spPr>
          <a:xfrm>
            <a:off x="6446520" y="3172968"/>
            <a:ext cx="4480560" cy="274320"/>
          </a:xfrm>
          <a:prstGeom prst="rect">
            <a:avLst/>
          </a:prstGeom>
          <a:noFill/>
          <a:ln/>
        </p:spPr>
        <p:txBody>
          <a:bodyPr wrap="square" lIns="0" tIns="0" rIns="0" bIns="0" rtlCol="0" anchor="ctr"/>
          <a:lstStyle/>
          <a:p>
            <a:pPr indent="0" marL="0">
              <a:buNone/>
            </a:pPr>
            <a:r>
              <a:rPr lang="en-US" sz="1050" dirty="0">
                <a:solidFill>
                  <a:srgbClr val="B59AFF"/>
                </a:solidFill>
                <a:latin typeface="Courier New" pitchFamily="34" charset="0"/>
                <a:ea typeface="Courier New" pitchFamily="34" charset="-122"/>
                <a:cs typeface="Courier New" pitchFamily="34" charset="-120"/>
              </a:rPr>
              <a:t>one source of truth</a:t>
            </a:r>
            <a:endParaRPr lang="en-US" sz="1050" dirty="0"/>
          </a:p>
        </p:txBody>
      </p:sp>
      <p:sp>
        <p:nvSpPr>
          <p:cNvPr id="18" name="Text 16"/>
          <p:cNvSpPr/>
          <p:nvPr/>
        </p:nvSpPr>
        <p:spPr>
          <a:xfrm>
            <a:off x="6446520" y="3703320"/>
            <a:ext cx="320040" cy="320040"/>
          </a:xfrm>
          <a:prstGeom prst="rect">
            <a:avLst/>
          </a:prstGeom>
          <a:noFill/>
          <a:ln/>
        </p:spPr>
        <p:txBody>
          <a:bodyPr wrap="square" lIns="0" tIns="0" rIns="0" bIns="0" rtlCol="0" anchor="t"/>
          <a:lstStyle/>
          <a:p>
            <a:pPr indent="0" marL="0">
              <a:buNone/>
            </a:pPr>
            <a:r>
              <a:rPr lang="en-US" sz="1300" b="1" dirty="0">
                <a:solidFill>
                  <a:srgbClr val="4ADE80"/>
                </a:solidFill>
                <a:latin typeface="Arial" pitchFamily="34" charset="0"/>
                <a:ea typeface="Arial" pitchFamily="34" charset="-122"/>
                <a:cs typeface="Arial" pitchFamily="34" charset="-120"/>
              </a:rPr>
              <a:t>✓</a:t>
            </a:r>
            <a:endParaRPr lang="en-US" sz="1300" dirty="0"/>
          </a:p>
        </p:txBody>
      </p:sp>
      <p:sp>
        <p:nvSpPr>
          <p:cNvPr id="19" name="Text 17"/>
          <p:cNvSpPr/>
          <p:nvPr/>
        </p:nvSpPr>
        <p:spPr>
          <a:xfrm>
            <a:off x="6784848" y="3685032"/>
            <a:ext cx="4160520" cy="502920"/>
          </a:xfrm>
          <a:prstGeom prst="rect">
            <a:avLst/>
          </a:prstGeom>
          <a:noFill/>
          <a:ln/>
        </p:spPr>
        <p:txBody>
          <a:bodyPr wrap="square" lIns="0" tIns="0" rIns="0" bIns="0" rtlCol="0" anchor="t"/>
          <a:lstStyle/>
          <a:p>
            <a:pPr indent="0" marL="0">
              <a:lnSpc>
                <a:spcPct val="110000"/>
              </a:lnSpc>
              <a:buNone/>
            </a:pPr>
            <a:r>
              <a:rPr lang="en-US" sz="1200" dirty="0">
                <a:solidFill>
                  <a:srgbClr val="B4BCD0"/>
                </a:solidFill>
                <a:latin typeface="Arial" pitchFamily="34" charset="0"/>
                <a:ea typeface="Arial" pitchFamily="34" charset="-122"/>
                <a:cs typeface="Arial" pitchFamily="34" charset="-120"/>
              </a:rPr>
              <a:t>Agents pull the section they need, when they need it</a:t>
            </a:r>
            <a:endParaRPr lang="en-US" sz="1200" dirty="0"/>
          </a:p>
        </p:txBody>
      </p:sp>
      <p:sp>
        <p:nvSpPr>
          <p:cNvPr id="20" name="Text 18"/>
          <p:cNvSpPr/>
          <p:nvPr/>
        </p:nvSpPr>
        <p:spPr>
          <a:xfrm>
            <a:off x="6446520" y="4251960"/>
            <a:ext cx="320040" cy="320040"/>
          </a:xfrm>
          <a:prstGeom prst="rect">
            <a:avLst/>
          </a:prstGeom>
          <a:noFill/>
          <a:ln/>
        </p:spPr>
        <p:txBody>
          <a:bodyPr wrap="square" lIns="0" tIns="0" rIns="0" bIns="0" rtlCol="0" anchor="t"/>
          <a:lstStyle/>
          <a:p>
            <a:pPr indent="0" marL="0">
              <a:buNone/>
            </a:pPr>
            <a:r>
              <a:rPr lang="en-US" sz="1300" b="1" dirty="0">
                <a:solidFill>
                  <a:srgbClr val="4ADE80"/>
                </a:solidFill>
                <a:latin typeface="Arial" pitchFamily="34" charset="0"/>
                <a:ea typeface="Arial" pitchFamily="34" charset="-122"/>
                <a:cs typeface="Arial" pitchFamily="34" charset="-120"/>
              </a:rPr>
              <a:t>✓</a:t>
            </a:r>
            <a:endParaRPr lang="en-US" sz="1300" dirty="0"/>
          </a:p>
        </p:txBody>
      </p:sp>
      <p:sp>
        <p:nvSpPr>
          <p:cNvPr id="21" name="Text 19"/>
          <p:cNvSpPr/>
          <p:nvPr/>
        </p:nvSpPr>
        <p:spPr>
          <a:xfrm>
            <a:off x="6784848" y="4233672"/>
            <a:ext cx="4160520" cy="502920"/>
          </a:xfrm>
          <a:prstGeom prst="rect">
            <a:avLst/>
          </a:prstGeom>
          <a:noFill/>
          <a:ln/>
        </p:spPr>
        <p:txBody>
          <a:bodyPr wrap="square" lIns="0" tIns="0" rIns="0" bIns="0" rtlCol="0" anchor="t"/>
          <a:lstStyle/>
          <a:p>
            <a:pPr indent="0" marL="0">
              <a:lnSpc>
                <a:spcPct val="110000"/>
              </a:lnSpc>
              <a:buNone/>
            </a:pPr>
            <a:r>
              <a:rPr lang="en-US" sz="1200" dirty="0">
                <a:solidFill>
                  <a:srgbClr val="B4BCD0"/>
                </a:solidFill>
                <a:latin typeface="Arial" pitchFamily="34" charset="0"/>
                <a:ea typeface="Arial" pitchFamily="34" charset="-122"/>
                <a:cs typeface="Arial" pitchFamily="34" charset="-120"/>
              </a:rPr>
              <a:t>One source, synced to every repo and every agent</a:t>
            </a:r>
            <a:endParaRPr lang="en-US" sz="1200" dirty="0"/>
          </a:p>
        </p:txBody>
      </p:sp>
      <p:sp>
        <p:nvSpPr>
          <p:cNvPr id="22" name="Text 20"/>
          <p:cNvSpPr/>
          <p:nvPr/>
        </p:nvSpPr>
        <p:spPr>
          <a:xfrm>
            <a:off x="6446520" y="4800600"/>
            <a:ext cx="320040" cy="320040"/>
          </a:xfrm>
          <a:prstGeom prst="rect">
            <a:avLst/>
          </a:prstGeom>
          <a:noFill/>
          <a:ln/>
        </p:spPr>
        <p:txBody>
          <a:bodyPr wrap="square" lIns="0" tIns="0" rIns="0" bIns="0" rtlCol="0" anchor="t"/>
          <a:lstStyle/>
          <a:p>
            <a:pPr indent="0" marL="0">
              <a:buNone/>
            </a:pPr>
            <a:r>
              <a:rPr lang="en-US" sz="1300" b="1" dirty="0">
                <a:solidFill>
                  <a:srgbClr val="4ADE80"/>
                </a:solidFill>
                <a:latin typeface="Arial" pitchFamily="34" charset="0"/>
                <a:ea typeface="Arial" pitchFamily="34" charset="-122"/>
                <a:cs typeface="Arial" pitchFamily="34" charset="-120"/>
              </a:rPr>
              <a:t>✓</a:t>
            </a:r>
            <a:endParaRPr lang="en-US" sz="1300" dirty="0"/>
          </a:p>
        </p:txBody>
      </p:sp>
      <p:sp>
        <p:nvSpPr>
          <p:cNvPr id="23" name="Text 21"/>
          <p:cNvSpPr/>
          <p:nvPr/>
        </p:nvSpPr>
        <p:spPr>
          <a:xfrm>
            <a:off x="6784848" y="4782312"/>
            <a:ext cx="4160520" cy="502920"/>
          </a:xfrm>
          <a:prstGeom prst="rect">
            <a:avLst/>
          </a:prstGeom>
          <a:noFill/>
          <a:ln/>
        </p:spPr>
        <p:txBody>
          <a:bodyPr wrap="square" lIns="0" tIns="0" rIns="0" bIns="0" rtlCol="0" anchor="t"/>
          <a:lstStyle/>
          <a:p>
            <a:pPr indent="0" marL="0">
              <a:lnSpc>
                <a:spcPct val="110000"/>
              </a:lnSpc>
              <a:buNone/>
            </a:pPr>
            <a:r>
              <a:rPr lang="en-US" sz="1200" dirty="0">
                <a:solidFill>
                  <a:srgbClr val="B4BCD0"/>
                </a:solidFill>
                <a:latin typeface="Arial" pitchFamily="34" charset="0"/>
                <a:ea typeface="Arial" pitchFamily="34" charset="-122"/>
                <a:cs typeface="Arial" pitchFamily="34" charset="-120"/>
              </a:rPr>
              <a:t>Code review checks the work against the same standard</a:t>
            </a:r>
            <a:endParaRPr lang="en-US" sz="1200" dirty="0"/>
          </a:p>
        </p:txBody>
      </p:sp>
      <p:sp>
        <p:nvSpPr>
          <p:cNvPr id="24" name="Text 22"/>
          <p:cNvSpPr/>
          <p:nvPr/>
        </p:nvSpPr>
        <p:spPr>
          <a:xfrm>
            <a:off x="6446520" y="5349240"/>
            <a:ext cx="320040" cy="320040"/>
          </a:xfrm>
          <a:prstGeom prst="rect">
            <a:avLst/>
          </a:prstGeom>
          <a:noFill/>
          <a:ln/>
        </p:spPr>
        <p:txBody>
          <a:bodyPr wrap="square" lIns="0" tIns="0" rIns="0" bIns="0" rtlCol="0" anchor="t"/>
          <a:lstStyle/>
          <a:p>
            <a:pPr indent="0" marL="0">
              <a:buNone/>
            </a:pPr>
            <a:r>
              <a:rPr lang="en-US" sz="1300" b="1" dirty="0">
                <a:solidFill>
                  <a:srgbClr val="4ADE80"/>
                </a:solidFill>
                <a:latin typeface="Arial" pitchFamily="34" charset="0"/>
                <a:ea typeface="Arial" pitchFamily="34" charset="-122"/>
                <a:cs typeface="Arial" pitchFamily="34" charset="-120"/>
              </a:rPr>
              <a:t>✓</a:t>
            </a:r>
            <a:endParaRPr lang="en-US" sz="1300" dirty="0"/>
          </a:p>
        </p:txBody>
      </p:sp>
      <p:sp>
        <p:nvSpPr>
          <p:cNvPr id="25" name="Text 23"/>
          <p:cNvSpPr/>
          <p:nvPr/>
        </p:nvSpPr>
        <p:spPr>
          <a:xfrm>
            <a:off x="6784848" y="5330952"/>
            <a:ext cx="4160520" cy="502920"/>
          </a:xfrm>
          <a:prstGeom prst="rect">
            <a:avLst/>
          </a:prstGeom>
          <a:noFill/>
          <a:ln/>
        </p:spPr>
        <p:txBody>
          <a:bodyPr wrap="square" lIns="0" tIns="0" rIns="0" bIns="0" rtlCol="0" anchor="t"/>
          <a:lstStyle/>
          <a:p>
            <a:pPr indent="0" marL="0">
              <a:lnSpc>
                <a:spcPct val="110000"/>
              </a:lnSpc>
              <a:buNone/>
            </a:pPr>
            <a:r>
              <a:rPr lang="en-US" sz="1200" dirty="0">
                <a:solidFill>
                  <a:srgbClr val="B4BCD0"/>
                </a:solidFill>
                <a:latin typeface="Arial" pitchFamily="34" charset="0"/>
                <a:ea typeface="Arial" pitchFamily="34" charset="-122"/>
                <a:cs typeface="Arial" pitchFamily="34" charset="-120"/>
              </a:rPr>
              <a:t>Corrections get saved and reused by the whole team</a:t>
            </a:r>
            <a:endParaRPr lang="en-US" sz="1200" dirty="0"/>
          </a:p>
        </p:txBody>
      </p:sp>
      <p:sp>
        <p:nvSpPr>
          <p:cNvPr id="26" name="Text 24"/>
          <p:cNvSpPr/>
          <p:nvPr/>
        </p:nvSpPr>
        <p:spPr>
          <a:xfrm>
            <a:off x="640080" y="6400800"/>
            <a:ext cx="4572000" cy="274320"/>
          </a:xfrm>
          <a:prstGeom prst="rect">
            <a:avLst/>
          </a:prstGeom>
          <a:noFill/>
          <a:ln/>
        </p:spPr>
        <p:txBody>
          <a:bodyPr wrap="square" lIns="0" tIns="0" rIns="0" bIns="0" rtlCol="0" anchor="ctr"/>
          <a:lstStyle/>
          <a:p>
            <a:pPr algn="l" indent="0" marL="0">
              <a:buNone/>
            </a:pPr>
            <a:r>
              <a:rPr lang="en-US" sz="900" dirty="0">
                <a:solidFill>
                  <a:srgbClr val="8A8F98"/>
                </a:solidFill>
                <a:latin typeface="Arial" pitchFamily="34" charset="0"/>
                <a:ea typeface="Arial" pitchFamily="34" charset="-122"/>
                <a:cs typeface="Arial" pitchFamily="34" charset="-120"/>
              </a:rPr>
              <a:t>Biblio  ·  Wonderly</a:t>
            </a:r>
            <a:endParaRPr lang="en-US" sz="900" dirty="0"/>
          </a:p>
        </p:txBody>
      </p:sp>
      <p:sp>
        <p:nvSpPr>
          <p:cNvPr id="27" name="Text 25"/>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8A8F98"/>
                </a:solidFill>
                <a:latin typeface="Courier New" pitchFamily="34" charset="0"/>
                <a:ea typeface="Courier New" pitchFamily="34" charset="-122"/>
                <a:cs typeface="Courier Ne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090A"/>
        </a:solidFill>
      </p:bgPr>
    </p:bg>
    <p:spTree>
      <p:nvGrpSpPr>
        <p:cNvPr id="1" name=""/>
        <p:cNvGrpSpPr/>
        <p:nvPr/>
      </p:nvGrpSpPr>
      <p:grpSpPr>
        <a:xfrm>
          <a:off x="0" y="0"/>
          <a:ext cx="0" cy="0"/>
          <a:chOff x="0" y="0"/>
          <a:chExt cx="0" cy="0"/>
        </a:xfrm>
      </p:grpSpPr>
      <p:sp>
        <p:nvSpPr>
          <p:cNvPr id="2" name="Text 0"/>
          <p:cNvSpPr/>
          <p:nvPr/>
        </p:nvSpPr>
        <p:spPr>
          <a:xfrm>
            <a:off x="640080" y="594360"/>
            <a:ext cx="7315200" cy="274320"/>
          </a:xfrm>
          <a:prstGeom prst="rect">
            <a:avLst/>
          </a:prstGeom>
          <a:noFill/>
          <a:ln/>
        </p:spPr>
        <p:txBody>
          <a:bodyPr wrap="square" lIns="0" tIns="0" rIns="0" bIns="0" rtlCol="0" anchor="ctr"/>
          <a:lstStyle/>
          <a:p>
            <a:pPr algn="l" indent="0" marL="0">
              <a:buNone/>
            </a:pPr>
            <a:r>
              <a:rPr lang="en-US" sz="1100" b="1" spc="300" kern="0" dirty="0">
                <a:solidFill>
                  <a:srgbClr val="B59AFF"/>
                </a:solidFill>
                <a:latin typeface="Arial" pitchFamily="34" charset="0"/>
                <a:ea typeface="Arial" pitchFamily="34" charset="-122"/>
                <a:cs typeface="Arial" pitchFamily="34" charset="-120"/>
              </a:rPr>
              <a:t>THE PRODUCT</a:t>
            </a:r>
            <a:endParaRPr lang="en-US" sz="1100" dirty="0"/>
          </a:p>
        </p:txBody>
      </p:sp>
      <p:sp>
        <p:nvSpPr>
          <p:cNvPr id="3" name="Text 1"/>
          <p:cNvSpPr/>
          <p:nvPr/>
        </p:nvSpPr>
        <p:spPr>
          <a:xfrm>
            <a:off x="640080" y="960120"/>
            <a:ext cx="10972800" cy="1005840"/>
          </a:xfrm>
          <a:prstGeom prst="rect">
            <a:avLst/>
          </a:prstGeom>
          <a:noFill/>
          <a:ln/>
        </p:spPr>
        <p:txBody>
          <a:bodyPr wrap="square" lIns="0" tIns="0" rIns="0" bIns="0" rtlCol="0" anchor="t"/>
          <a:lstStyle/>
          <a:p>
            <a:pPr algn="l" indent="0" marL="0">
              <a:lnSpc>
                <a:spcPct val="100000"/>
              </a:lnSpc>
              <a:buNone/>
            </a:pPr>
            <a:r>
              <a:rPr lang="en-US" sz="2800" b="1" dirty="0">
                <a:solidFill>
                  <a:srgbClr val="F7F8F8"/>
                </a:solidFill>
                <a:latin typeface="Arial" pitchFamily="34" charset="0"/>
                <a:ea typeface="Arial" pitchFamily="34" charset="-122"/>
                <a:cs typeface="Arial" pitchFamily="34" charset="-120"/>
              </a:rPr>
              <a:t>One MCP server. Every agent your</a:t>
            </a:r>
            <a:endParaRPr lang="en-US" sz="2800" dirty="0"/>
          </a:p>
          <a:p>
            <a:pPr algn="l" indent="0" marL="0">
              <a:lnSpc>
                <a:spcPct val="100000"/>
              </a:lnSpc>
              <a:buNone/>
            </a:pPr>
            <a:r>
              <a:rPr lang="en-US" sz="2800" b="1" dirty="0">
                <a:solidFill>
                  <a:srgbClr val="F7F8F8"/>
                </a:solidFill>
                <a:latin typeface="Arial" pitchFamily="34" charset="0"/>
                <a:ea typeface="Arial" pitchFamily="34" charset="-122"/>
                <a:cs typeface="Arial" pitchFamily="34" charset="-120"/>
              </a:rPr>
              <a:t>team already uses.</a:t>
            </a:r>
            <a:endParaRPr lang="en-US" sz="2800" dirty="0"/>
          </a:p>
        </p:txBody>
      </p:sp>
      <p:sp>
        <p:nvSpPr>
          <p:cNvPr id="4" name="Text 2"/>
          <p:cNvSpPr/>
          <p:nvPr/>
        </p:nvSpPr>
        <p:spPr>
          <a:xfrm>
            <a:off x="640080" y="2286000"/>
            <a:ext cx="10607040" cy="548640"/>
          </a:xfrm>
          <a:prstGeom prst="rect">
            <a:avLst/>
          </a:prstGeom>
          <a:noFill/>
          <a:ln/>
        </p:spPr>
        <p:txBody>
          <a:bodyPr wrap="square" lIns="0" tIns="0" rIns="0" bIns="0" rtlCol="0" anchor="ctr"/>
          <a:lstStyle/>
          <a:p>
            <a:pPr indent="0" marL="0">
              <a:lnSpc>
                <a:spcPct val="120000"/>
              </a:lnSpc>
              <a:buNone/>
            </a:pPr>
            <a:r>
              <a:rPr lang="en-US" sz="1350" dirty="0">
                <a:solidFill>
                  <a:srgbClr val="8A8F98"/>
                </a:solidFill>
                <a:latin typeface="Arial" pitchFamily="34" charset="0"/>
                <a:ea typeface="Arial" pitchFamily="34" charset="-122"/>
                <a:cs typeface="Arial" pitchFamily="34" charset="-120"/>
              </a:rPr>
              <a:t>Biblio runs as one MCP server your agents connect to. Nothing to install locally, no repos to restructure. They get your standards, your reviews, and your team's memory from a single endpoint.</a:t>
            </a:r>
            <a:endParaRPr lang="en-US" sz="1350" dirty="0"/>
          </a:p>
        </p:txBody>
      </p:sp>
      <p:sp>
        <p:nvSpPr>
          <p:cNvPr id="5" name="Shape 3"/>
          <p:cNvSpPr/>
          <p:nvPr/>
        </p:nvSpPr>
        <p:spPr>
          <a:xfrm>
            <a:off x="640080" y="3017520"/>
            <a:ext cx="3346704" cy="1371600"/>
          </a:xfrm>
          <a:prstGeom prst="roundRect">
            <a:avLst>
              <a:gd name="adj" fmla="val 6000"/>
            </a:avLst>
          </a:prstGeom>
          <a:solidFill>
            <a:srgbClr val="131418"/>
          </a:solidFill>
          <a:ln w="12700">
            <a:solidFill>
              <a:srgbClr val="26282E"/>
            </a:solidFill>
            <a:prstDash val="solid"/>
          </a:ln>
        </p:spPr>
      </p:sp>
      <p:sp>
        <p:nvSpPr>
          <p:cNvPr id="6" name="Shape 4"/>
          <p:cNvSpPr/>
          <p:nvPr/>
        </p:nvSpPr>
        <p:spPr>
          <a:xfrm>
            <a:off x="896112" y="3255264"/>
            <a:ext cx="310896" cy="310896"/>
          </a:xfrm>
          <a:prstGeom prst="roundRect">
            <a:avLst>
              <a:gd name="adj" fmla="val 23529"/>
            </a:avLst>
          </a:prstGeom>
          <a:solidFill>
            <a:srgbClr val="1A1B3A"/>
          </a:solidFill>
          <a:ln w="12700">
            <a:solidFill>
              <a:srgbClr val="3A3B6A"/>
            </a:solidFill>
            <a:prstDash val="solid"/>
          </a:ln>
        </p:spPr>
      </p:sp>
      <p:sp>
        <p:nvSpPr>
          <p:cNvPr id="7" name="Shape 5"/>
          <p:cNvSpPr/>
          <p:nvPr/>
        </p:nvSpPr>
        <p:spPr>
          <a:xfrm>
            <a:off x="978408" y="3337560"/>
            <a:ext cx="146304" cy="146304"/>
          </a:xfrm>
          <a:prstGeom prst="ellipse">
            <a:avLst/>
          </a:prstGeom>
          <a:solidFill>
            <a:srgbClr val="B59AFF"/>
          </a:solidFill>
          <a:ln/>
        </p:spPr>
      </p:sp>
      <p:sp>
        <p:nvSpPr>
          <p:cNvPr id="8" name="Text 6"/>
          <p:cNvSpPr/>
          <p:nvPr/>
        </p:nvSpPr>
        <p:spPr>
          <a:xfrm>
            <a:off x="1353312" y="3227832"/>
            <a:ext cx="2432304" cy="365760"/>
          </a:xfrm>
          <a:prstGeom prst="rect">
            <a:avLst/>
          </a:prstGeom>
          <a:noFill/>
          <a:ln/>
        </p:spPr>
        <p:txBody>
          <a:bodyPr wrap="square" lIns="0" tIns="0" rIns="0" bIns="0" rtlCol="0" anchor="ctr"/>
          <a:lstStyle/>
          <a:p>
            <a:pPr indent="0" marL="0">
              <a:buNone/>
            </a:pPr>
            <a:r>
              <a:rPr lang="en-US" sz="1300" b="1" dirty="0">
                <a:solidFill>
                  <a:srgbClr val="F7F8F8"/>
                </a:solidFill>
                <a:latin typeface="Arial" pitchFamily="34" charset="0"/>
                <a:ea typeface="Arial" pitchFamily="34" charset="-122"/>
                <a:cs typeface="Arial" pitchFamily="34" charset="-120"/>
              </a:rPr>
              <a:t>Composable knowledge base</a:t>
            </a:r>
            <a:endParaRPr lang="en-US" sz="1300" dirty="0"/>
          </a:p>
        </p:txBody>
      </p:sp>
      <p:sp>
        <p:nvSpPr>
          <p:cNvPr id="9" name="Text 7"/>
          <p:cNvSpPr/>
          <p:nvPr/>
        </p:nvSpPr>
        <p:spPr>
          <a:xfrm>
            <a:off x="896112" y="3675888"/>
            <a:ext cx="2852928" cy="640080"/>
          </a:xfrm>
          <a:prstGeom prst="rect">
            <a:avLst/>
          </a:prstGeom>
          <a:noFill/>
          <a:ln/>
        </p:spPr>
        <p:txBody>
          <a:bodyPr wrap="square" lIns="0" tIns="0" rIns="0" bIns="0" rtlCol="0" anchor="ctr"/>
          <a:lstStyle/>
          <a:p>
            <a:pPr indent="0" marL="0">
              <a:lnSpc>
                <a:spcPct val="112000"/>
              </a:lnSpc>
              <a:buNone/>
            </a:pPr>
            <a:r>
              <a:rPr lang="en-US" sz="1050" dirty="0">
                <a:solidFill>
                  <a:srgbClr val="8A8F98"/>
                </a:solidFill>
                <a:latin typeface="Arial" pitchFamily="34" charset="0"/>
                <a:ea typeface="Arial" pitchFamily="34" charset="-122"/>
                <a:cs typeface="Arial" pitchFamily="34" charset="-120"/>
              </a:rPr>
              <a:t>Pull standards from any GitHub repo into a partition, or write them in Biblio directly. They stay current without anyone syncing.</a:t>
            </a:r>
            <a:endParaRPr lang="en-US" sz="1050" dirty="0"/>
          </a:p>
        </p:txBody>
      </p:sp>
      <p:sp>
        <p:nvSpPr>
          <p:cNvPr id="10" name="Shape 8"/>
          <p:cNvSpPr/>
          <p:nvPr/>
        </p:nvSpPr>
        <p:spPr>
          <a:xfrm>
            <a:off x="4270248" y="3017520"/>
            <a:ext cx="3346704" cy="1371600"/>
          </a:xfrm>
          <a:prstGeom prst="roundRect">
            <a:avLst>
              <a:gd name="adj" fmla="val 6000"/>
            </a:avLst>
          </a:prstGeom>
          <a:solidFill>
            <a:srgbClr val="131418"/>
          </a:solidFill>
          <a:ln w="12700">
            <a:solidFill>
              <a:srgbClr val="26282E"/>
            </a:solidFill>
            <a:prstDash val="solid"/>
          </a:ln>
        </p:spPr>
      </p:sp>
      <p:sp>
        <p:nvSpPr>
          <p:cNvPr id="11" name="Shape 9"/>
          <p:cNvSpPr/>
          <p:nvPr/>
        </p:nvSpPr>
        <p:spPr>
          <a:xfrm>
            <a:off x="4526280" y="3255264"/>
            <a:ext cx="310896" cy="310896"/>
          </a:xfrm>
          <a:prstGeom prst="roundRect">
            <a:avLst>
              <a:gd name="adj" fmla="val 23529"/>
            </a:avLst>
          </a:prstGeom>
          <a:solidFill>
            <a:srgbClr val="1A1B3A"/>
          </a:solidFill>
          <a:ln w="12700">
            <a:solidFill>
              <a:srgbClr val="3A3B6A"/>
            </a:solidFill>
            <a:prstDash val="solid"/>
          </a:ln>
        </p:spPr>
      </p:sp>
      <p:sp>
        <p:nvSpPr>
          <p:cNvPr id="12" name="Shape 10"/>
          <p:cNvSpPr/>
          <p:nvPr/>
        </p:nvSpPr>
        <p:spPr>
          <a:xfrm>
            <a:off x="4608576" y="3337560"/>
            <a:ext cx="146304" cy="146304"/>
          </a:xfrm>
          <a:prstGeom prst="ellipse">
            <a:avLst/>
          </a:prstGeom>
          <a:solidFill>
            <a:srgbClr val="B59AFF"/>
          </a:solidFill>
          <a:ln/>
        </p:spPr>
      </p:sp>
      <p:sp>
        <p:nvSpPr>
          <p:cNvPr id="13" name="Text 11"/>
          <p:cNvSpPr/>
          <p:nvPr/>
        </p:nvSpPr>
        <p:spPr>
          <a:xfrm>
            <a:off x="4983480" y="3227832"/>
            <a:ext cx="2432304" cy="365760"/>
          </a:xfrm>
          <a:prstGeom prst="rect">
            <a:avLst/>
          </a:prstGeom>
          <a:noFill/>
          <a:ln/>
        </p:spPr>
        <p:txBody>
          <a:bodyPr wrap="square" lIns="0" tIns="0" rIns="0" bIns="0" rtlCol="0" anchor="ctr"/>
          <a:lstStyle/>
          <a:p>
            <a:pPr indent="0" marL="0">
              <a:buNone/>
            </a:pPr>
            <a:r>
              <a:rPr lang="en-US" sz="1300" b="1" dirty="0">
                <a:solidFill>
                  <a:srgbClr val="F7F8F8"/>
                </a:solidFill>
                <a:latin typeface="Arial" pitchFamily="34" charset="0"/>
                <a:ea typeface="Arial" pitchFamily="34" charset="-122"/>
                <a:cs typeface="Arial" pitchFamily="34" charset="-120"/>
              </a:rPr>
              <a:t>Hybrid retrieval</a:t>
            </a:r>
            <a:endParaRPr lang="en-US" sz="1300" dirty="0"/>
          </a:p>
        </p:txBody>
      </p:sp>
      <p:sp>
        <p:nvSpPr>
          <p:cNvPr id="14" name="Text 12"/>
          <p:cNvSpPr/>
          <p:nvPr/>
        </p:nvSpPr>
        <p:spPr>
          <a:xfrm>
            <a:off x="4526280" y="3675888"/>
            <a:ext cx="2852928" cy="640080"/>
          </a:xfrm>
          <a:prstGeom prst="rect">
            <a:avLst/>
          </a:prstGeom>
          <a:noFill/>
          <a:ln/>
        </p:spPr>
        <p:txBody>
          <a:bodyPr wrap="square" lIns="0" tIns="0" rIns="0" bIns="0" rtlCol="0" anchor="ctr"/>
          <a:lstStyle/>
          <a:p>
            <a:pPr indent="0" marL="0">
              <a:lnSpc>
                <a:spcPct val="112000"/>
              </a:lnSpc>
              <a:buNone/>
            </a:pPr>
            <a:r>
              <a:rPr lang="en-US" sz="1050" dirty="0">
                <a:solidFill>
                  <a:srgbClr val="8A8F98"/>
                </a:solidFill>
                <a:latin typeface="Arial" pitchFamily="34" charset="0"/>
                <a:ea typeface="Arial" pitchFamily="34" charset="-122"/>
                <a:cs typeface="Arial" pitchFamily="34" charset="-120"/>
              </a:rPr>
              <a:t>Full-text, vector, and graph search over snippets and sections, so agents grab a few lines instead of a whole file.</a:t>
            </a:r>
            <a:endParaRPr lang="en-US" sz="1050" dirty="0"/>
          </a:p>
        </p:txBody>
      </p:sp>
      <p:sp>
        <p:nvSpPr>
          <p:cNvPr id="15" name="Shape 13"/>
          <p:cNvSpPr/>
          <p:nvPr/>
        </p:nvSpPr>
        <p:spPr>
          <a:xfrm>
            <a:off x="7900416" y="3017520"/>
            <a:ext cx="3346704" cy="1371600"/>
          </a:xfrm>
          <a:prstGeom prst="roundRect">
            <a:avLst>
              <a:gd name="adj" fmla="val 6000"/>
            </a:avLst>
          </a:prstGeom>
          <a:solidFill>
            <a:srgbClr val="131418"/>
          </a:solidFill>
          <a:ln w="12700">
            <a:solidFill>
              <a:srgbClr val="26282E"/>
            </a:solidFill>
            <a:prstDash val="solid"/>
          </a:ln>
        </p:spPr>
      </p:sp>
      <p:sp>
        <p:nvSpPr>
          <p:cNvPr id="16" name="Shape 14"/>
          <p:cNvSpPr/>
          <p:nvPr/>
        </p:nvSpPr>
        <p:spPr>
          <a:xfrm>
            <a:off x="8156448" y="3255264"/>
            <a:ext cx="310896" cy="310896"/>
          </a:xfrm>
          <a:prstGeom prst="roundRect">
            <a:avLst>
              <a:gd name="adj" fmla="val 23529"/>
            </a:avLst>
          </a:prstGeom>
          <a:solidFill>
            <a:srgbClr val="1A1B3A"/>
          </a:solidFill>
          <a:ln w="12700">
            <a:solidFill>
              <a:srgbClr val="3A3B6A"/>
            </a:solidFill>
            <a:prstDash val="solid"/>
          </a:ln>
        </p:spPr>
      </p:sp>
      <p:sp>
        <p:nvSpPr>
          <p:cNvPr id="17" name="Shape 15"/>
          <p:cNvSpPr/>
          <p:nvPr/>
        </p:nvSpPr>
        <p:spPr>
          <a:xfrm>
            <a:off x="8238744" y="3337560"/>
            <a:ext cx="146304" cy="146304"/>
          </a:xfrm>
          <a:prstGeom prst="ellipse">
            <a:avLst/>
          </a:prstGeom>
          <a:solidFill>
            <a:srgbClr val="B59AFF"/>
          </a:solidFill>
          <a:ln/>
        </p:spPr>
      </p:sp>
      <p:sp>
        <p:nvSpPr>
          <p:cNvPr id="18" name="Text 16"/>
          <p:cNvSpPr/>
          <p:nvPr/>
        </p:nvSpPr>
        <p:spPr>
          <a:xfrm>
            <a:off x="8613648" y="3227832"/>
            <a:ext cx="2432304" cy="365760"/>
          </a:xfrm>
          <a:prstGeom prst="rect">
            <a:avLst/>
          </a:prstGeom>
          <a:noFill/>
          <a:ln/>
        </p:spPr>
        <p:txBody>
          <a:bodyPr wrap="square" lIns="0" tIns="0" rIns="0" bIns="0" rtlCol="0" anchor="ctr"/>
          <a:lstStyle/>
          <a:p>
            <a:pPr indent="0" marL="0">
              <a:buNone/>
            </a:pPr>
            <a:r>
              <a:rPr lang="en-US" sz="1300" b="1" dirty="0">
                <a:solidFill>
                  <a:srgbClr val="F7F8F8"/>
                </a:solidFill>
                <a:latin typeface="Arial" pitchFamily="34" charset="0"/>
                <a:ea typeface="Arial" pitchFamily="34" charset="-122"/>
                <a:cs typeface="Arial" pitchFamily="34" charset="-120"/>
              </a:rPr>
              <a:t>Shared memory</a:t>
            </a:r>
            <a:endParaRPr lang="en-US" sz="1300" dirty="0"/>
          </a:p>
        </p:txBody>
      </p:sp>
      <p:sp>
        <p:nvSpPr>
          <p:cNvPr id="19" name="Text 17"/>
          <p:cNvSpPr/>
          <p:nvPr/>
        </p:nvSpPr>
        <p:spPr>
          <a:xfrm>
            <a:off x="8156448" y="3675888"/>
            <a:ext cx="2852928" cy="640080"/>
          </a:xfrm>
          <a:prstGeom prst="rect">
            <a:avLst/>
          </a:prstGeom>
          <a:noFill/>
          <a:ln/>
        </p:spPr>
        <p:txBody>
          <a:bodyPr wrap="square" lIns="0" tIns="0" rIns="0" bIns="0" rtlCol="0" anchor="ctr"/>
          <a:lstStyle/>
          <a:p>
            <a:pPr indent="0" marL="0">
              <a:lnSpc>
                <a:spcPct val="112000"/>
              </a:lnSpc>
              <a:buNone/>
            </a:pPr>
            <a:r>
              <a:rPr lang="en-US" sz="1050" dirty="0">
                <a:solidFill>
                  <a:srgbClr val="8A8F98"/>
                </a:solidFill>
                <a:latin typeface="Arial" pitchFamily="34" charset="0"/>
                <a:ea typeface="Arial" pitchFamily="34" charset="-122"/>
                <a:cs typeface="Arial" pitchFamily="34" charset="-120"/>
              </a:rPr>
              <a:t>Lessons from past mistakes, recalled by every agent and developer on the team, including in CI.</a:t>
            </a:r>
            <a:endParaRPr lang="en-US" sz="1050" dirty="0"/>
          </a:p>
        </p:txBody>
      </p:sp>
      <p:sp>
        <p:nvSpPr>
          <p:cNvPr id="20" name="Shape 18"/>
          <p:cNvSpPr/>
          <p:nvPr/>
        </p:nvSpPr>
        <p:spPr>
          <a:xfrm>
            <a:off x="640080" y="4617720"/>
            <a:ext cx="3346704" cy="1371600"/>
          </a:xfrm>
          <a:prstGeom prst="roundRect">
            <a:avLst>
              <a:gd name="adj" fmla="val 6000"/>
            </a:avLst>
          </a:prstGeom>
          <a:solidFill>
            <a:srgbClr val="131418"/>
          </a:solidFill>
          <a:ln w="12700">
            <a:solidFill>
              <a:srgbClr val="26282E"/>
            </a:solidFill>
            <a:prstDash val="solid"/>
          </a:ln>
        </p:spPr>
      </p:sp>
      <p:sp>
        <p:nvSpPr>
          <p:cNvPr id="21" name="Shape 19"/>
          <p:cNvSpPr/>
          <p:nvPr/>
        </p:nvSpPr>
        <p:spPr>
          <a:xfrm>
            <a:off x="896112" y="4855464"/>
            <a:ext cx="310896" cy="310896"/>
          </a:xfrm>
          <a:prstGeom prst="roundRect">
            <a:avLst>
              <a:gd name="adj" fmla="val 23529"/>
            </a:avLst>
          </a:prstGeom>
          <a:solidFill>
            <a:srgbClr val="1A1B3A"/>
          </a:solidFill>
          <a:ln w="12700">
            <a:solidFill>
              <a:srgbClr val="3A3B6A"/>
            </a:solidFill>
            <a:prstDash val="solid"/>
          </a:ln>
        </p:spPr>
      </p:sp>
      <p:sp>
        <p:nvSpPr>
          <p:cNvPr id="22" name="Shape 20"/>
          <p:cNvSpPr/>
          <p:nvPr/>
        </p:nvSpPr>
        <p:spPr>
          <a:xfrm>
            <a:off x="978408" y="4937760"/>
            <a:ext cx="146304" cy="146304"/>
          </a:xfrm>
          <a:prstGeom prst="ellipse">
            <a:avLst/>
          </a:prstGeom>
          <a:solidFill>
            <a:srgbClr val="B59AFF"/>
          </a:solidFill>
          <a:ln/>
        </p:spPr>
      </p:sp>
      <p:sp>
        <p:nvSpPr>
          <p:cNvPr id="23" name="Text 21"/>
          <p:cNvSpPr/>
          <p:nvPr/>
        </p:nvSpPr>
        <p:spPr>
          <a:xfrm>
            <a:off x="1353312" y="4828032"/>
            <a:ext cx="2432304" cy="365760"/>
          </a:xfrm>
          <a:prstGeom prst="rect">
            <a:avLst/>
          </a:prstGeom>
          <a:noFill/>
          <a:ln/>
        </p:spPr>
        <p:txBody>
          <a:bodyPr wrap="square" lIns="0" tIns="0" rIns="0" bIns="0" rtlCol="0" anchor="ctr"/>
          <a:lstStyle/>
          <a:p>
            <a:pPr indent="0" marL="0">
              <a:buNone/>
            </a:pPr>
            <a:r>
              <a:rPr lang="en-US" sz="1300" b="1" dirty="0">
                <a:solidFill>
                  <a:srgbClr val="F7F8F8"/>
                </a:solidFill>
                <a:latin typeface="Arial" pitchFamily="34" charset="0"/>
                <a:ea typeface="Arial" pitchFamily="34" charset="-122"/>
                <a:cs typeface="Arial" pitchFamily="34" charset="-120"/>
              </a:rPr>
              <a:t>Built-in code review</a:t>
            </a:r>
            <a:endParaRPr lang="en-US" sz="1300" dirty="0"/>
          </a:p>
        </p:txBody>
      </p:sp>
      <p:sp>
        <p:nvSpPr>
          <p:cNvPr id="24" name="Text 22"/>
          <p:cNvSpPr/>
          <p:nvPr/>
        </p:nvSpPr>
        <p:spPr>
          <a:xfrm>
            <a:off x="896112" y="5276088"/>
            <a:ext cx="2852928" cy="640080"/>
          </a:xfrm>
          <a:prstGeom prst="rect">
            <a:avLst/>
          </a:prstGeom>
          <a:noFill/>
          <a:ln/>
        </p:spPr>
        <p:txBody>
          <a:bodyPr wrap="square" lIns="0" tIns="0" rIns="0" bIns="0" rtlCol="0" anchor="ctr"/>
          <a:lstStyle/>
          <a:p>
            <a:pPr indent="0" marL="0">
              <a:lnSpc>
                <a:spcPct val="112000"/>
              </a:lnSpc>
              <a:buNone/>
            </a:pPr>
            <a:r>
              <a:rPr lang="en-US" sz="1050" dirty="0">
                <a:solidFill>
                  <a:srgbClr val="8A8F98"/>
                </a:solidFill>
                <a:latin typeface="Arial" pitchFamily="34" charset="0"/>
                <a:ea typeface="Arial" pitchFamily="34" charset="-122"/>
                <a:cs typeface="Arial" pitchFamily="34" charset="-120"/>
              </a:rPr>
              <a:t>Review agents check every PR. The same agents run locally, so issues get caught before the PR exists.</a:t>
            </a:r>
            <a:endParaRPr lang="en-US" sz="1050" dirty="0"/>
          </a:p>
        </p:txBody>
      </p:sp>
      <p:sp>
        <p:nvSpPr>
          <p:cNvPr id="25" name="Shape 23"/>
          <p:cNvSpPr/>
          <p:nvPr/>
        </p:nvSpPr>
        <p:spPr>
          <a:xfrm>
            <a:off x="4270248" y="4617720"/>
            <a:ext cx="3346704" cy="1371600"/>
          </a:xfrm>
          <a:prstGeom prst="roundRect">
            <a:avLst>
              <a:gd name="adj" fmla="val 6000"/>
            </a:avLst>
          </a:prstGeom>
          <a:solidFill>
            <a:srgbClr val="131418"/>
          </a:solidFill>
          <a:ln w="12700">
            <a:solidFill>
              <a:srgbClr val="26282E"/>
            </a:solidFill>
            <a:prstDash val="solid"/>
          </a:ln>
        </p:spPr>
      </p:sp>
      <p:sp>
        <p:nvSpPr>
          <p:cNvPr id="26" name="Shape 24"/>
          <p:cNvSpPr/>
          <p:nvPr/>
        </p:nvSpPr>
        <p:spPr>
          <a:xfrm>
            <a:off x="4526280" y="4855464"/>
            <a:ext cx="310896" cy="310896"/>
          </a:xfrm>
          <a:prstGeom prst="roundRect">
            <a:avLst>
              <a:gd name="adj" fmla="val 23529"/>
            </a:avLst>
          </a:prstGeom>
          <a:solidFill>
            <a:srgbClr val="1A1B3A"/>
          </a:solidFill>
          <a:ln w="12700">
            <a:solidFill>
              <a:srgbClr val="3A3B6A"/>
            </a:solidFill>
            <a:prstDash val="solid"/>
          </a:ln>
        </p:spPr>
      </p:sp>
      <p:sp>
        <p:nvSpPr>
          <p:cNvPr id="27" name="Shape 25"/>
          <p:cNvSpPr/>
          <p:nvPr/>
        </p:nvSpPr>
        <p:spPr>
          <a:xfrm>
            <a:off x="4608576" y="4937760"/>
            <a:ext cx="146304" cy="146304"/>
          </a:xfrm>
          <a:prstGeom prst="ellipse">
            <a:avLst/>
          </a:prstGeom>
          <a:solidFill>
            <a:srgbClr val="B59AFF"/>
          </a:solidFill>
          <a:ln/>
        </p:spPr>
      </p:sp>
      <p:sp>
        <p:nvSpPr>
          <p:cNvPr id="28" name="Text 26"/>
          <p:cNvSpPr/>
          <p:nvPr/>
        </p:nvSpPr>
        <p:spPr>
          <a:xfrm>
            <a:off x="4983480" y="4828032"/>
            <a:ext cx="2432304" cy="365760"/>
          </a:xfrm>
          <a:prstGeom prst="rect">
            <a:avLst/>
          </a:prstGeom>
          <a:noFill/>
          <a:ln/>
        </p:spPr>
        <p:txBody>
          <a:bodyPr wrap="square" lIns="0" tIns="0" rIns="0" bIns="0" rtlCol="0" anchor="ctr"/>
          <a:lstStyle/>
          <a:p>
            <a:pPr indent="0" marL="0">
              <a:buNone/>
            </a:pPr>
            <a:r>
              <a:rPr lang="en-US" sz="1300" b="1" dirty="0">
                <a:solidFill>
                  <a:srgbClr val="F7F8F8"/>
                </a:solidFill>
                <a:latin typeface="Arial" pitchFamily="34" charset="0"/>
                <a:ea typeface="Arial" pitchFamily="34" charset="-122"/>
                <a:cs typeface="Arial" pitchFamily="34" charset="-120"/>
              </a:rPr>
              <a:t>Telemetry for leaders</a:t>
            </a:r>
            <a:endParaRPr lang="en-US" sz="1300" dirty="0"/>
          </a:p>
        </p:txBody>
      </p:sp>
      <p:sp>
        <p:nvSpPr>
          <p:cNvPr id="29" name="Text 27"/>
          <p:cNvSpPr/>
          <p:nvPr/>
        </p:nvSpPr>
        <p:spPr>
          <a:xfrm>
            <a:off x="4526280" y="5276088"/>
            <a:ext cx="2852928" cy="640080"/>
          </a:xfrm>
          <a:prstGeom prst="rect">
            <a:avLst/>
          </a:prstGeom>
          <a:noFill/>
          <a:ln/>
        </p:spPr>
        <p:txBody>
          <a:bodyPr wrap="square" lIns="0" tIns="0" rIns="0" bIns="0" rtlCol="0" anchor="ctr"/>
          <a:lstStyle/>
          <a:p>
            <a:pPr indent="0" marL="0">
              <a:lnSpc>
                <a:spcPct val="112000"/>
              </a:lnSpc>
              <a:buNone/>
            </a:pPr>
            <a:r>
              <a:rPr lang="en-US" sz="1050" dirty="0">
                <a:solidFill>
                  <a:srgbClr val="8A8F98"/>
                </a:solidFill>
                <a:latin typeface="Arial" pitchFamily="34" charset="0"/>
                <a:ea typeface="Arial" pitchFamily="34" charset="-122"/>
                <a:cs typeface="Arial" pitchFamily="34" charset="-120"/>
              </a:rPr>
              <a:t>OpenTelemetry traces and metrics show which docs get used and which agents your team actually runs.</a:t>
            </a:r>
            <a:endParaRPr lang="en-US" sz="1050" dirty="0"/>
          </a:p>
        </p:txBody>
      </p:sp>
      <p:sp>
        <p:nvSpPr>
          <p:cNvPr id="30" name="Shape 28"/>
          <p:cNvSpPr/>
          <p:nvPr/>
        </p:nvSpPr>
        <p:spPr>
          <a:xfrm>
            <a:off x="7900416" y="4617720"/>
            <a:ext cx="3346704" cy="1371600"/>
          </a:xfrm>
          <a:prstGeom prst="roundRect">
            <a:avLst>
              <a:gd name="adj" fmla="val 6000"/>
            </a:avLst>
          </a:prstGeom>
          <a:solidFill>
            <a:srgbClr val="131418"/>
          </a:solidFill>
          <a:ln w="12700">
            <a:solidFill>
              <a:srgbClr val="26282E"/>
            </a:solidFill>
            <a:prstDash val="solid"/>
          </a:ln>
        </p:spPr>
      </p:sp>
      <p:sp>
        <p:nvSpPr>
          <p:cNvPr id="31" name="Shape 29"/>
          <p:cNvSpPr/>
          <p:nvPr/>
        </p:nvSpPr>
        <p:spPr>
          <a:xfrm>
            <a:off x="8156448" y="4855464"/>
            <a:ext cx="310896" cy="310896"/>
          </a:xfrm>
          <a:prstGeom prst="roundRect">
            <a:avLst>
              <a:gd name="adj" fmla="val 23529"/>
            </a:avLst>
          </a:prstGeom>
          <a:solidFill>
            <a:srgbClr val="1A1B3A"/>
          </a:solidFill>
          <a:ln w="12700">
            <a:solidFill>
              <a:srgbClr val="3A3B6A"/>
            </a:solidFill>
            <a:prstDash val="solid"/>
          </a:ln>
        </p:spPr>
      </p:sp>
      <p:sp>
        <p:nvSpPr>
          <p:cNvPr id="32" name="Shape 30"/>
          <p:cNvSpPr/>
          <p:nvPr/>
        </p:nvSpPr>
        <p:spPr>
          <a:xfrm>
            <a:off x="8238744" y="4937760"/>
            <a:ext cx="146304" cy="146304"/>
          </a:xfrm>
          <a:prstGeom prst="ellipse">
            <a:avLst/>
          </a:prstGeom>
          <a:solidFill>
            <a:srgbClr val="B59AFF"/>
          </a:solidFill>
          <a:ln/>
        </p:spPr>
      </p:sp>
      <p:sp>
        <p:nvSpPr>
          <p:cNvPr id="33" name="Text 31"/>
          <p:cNvSpPr/>
          <p:nvPr/>
        </p:nvSpPr>
        <p:spPr>
          <a:xfrm>
            <a:off x="8613648" y="4828032"/>
            <a:ext cx="2432304" cy="365760"/>
          </a:xfrm>
          <a:prstGeom prst="rect">
            <a:avLst/>
          </a:prstGeom>
          <a:noFill/>
          <a:ln/>
        </p:spPr>
        <p:txBody>
          <a:bodyPr wrap="square" lIns="0" tIns="0" rIns="0" bIns="0" rtlCol="0" anchor="ctr"/>
          <a:lstStyle/>
          <a:p>
            <a:pPr indent="0" marL="0">
              <a:buNone/>
            </a:pPr>
            <a:r>
              <a:rPr lang="en-US" sz="1300" b="1" dirty="0">
                <a:solidFill>
                  <a:srgbClr val="F7F8F8"/>
                </a:solidFill>
                <a:latin typeface="Arial" pitchFamily="34" charset="0"/>
                <a:ea typeface="Arial" pitchFamily="34" charset="-122"/>
                <a:cs typeface="Arial" pitchFamily="34" charset="-120"/>
              </a:rPr>
              <a:t>Runs in your network</a:t>
            </a:r>
            <a:endParaRPr lang="en-US" sz="1300" dirty="0"/>
          </a:p>
        </p:txBody>
      </p:sp>
      <p:sp>
        <p:nvSpPr>
          <p:cNvPr id="34" name="Text 32"/>
          <p:cNvSpPr/>
          <p:nvPr/>
        </p:nvSpPr>
        <p:spPr>
          <a:xfrm>
            <a:off x="8156448" y="5276088"/>
            <a:ext cx="2852928" cy="640080"/>
          </a:xfrm>
          <a:prstGeom prst="rect">
            <a:avLst/>
          </a:prstGeom>
          <a:noFill/>
          <a:ln/>
        </p:spPr>
        <p:txBody>
          <a:bodyPr wrap="square" lIns="0" tIns="0" rIns="0" bIns="0" rtlCol="0" anchor="ctr"/>
          <a:lstStyle/>
          <a:p>
            <a:pPr indent="0" marL="0">
              <a:lnSpc>
                <a:spcPct val="112000"/>
              </a:lnSpc>
              <a:buNone/>
            </a:pPr>
            <a:r>
              <a:rPr lang="en-US" sz="1050" dirty="0">
                <a:solidFill>
                  <a:srgbClr val="8A8F98"/>
                </a:solidFill>
                <a:latin typeface="Arial" pitchFamily="34" charset="0"/>
                <a:ea typeface="Arial" pitchFamily="34" charset="-122"/>
                <a:cs typeface="Arial" pitchFamily="34" charset="-120"/>
              </a:rPr>
              <a:t>OAuth, encrypted tokens, signed webhooks, and a Kubernetes deploy. Host it inside your own perimeter.</a:t>
            </a:r>
            <a:endParaRPr lang="en-US" sz="1050" dirty="0"/>
          </a:p>
        </p:txBody>
      </p:sp>
      <p:sp>
        <p:nvSpPr>
          <p:cNvPr id="35" name="Text 33"/>
          <p:cNvSpPr/>
          <p:nvPr/>
        </p:nvSpPr>
        <p:spPr>
          <a:xfrm>
            <a:off x="640080" y="6400800"/>
            <a:ext cx="4572000" cy="274320"/>
          </a:xfrm>
          <a:prstGeom prst="rect">
            <a:avLst/>
          </a:prstGeom>
          <a:noFill/>
          <a:ln/>
        </p:spPr>
        <p:txBody>
          <a:bodyPr wrap="square" lIns="0" tIns="0" rIns="0" bIns="0" rtlCol="0" anchor="ctr"/>
          <a:lstStyle/>
          <a:p>
            <a:pPr algn="l" indent="0" marL="0">
              <a:buNone/>
            </a:pPr>
            <a:r>
              <a:rPr lang="en-US" sz="900" dirty="0">
                <a:solidFill>
                  <a:srgbClr val="8A8F98"/>
                </a:solidFill>
                <a:latin typeface="Arial" pitchFamily="34" charset="0"/>
                <a:ea typeface="Arial" pitchFamily="34" charset="-122"/>
                <a:cs typeface="Arial" pitchFamily="34" charset="-120"/>
              </a:rPr>
              <a:t>Biblio  ·  Wonderly</a:t>
            </a:r>
            <a:endParaRPr lang="en-US" sz="900" dirty="0"/>
          </a:p>
        </p:txBody>
      </p:sp>
      <p:sp>
        <p:nvSpPr>
          <p:cNvPr id="36" name="Text 34"/>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8A8F98"/>
                </a:solidFill>
                <a:latin typeface="Courier New" pitchFamily="34" charset="0"/>
                <a:ea typeface="Courier New" pitchFamily="34" charset="-122"/>
                <a:cs typeface="Courier Ne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090A"/>
        </a:solidFill>
      </p:bgPr>
    </p:bg>
    <p:spTree>
      <p:nvGrpSpPr>
        <p:cNvPr id="1" name=""/>
        <p:cNvGrpSpPr/>
        <p:nvPr/>
      </p:nvGrpSpPr>
      <p:grpSpPr>
        <a:xfrm>
          <a:off x="0" y="0"/>
          <a:ext cx="0" cy="0"/>
          <a:chOff x="0" y="0"/>
          <a:chExt cx="0" cy="0"/>
        </a:xfrm>
      </p:grpSpPr>
      <p:sp>
        <p:nvSpPr>
          <p:cNvPr id="2" name="Text 0"/>
          <p:cNvSpPr/>
          <p:nvPr/>
        </p:nvSpPr>
        <p:spPr>
          <a:xfrm>
            <a:off x="640080" y="594360"/>
            <a:ext cx="7315200" cy="274320"/>
          </a:xfrm>
          <a:prstGeom prst="rect">
            <a:avLst/>
          </a:prstGeom>
          <a:noFill/>
          <a:ln/>
        </p:spPr>
        <p:txBody>
          <a:bodyPr wrap="square" lIns="0" tIns="0" rIns="0" bIns="0" rtlCol="0" anchor="ctr"/>
          <a:lstStyle/>
          <a:p>
            <a:pPr algn="l" indent="0" marL="0">
              <a:buNone/>
            </a:pPr>
            <a:r>
              <a:rPr lang="en-US" sz="1100" b="1" spc="300" kern="0" dirty="0">
                <a:solidFill>
                  <a:srgbClr val="B59AFF"/>
                </a:solidFill>
                <a:latin typeface="Arial" pitchFamily="34" charset="0"/>
                <a:ea typeface="Arial" pitchFamily="34" charset="-122"/>
                <a:cs typeface="Arial" pitchFamily="34" charset="-120"/>
              </a:rPr>
              <a:t>HOW IT WORKS</a:t>
            </a:r>
            <a:endParaRPr lang="en-US" sz="1100" dirty="0"/>
          </a:p>
        </p:txBody>
      </p:sp>
      <p:sp>
        <p:nvSpPr>
          <p:cNvPr id="3" name="Text 1"/>
          <p:cNvSpPr/>
          <p:nvPr/>
        </p:nvSpPr>
        <p:spPr>
          <a:xfrm>
            <a:off x="640080" y="960120"/>
            <a:ext cx="7315200" cy="1005840"/>
          </a:xfrm>
          <a:prstGeom prst="rect">
            <a:avLst/>
          </a:prstGeom>
          <a:noFill/>
          <a:ln/>
        </p:spPr>
        <p:txBody>
          <a:bodyPr wrap="square" lIns="0" tIns="0" rIns="0" bIns="0" rtlCol="0" anchor="t"/>
          <a:lstStyle/>
          <a:p>
            <a:pPr algn="l" indent="0" marL="0">
              <a:lnSpc>
                <a:spcPct val="100000"/>
              </a:lnSpc>
              <a:buNone/>
            </a:pPr>
            <a:r>
              <a:rPr lang="en-US" sz="3000" b="1" dirty="0">
                <a:solidFill>
                  <a:srgbClr val="F7F8F8"/>
                </a:solidFill>
                <a:latin typeface="Arial" pitchFamily="34" charset="0"/>
                <a:ea typeface="Arial" pitchFamily="34" charset="-122"/>
                <a:cs typeface="Arial" pitchFamily="34" charset="-120"/>
              </a:rPr>
              <a:t>The loop that keeps</a:t>
            </a:r>
            <a:endParaRPr lang="en-US" sz="3000" dirty="0"/>
          </a:p>
          <a:p>
            <a:pPr algn="l" indent="0" marL="0">
              <a:lnSpc>
                <a:spcPct val="100000"/>
              </a:lnSpc>
              <a:buNone/>
            </a:pPr>
            <a:r>
              <a:rPr lang="en-US" sz="3000" b="1" dirty="0">
                <a:solidFill>
                  <a:srgbClr val="F7F8F8"/>
                </a:solidFill>
                <a:latin typeface="Arial" pitchFamily="34" charset="0"/>
                <a:ea typeface="Arial" pitchFamily="34" charset="-122"/>
                <a:cs typeface="Arial" pitchFamily="34" charset="-120"/>
              </a:rPr>
              <a:t>code on standard</a:t>
            </a:r>
            <a:endParaRPr lang="en-US" sz="3000" dirty="0"/>
          </a:p>
        </p:txBody>
      </p:sp>
      <p:sp>
        <p:nvSpPr>
          <p:cNvPr id="4" name="Text 2"/>
          <p:cNvSpPr/>
          <p:nvPr/>
        </p:nvSpPr>
        <p:spPr>
          <a:xfrm>
            <a:off x="640080" y="1691640"/>
            <a:ext cx="5486400" cy="1188720"/>
          </a:xfrm>
          <a:prstGeom prst="rect">
            <a:avLst/>
          </a:prstGeom>
          <a:noFill/>
          <a:ln/>
        </p:spPr>
        <p:txBody>
          <a:bodyPr wrap="square" lIns="0" tIns="0" rIns="0" bIns="0" rtlCol="0" anchor="ctr"/>
          <a:lstStyle/>
          <a:p>
            <a:pPr indent="0" marL="0">
              <a:lnSpc>
                <a:spcPct val="130000"/>
              </a:lnSpc>
              <a:buNone/>
            </a:pPr>
            <a:r>
              <a:rPr lang="en-US" sz="1400" dirty="0">
                <a:solidFill>
                  <a:srgbClr val="B4BCD0"/>
                </a:solidFill>
                <a:latin typeface="Arial" pitchFamily="34" charset="0"/>
                <a:ea typeface="Arial" pitchFamily="34" charset="-122"/>
                <a:cs typeface="Arial" pitchFamily="34" charset="-120"/>
              </a:rPr>
              <a:t>Docs feed the agents writing code. Review checks that code against the same docs. When review catches something, it gets saved as a memory the agents read the next time around.</a:t>
            </a:r>
            <a:endParaRPr lang="en-US" sz="1400" dirty="0"/>
          </a:p>
        </p:txBody>
      </p:sp>
      <p:sp>
        <p:nvSpPr>
          <p:cNvPr id="5" name="Text 3"/>
          <p:cNvSpPr/>
          <p:nvPr/>
        </p:nvSpPr>
        <p:spPr>
          <a:xfrm>
            <a:off x="640080" y="3063240"/>
            <a:ext cx="548640" cy="457200"/>
          </a:xfrm>
          <a:prstGeom prst="rect">
            <a:avLst/>
          </a:prstGeom>
          <a:noFill/>
          <a:ln/>
        </p:spPr>
        <p:txBody>
          <a:bodyPr wrap="square" lIns="0" tIns="0" rIns="0" bIns="0" rtlCol="0" anchor="t"/>
          <a:lstStyle/>
          <a:p>
            <a:pPr indent="0" marL="0">
              <a:buNone/>
            </a:pPr>
            <a:r>
              <a:rPr lang="en-US" sz="1400" b="1" dirty="0">
                <a:solidFill>
                  <a:srgbClr val="B59AFF"/>
                </a:solidFill>
                <a:latin typeface="Courier New" pitchFamily="34" charset="0"/>
                <a:ea typeface="Courier New" pitchFamily="34" charset="-122"/>
                <a:cs typeface="Courier New" pitchFamily="34" charset="-120"/>
              </a:rPr>
              <a:t>01</a:t>
            </a:r>
            <a:endParaRPr lang="en-US" sz="1400" dirty="0"/>
          </a:p>
        </p:txBody>
      </p:sp>
      <p:sp>
        <p:nvSpPr>
          <p:cNvPr id="6" name="Text 4"/>
          <p:cNvSpPr/>
          <p:nvPr/>
        </p:nvSpPr>
        <p:spPr>
          <a:xfrm>
            <a:off x="1207008" y="3044952"/>
            <a:ext cx="4754880" cy="320040"/>
          </a:xfrm>
          <a:prstGeom prst="rect">
            <a:avLst/>
          </a:prstGeom>
          <a:noFill/>
          <a:ln/>
        </p:spPr>
        <p:txBody>
          <a:bodyPr wrap="square" lIns="0" tIns="0" rIns="0" bIns="0" rtlCol="0" anchor="ctr"/>
          <a:lstStyle/>
          <a:p>
            <a:pPr indent="0" marL="0">
              <a:buNone/>
            </a:pPr>
            <a:r>
              <a:rPr lang="en-US" sz="1400" b="1" dirty="0">
                <a:solidFill>
                  <a:srgbClr val="F7F8F8"/>
                </a:solidFill>
                <a:latin typeface="Arial" pitchFamily="34" charset="0"/>
                <a:ea typeface="Arial" pitchFamily="34" charset="-122"/>
                <a:cs typeface="Arial" pitchFamily="34" charset="-120"/>
              </a:rPr>
              <a:t>Ground</a:t>
            </a:r>
            <a:endParaRPr lang="en-US" sz="1400" dirty="0"/>
          </a:p>
        </p:txBody>
      </p:sp>
      <p:sp>
        <p:nvSpPr>
          <p:cNvPr id="7" name="Text 5"/>
          <p:cNvSpPr/>
          <p:nvPr/>
        </p:nvSpPr>
        <p:spPr>
          <a:xfrm>
            <a:off x="1207008" y="3337560"/>
            <a:ext cx="4754880" cy="365760"/>
          </a:xfrm>
          <a:prstGeom prst="rect">
            <a:avLst/>
          </a:prstGeom>
          <a:noFill/>
          <a:ln/>
        </p:spPr>
        <p:txBody>
          <a:bodyPr wrap="square" lIns="0" tIns="0" rIns="0" bIns="0" rtlCol="0" anchor="ctr"/>
          <a:lstStyle/>
          <a:p>
            <a:pPr indent="0" marL="0">
              <a:buNone/>
            </a:pPr>
            <a:r>
              <a:rPr lang="en-US" sz="1100" dirty="0">
                <a:solidFill>
                  <a:srgbClr val="8A8F98"/>
                </a:solidFill>
                <a:latin typeface="Arial" pitchFamily="34" charset="0"/>
                <a:ea typeface="Arial" pitchFamily="34" charset="-122"/>
                <a:cs typeface="Arial" pitchFamily="34" charset="-120"/>
              </a:rPr>
              <a:t>Your standards, served to every agent.</a:t>
            </a:r>
            <a:endParaRPr lang="en-US" sz="1100" dirty="0"/>
          </a:p>
        </p:txBody>
      </p:sp>
      <p:sp>
        <p:nvSpPr>
          <p:cNvPr id="8" name="Text 6"/>
          <p:cNvSpPr/>
          <p:nvPr/>
        </p:nvSpPr>
        <p:spPr>
          <a:xfrm>
            <a:off x="640080" y="3813048"/>
            <a:ext cx="548640" cy="457200"/>
          </a:xfrm>
          <a:prstGeom prst="rect">
            <a:avLst/>
          </a:prstGeom>
          <a:noFill/>
          <a:ln/>
        </p:spPr>
        <p:txBody>
          <a:bodyPr wrap="square" lIns="0" tIns="0" rIns="0" bIns="0" rtlCol="0" anchor="t"/>
          <a:lstStyle/>
          <a:p>
            <a:pPr indent="0" marL="0">
              <a:buNone/>
            </a:pPr>
            <a:r>
              <a:rPr lang="en-US" sz="1400" b="1" dirty="0">
                <a:solidFill>
                  <a:srgbClr val="B59AFF"/>
                </a:solidFill>
                <a:latin typeface="Courier New" pitchFamily="34" charset="0"/>
                <a:ea typeface="Courier New" pitchFamily="34" charset="-122"/>
                <a:cs typeface="Courier New" pitchFamily="34" charset="-120"/>
              </a:rPr>
              <a:t>02</a:t>
            </a:r>
            <a:endParaRPr lang="en-US" sz="1400" dirty="0"/>
          </a:p>
        </p:txBody>
      </p:sp>
      <p:sp>
        <p:nvSpPr>
          <p:cNvPr id="9" name="Text 7"/>
          <p:cNvSpPr/>
          <p:nvPr/>
        </p:nvSpPr>
        <p:spPr>
          <a:xfrm>
            <a:off x="1207008" y="3794760"/>
            <a:ext cx="4754880" cy="320040"/>
          </a:xfrm>
          <a:prstGeom prst="rect">
            <a:avLst/>
          </a:prstGeom>
          <a:noFill/>
          <a:ln/>
        </p:spPr>
        <p:txBody>
          <a:bodyPr wrap="square" lIns="0" tIns="0" rIns="0" bIns="0" rtlCol="0" anchor="ctr"/>
          <a:lstStyle/>
          <a:p>
            <a:pPr indent="0" marL="0">
              <a:buNone/>
            </a:pPr>
            <a:r>
              <a:rPr lang="en-US" sz="1400" b="1" dirty="0">
                <a:solidFill>
                  <a:srgbClr val="F7F8F8"/>
                </a:solidFill>
                <a:latin typeface="Arial" pitchFamily="34" charset="0"/>
                <a:ea typeface="Arial" pitchFamily="34" charset="-122"/>
                <a:cs typeface="Arial" pitchFamily="34" charset="-120"/>
              </a:rPr>
              <a:t>Retrieve</a:t>
            </a:r>
            <a:endParaRPr lang="en-US" sz="1400" dirty="0"/>
          </a:p>
        </p:txBody>
      </p:sp>
      <p:sp>
        <p:nvSpPr>
          <p:cNvPr id="10" name="Text 8"/>
          <p:cNvSpPr/>
          <p:nvPr/>
        </p:nvSpPr>
        <p:spPr>
          <a:xfrm>
            <a:off x="1207008" y="4087368"/>
            <a:ext cx="4754880" cy="365760"/>
          </a:xfrm>
          <a:prstGeom prst="rect">
            <a:avLst/>
          </a:prstGeom>
          <a:noFill/>
          <a:ln/>
        </p:spPr>
        <p:txBody>
          <a:bodyPr wrap="square" lIns="0" tIns="0" rIns="0" bIns="0" rtlCol="0" anchor="ctr"/>
          <a:lstStyle/>
          <a:p>
            <a:pPr indent="0" marL="0">
              <a:buNone/>
            </a:pPr>
            <a:r>
              <a:rPr lang="en-US" sz="1100" dirty="0">
                <a:solidFill>
                  <a:srgbClr val="8A8F98"/>
                </a:solidFill>
                <a:latin typeface="Arial" pitchFamily="34" charset="0"/>
                <a:ea typeface="Arial" pitchFamily="34" charset="-122"/>
                <a:cs typeface="Arial" pitchFamily="34" charset="-120"/>
              </a:rPr>
              <a:t>Agents pull the snippet they need, not the rulebook.</a:t>
            </a:r>
            <a:endParaRPr lang="en-US" sz="1100" dirty="0"/>
          </a:p>
        </p:txBody>
      </p:sp>
      <p:sp>
        <p:nvSpPr>
          <p:cNvPr id="11" name="Text 9"/>
          <p:cNvSpPr/>
          <p:nvPr/>
        </p:nvSpPr>
        <p:spPr>
          <a:xfrm>
            <a:off x="640080" y="4562856"/>
            <a:ext cx="548640" cy="457200"/>
          </a:xfrm>
          <a:prstGeom prst="rect">
            <a:avLst/>
          </a:prstGeom>
          <a:noFill/>
          <a:ln/>
        </p:spPr>
        <p:txBody>
          <a:bodyPr wrap="square" lIns="0" tIns="0" rIns="0" bIns="0" rtlCol="0" anchor="t"/>
          <a:lstStyle/>
          <a:p>
            <a:pPr indent="0" marL="0">
              <a:buNone/>
            </a:pPr>
            <a:r>
              <a:rPr lang="en-US" sz="1400" b="1" dirty="0">
                <a:solidFill>
                  <a:srgbClr val="B59AFF"/>
                </a:solidFill>
                <a:latin typeface="Courier New" pitchFamily="34" charset="0"/>
                <a:ea typeface="Courier New" pitchFamily="34" charset="-122"/>
                <a:cs typeface="Courier New" pitchFamily="34" charset="-120"/>
              </a:rPr>
              <a:t>03</a:t>
            </a:r>
            <a:endParaRPr lang="en-US" sz="1400" dirty="0"/>
          </a:p>
        </p:txBody>
      </p:sp>
      <p:sp>
        <p:nvSpPr>
          <p:cNvPr id="12" name="Text 10"/>
          <p:cNvSpPr/>
          <p:nvPr/>
        </p:nvSpPr>
        <p:spPr>
          <a:xfrm>
            <a:off x="1207008" y="4544568"/>
            <a:ext cx="4754880" cy="320040"/>
          </a:xfrm>
          <a:prstGeom prst="rect">
            <a:avLst/>
          </a:prstGeom>
          <a:noFill/>
          <a:ln/>
        </p:spPr>
        <p:txBody>
          <a:bodyPr wrap="square" lIns="0" tIns="0" rIns="0" bIns="0" rtlCol="0" anchor="ctr"/>
          <a:lstStyle/>
          <a:p>
            <a:pPr indent="0" marL="0">
              <a:buNone/>
            </a:pPr>
            <a:r>
              <a:rPr lang="en-US" sz="1400" b="1" dirty="0">
                <a:solidFill>
                  <a:srgbClr val="F7F8F8"/>
                </a:solidFill>
                <a:latin typeface="Arial" pitchFamily="34" charset="0"/>
                <a:ea typeface="Arial" pitchFamily="34" charset="-122"/>
                <a:cs typeface="Arial" pitchFamily="34" charset="-120"/>
              </a:rPr>
              <a:t>Review</a:t>
            </a:r>
            <a:endParaRPr lang="en-US" sz="1400" dirty="0"/>
          </a:p>
        </p:txBody>
      </p:sp>
      <p:sp>
        <p:nvSpPr>
          <p:cNvPr id="13" name="Text 11"/>
          <p:cNvSpPr/>
          <p:nvPr/>
        </p:nvSpPr>
        <p:spPr>
          <a:xfrm>
            <a:off x="1207008" y="4837176"/>
            <a:ext cx="4754880" cy="365760"/>
          </a:xfrm>
          <a:prstGeom prst="rect">
            <a:avLst/>
          </a:prstGeom>
          <a:noFill/>
          <a:ln/>
        </p:spPr>
        <p:txBody>
          <a:bodyPr wrap="square" lIns="0" tIns="0" rIns="0" bIns="0" rtlCol="0" anchor="ctr"/>
          <a:lstStyle/>
          <a:p>
            <a:pPr indent="0" marL="0">
              <a:buNone/>
            </a:pPr>
            <a:r>
              <a:rPr lang="en-US" sz="1100" dirty="0">
                <a:solidFill>
                  <a:srgbClr val="8A8F98"/>
                </a:solidFill>
                <a:latin typeface="Arial" pitchFamily="34" charset="0"/>
                <a:ea typeface="Arial" pitchFamily="34" charset="-122"/>
                <a:cs typeface="Arial" pitchFamily="34" charset="-120"/>
              </a:rPr>
              <a:t>The same docs review every PR and local change.</a:t>
            </a:r>
            <a:endParaRPr lang="en-US" sz="1100" dirty="0"/>
          </a:p>
        </p:txBody>
      </p:sp>
      <p:sp>
        <p:nvSpPr>
          <p:cNvPr id="14" name="Text 12"/>
          <p:cNvSpPr/>
          <p:nvPr/>
        </p:nvSpPr>
        <p:spPr>
          <a:xfrm>
            <a:off x="640080" y="5312664"/>
            <a:ext cx="548640" cy="457200"/>
          </a:xfrm>
          <a:prstGeom prst="rect">
            <a:avLst/>
          </a:prstGeom>
          <a:noFill/>
          <a:ln/>
        </p:spPr>
        <p:txBody>
          <a:bodyPr wrap="square" lIns="0" tIns="0" rIns="0" bIns="0" rtlCol="0" anchor="t"/>
          <a:lstStyle/>
          <a:p>
            <a:pPr indent="0" marL="0">
              <a:buNone/>
            </a:pPr>
            <a:r>
              <a:rPr lang="en-US" sz="1400" b="1" dirty="0">
                <a:solidFill>
                  <a:srgbClr val="B59AFF"/>
                </a:solidFill>
                <a:latin typeface="Courier New" pitchFamily="34" charset="0"/>
                <a:ea typeface="Courier New" pitchFamily="34" charset="-122"/>
                <a:cs typeface="Courier New" pitchFamily="34" charset="-120"/>
              </a:rPr>
              <a:t>04</a:t>
            </a:r>
            <a:endParaRPr lang="en-US" sz="1400" dirty="0"/>
          </a:p>
        </p:txBody>
      </p:sp>
      <p:sp>
        <p:nvSpPr>
          <p:cNvPr id="15" name="Text 13"/>
          <p:cNvSpPr/>
          <p:nvPr/>
        </p:nvSpPr>
        <p:spPr>
          <a:xfrm>
            <a:off x="1207008" y="5294376"/>
            <a:ext cx="4754880" cy="320040"/>
          </a:xfrm>
          <a:prstGeom prst="rect">
            <a:avLst/>
          </a:prstGeom>
          <a:noFill/>
          <a:ln/>
        </p:spPr>
        <p:txBody>
          <a:bodyPr wrap="square" lIns="0" tIns="0" rIns="0" bIns="0" rtlCol="0" anchor="ctr"/>
          <a:lstStyle/>
          <a:p>
            <a:pPr indent="0" marL="0">
              <a:buNone/>
            </a:pPr>
            <a:r>
              <a:rPr lang="en-US" sz="1400" b="1" dirty="0">
                <a:solidFill>
                  <a:srgbClr val="F7F8F8"/>
                </a:solidFill>
                <a:latin typeface="Arial" pitchFamily="34" charset="0"/>
                <a:ea typeface="Arial" pitchFamily="34" charset="-122"/>
                <a:cs typeface="Arial" pitchFamily="34" charset="-120"/>
              </a:rPr>
              <a:t>Remember</a:t>
            </a:r>
            <a:endParaRPr lang="en-US" sz="1400" dirty="0"/>
          </a:p>
        </p:txBody>
      </p:sp>
      <p:sp>
        <p:nvSpPr>
          <p:cNvPr id="16" name="Text 14"/>
          <p:cNvSpPr/>
          <p:nvPr/>
        </p:nvSpPr>
        <p:spPr>
          <a:xfrm>
            <a:off x="1207008" y="5586984"/>
            <a:ext cx="4754880" cy="365760"/>
          </a:xfrm>
          <a:prstGeom prst="rect">
            <a:avLst/>
          </a:prstGeom>
          <a:noFill/>
          <a:ln/>
        </p:spPr>
        <p:txBody>
          <a:bodyPr wrap="square" lIns="0" tIns="0" rIns="0" bIns="0" rtlCol="0" anchor="ctr"/>
          <a:lstStyle/>
          <a:p>
            <a:pPr indent="0" marL="0">
              <a:buNone/>
            </a:pPr>
            <a:r>
              <a:rPr lang="en-US" sz="1100" dirty="0">
                <a:solidFill>
                  <a:srgbClr val="8A8F98"/>
                </a:solidFill>
                <a:latin typeface="Arial" pitchFamily="34" charset="0"/>
                <a:ea typeface="Arial" pitchFamily="34" charset="-122"/>
                <a:cs typeface="Arial" pitchFamily="34" charset="-120"/>
              </a:rPr>
              <a:t>Fixes get saved for the whole team to reuse.</a:t>
            </a:r>
            <a:endParaRPr lang="en-US" sz="1100" dirty="0"/>
          </a:p>
        </p:txBody>
      </p:sp>
      <p:sp>
        <p:nvSpPr>
          <p:cNvPr id="17" name="Shape 15"/>
          <p:cNvSpPr/>
          <p:nvPr/>
        </p:nvSpPr>
        <p:spPr>
          <a:xfrm>
            <a:off x="6263640" y="1051560"/>
            <a:ext cx="5212080" cy="5212080"/>
          </a:xfrm>
          <a:prstGeom prst="ellipse">
            <a:avLst/>
          </a:prstGeom>
          <a:ln w="15875">
            <a:solidFill>
              <a:srgbClr val="2E3050"/>
            </a:solidFill>
            <a:prstDash val="dash"/>
          </a:ln>
        </p:spPr>
      </p:sp>
      <p:sp>
        <p:nvSpPr>
          <p:cNvPr id="18" name="Shape 16"/>
          <p:cNvSpPr/>
          <p:nvPr/>
        </p:nvSpPr>
        <p:spPr>
          <a:xfrm>
            <a:off x="8092440" y="2880360"/>
            <a:ext cx="1554480" cy="1554480"/>
          </a:xfrm>
          <a:prstGeom prst="ellipse">
            <a:avLst/>
          </a:prstGeom>
          <a:solidFill>
            <a:srgbClr val="12132A"/>
          </a:solidFill>
          <a:ln w="12700">
            <a:solidFill>
              <a:srgbClr val="3A3B6A"/>
            </a:solidFill>
            <a:prstDash val="solid"/>
          </a:ln>
        </p:spPr>
      </p:sp>
      <p:sp>
        <p:nvSpPr>
          <p:cNvPr id="19" name="Text 17"/>
          <p:cNvSpPr/>
          <p:nvPr/>
        </p:nvSpPr>
        <p:spPr>
          <a:xfrm>
            <a:off x="8092440" y="3401568"/>
            <a:ext cx="1554480" cy="320040"/>
          </a:xfrm>
          <a:prstGeom prst="rect">
            <a:avLst/>
          </a:prstGeom>
          <a:noFill/>
          <a:ln/>
        </p:spPr>
        <p:txBody>
          <a:bodyPr wrap="square" lIns="0" tIns="0" rIns="0" bIns="0" rtlCol="0" anchor="ctr"/>
          <a:lstStyle/>
          <a:p>
            <a:pPr algn="ctr" indent="0" marL="0">
              <a:buNone/>
            </a:pPr>
            <a:r>
              <a:rPr lang="en-US" sz="1400" b="1" dirty="0">
                <a:solidFill>
                  <a:srgbClr val="F7F8F8"/>
                </a:solidFill>
                <a:latin typeface="Arial" pitchFamily="34" charset="0"/>
                <a:ea typeface="Arial" pitchFamily="34" charset="-122"/>
                <a:cs typeface="Arial" pitchFamily="34" charset="-120"/>
              </a:rPr>
              <a:t>Biblio</a:t>
            </a:r>
            <a:endParaRPr lang="en-US" sz="1400" dirty="0"/>
          </a:p>
        </p:txBody>
      </p:sp>
      <p:sp>
        <p:nvSpPr>
          <p:cNvPr id="20" name="Text 18"/>
          <p:cNvSpPr/>
          <p:nvPr/>
        </p:nvSpPr>
        <p:spPr>
          <a:xfrm>
            <a:off x="8092440" y="3703320"/>
            <a:ext cx="1554480" cy="274320"/>
          </a:xfrm>
          <a:prstGeom prst="rect">
            <a:avLst/>
          </a:prstGeom>
          <a:noFill/>
          <a:ln/>
        </p:spPr>
        <p:txBody>
          <a:bodyPr wrap="square" lIns="0" tIns="0" rIns="0" bIns="0" rtlCol="0" anchor="ctr"/>
          <a:lstStyle/>
          <a:p>
            <a:pPr algn="ctr" indent="0" marL="0">
              <a:buNone/>
            </a:pPr>
            <a:r>
              <a:rPr lang="en-US" sz="900" dirty="0">
                <a:solidFill>
                  <a:srgbClr val="8A8F98"/>
                </a:solidFill>
                <a:latin typeface="Arial" pitchFamily="34" charset="0"/>
                <a:ea typeface="Arial" pitchFamily="34" charset="-122"/>
                <a:cs typeface="Arial" pitchFamily="34" charset="-120"/>
              </a:rPr>
              <a:t>one server</a:t>
            </a:r>
            <a:endParaRPr lang="en-US" sz="900" dirty="0"/>
          </a:p>
        </p:txBody>
      </p:sp>
      <p:sp>
        <p:nvSpPr>
          <p:cNvPr id="21" name="Shape 19"/>
          <p:cNvSpPr/>
          <p:nvPr/>
        </p:nvSpPr>
        <p:spPr>
          <a:xfrm>
            <a:off x="8092440" y="1627632"/>
            <a:ext cx="1554480" cy="768096"/>
          </a:xfrm>
          <a:prstGeom prst="roundRect">
            <a:avLst>
              <a:gd name="adj" fmla="val 10714"/>
            </a:avLst>
          </a:prstGeom>
          <a:solidFill>
            <a:srgbClr val="17181D"/>
          </a:solidFill>
          <a:ln w="12700">
            <a:solidFill>
              <a:srgbClr val="33353C"/>
            </a:solidFill>
            <a:prstDash val="solid"/>
          </a:ln>
          <a:effectLst>
            <a:outerShdw sx="100000" sy="100000" kx="0" ky="0" algn="bl" rotWithShape="0" blurRad="127000" dist="50800" dir="5400000">
              <a:srgbClr val="000000">
                <a:alpha val="35000"/>
              </a:srgbClr>
            </a:outerShdw>
          </a:effectLst>
        </p:spPr>
      </p:sp>
      <p:sp>
        <p:nvSpPr>
          <p:cNvPr id="22" name="Shape 20"/>
          <p:cNvSpPr/>
          <p:nvPr/>
        </p:nvSpPr>
        <p:spPr>
          <a:xfrm>
            <a:off x="8257032" y="1929384"/>
            <a:ext cx="146304" cy="146304"/>
          </a:xfrm>
          <a:prstGeom prst="ellipse">
            <a:avLst/>
          </a:prstGeom>
          <a:solidFill>
            <a:srgbClr val="B59AFF"/>
          </a:solidFill>
          <a:ln/>
        </p:spPr>
      </p:sp>
      <p:sp>
        <p:nvSpPr>
          <p:cNvPr id="23" name="Text 21"/>
          <p:cNvSpPr/>
          <p:nvPr/>
        </p:nvSpPr>
        <p:spPr>
          <a:xfrm>
            <a:off x="8458200" y="1627632"/>
            <a:ext cx="1143000" cy="768096"/>
          </a:xfrm>
          <a:prstGeom prst="rect">
            <a:avLst/>
          </a:prstGeom>
          <a:noFill/>
          <a:ln/>
        </p:spPr>
        <p:txBody>
          <a:bodyPr wrap="square" lIns="0" tIns="0" rIns="0" bIns="0" rtlCol="0" anchor="ctr"/>
          <a:lstStyle/>
          <a:p>
            <a:pPr indent="0" marL="0">
              <a:buNone/>
            </a:pPr>
            <a:r>
              <a:rPr lang="en-US" sz="1300" b="1" dirty="0">
                <a:solidFill>
                  <a:srgbClr val="F7F8F8"/>
                </a:solidFill>
                <a:latin typeface="Arial" pitchFamily="34" charset="0"/>
                <a:ea typeface="Arial" pitchFamily="34" charset="-122"/>
                <a:cs typeface="Arial" pitchFamily="34" charset="-120"/>
              </a:rPr>
              <a:t>Docs</a:t>
            </a:r>
            <a:endParaRPr lang="en-US" sz="1300" dirty="0"/>
          </a:p>
        </p:txBody>
      </p:sp>
      <p:sp>
        <p:nvSpPr>
          <p:cNvPr id="24" name="Shape 22"/>
          <p:cNvSpPr/>
          <p:nvPr/>
        </p:nvSpPr>
        <p:spPr>
          <a:xfrm>
            <a:off x="9738360" y="3273552"/>
            <a:ext cx="1554480" cy="768096"/>
          </a:xfrm>
          <a:prstGeom prst="roundRect">
            <a:avLst>
              <a:gd name="adj" fmla="val 10714"/>
            </a:avLst>
          </a:prstGeom>
          <a:solidFill>
            <a:srgbClr val="17181D"/>
          </a:solidFill>
          <a:ln w="12700">
            <a:solidFill>
              <a:srgbClr val="33353C"/>
            </a:solidFill>
            <a:prstDash val="solid"/>
          </a:ln>
          <a:effectLst>
            <a:outerShdw sx="100000" sy="100000" kx="0" ky="0" algn="bl" rotWithShape="0" blurRad="127000" dist="50800" dir="5400000">
              <a:srgbClr val="000000">
                <a:alpha val="35000"/>
              </a:srgbClr>
            </a:outerShdw>
          </a:effectLst>
        </p:spPr>
      </p:sp>
      <p:sp>
        <p:nvSpPr>
          <p:cNvPr id="25" name="Shape 23"/>
          <p:cNvSpPr/>
          <p:nvPr/>
        </p:nvSpPr>
        <p:spPr>
          <a:xfrm>
            <a:off x="9902952" y="3575304"/>
            <a:ext cx="146304" cy="146304"/>
          </a:xfrm>
          <a:prstGeom prst="ellipse">
            <a:avLst/>
          </a:prstGeom>
          <a:solidFill>
            <a:srgbClr val="7C7FFF"/>
          </a:solidFill>
          <a:ln/>
        </p:spPr>
      </p:sp>
      <p:sp>
        <p:nvSpPr>
          <p:cNvPr id="26" name="Text 24"/>
          <p:cNvSpPr/>
          <p:nvPr/>
        </p:nvSpPr>
        <p:spPr>
          <a:xfrm>
            <a:off x="10104120" y="3273552"/>
            <a:ext cx="1143000" cy="768096"/>
          </a:xfrm>
          <a:prstGeom prst="rect">
            <a:avLst/>
          </a:prstGeom>
          <a:noFill/>
          <a:ln/>
        </p:spPr>
        <p:txBody>
          <a:bodyPr wrap="square" lIns="0" tIns="0" rIns="0" bIns="0" rtlCol="0" anchor="ctr"/>
          <a:lstStyle/>
          <a:p>
            <a:pPr indent="0" marL="0">
              <a:buNone/>
            </a:pPr>
            <a:r>
              <a:rPr lang="en-US" sz="1300" b="1" dirty="0">
                <a:solidFill>
                  <a:srgbClr val="F7F8F8"/>
                </a:solidFill>
                <a:latin typeface="Arial" pitchFamily="34" charset="0"/>
                <a:ea typeface="Arial" pitchFamily="34" charset="-122"/>
                <a:cs typeface="Arial" pitchFamily="34" charset="-120"/>
              </a:rPr>
              <a:t>Agents</a:t>
            </a:r>
            <a:endParaRPr lang="en-US" sz="1300" dirty="0"/>
          </a:p>
        </p:txBody>
      </p:sp>
      <p:sp>
        <p:nvSpPr>
          <p:cNvPr id="27" name="Shape 25"/>
          <p:cNvSpPr/>
          <p:nvPr/>
        </p:nvSpPr>
        <p:spPr>
          <a:xfrm>
            <a:off x="8092440" y="4919472"/>
            <a:ext cx="1554480" cy="768096"/>
          </a:xfrm>
          <a:prstGeom prst="roundRect">
            <a:avLst>
              <a:gd name="adj" fmla="val 10714"/>
            </a:avLst>
          </a:prstGeom>
          <a:solidFill>
            <a:srgbClr val="17181D"/>
          </a:solidFill>
          <a:ln w="12700">
            <a:solidFill>
              <a:srgbClr val="33353C"/>
            </a:solidFill>
            <a:prstDash val="solid"/>
          </a:ln>
          <a:effectLst>
            <a:outerShdw sx="100000" sy="100000" kx="0" ky="0" algn="bl" rotWithShape="0" blurRad="127000" dist="50800" dir="5400000">
              <a:srgbClr val="000000">
                <a:alpha val="35000"/>
              </a:srgbClr>
            </a:outerShdw>
          </a:effectLst>
        </p:spPr>
      </p:sp>
      <p:sp>
        <p:nvSpPr>
          <p:cNvPr id="28" name="Shape 26"/>
          <p:cNvSpPr/>
          <p:nvPr/>
        </p:nvSpPr>
        <p:spPr>
          <a:xfrm>
            <a:off x="8257032" y="5221224"/>
            <a:ext cx="146304" cy="146304"/>
          </a:xfrm>
          <a:prstGeom prst="ellipse">
            <a:avLst/>
          </a:prstGeom>
          <a:solidFill>
            <a:srgbClr val="4ADE80"/>
          </a:solidFill>
          <a:ln/>
        </p:spPr>
      </p:sp>
      <p:sp>
        <p:nvSpPr>
          <p:cNvPr id="29" name="Text 27"/>
          <p:cNvSpPr/>
          <p:nvPr/>
        </p:nvSpPr>
        <p:spPr>
          <a:xfrm>
            <a:off x="8458200" y="4919472"/>
            <a:ext cx="1143000" cy="768096"/>
          </a:xfrm>
          <a:prstGeom prst="rect">
            <a:avLst/>
          </a:prstGeom>
          <a:noFill/>
          <a:ln/>
        </p:spPr>
        <p:txBody>
          <a:bodyPr wrap="square" lIns="0" tIns="0" rIns="0" bIns="0" rtlCol="0" anchor="ctr"/>
          <a:lstStyle/>
          <a:p>
            <a:pPr indent="0" marL="0">
              <a:buNone/>
            </a:pPr>
            <a:r>
              <a:rPr lang="en-US" sz="1300" b="1" dirty="0">
                <a:solidFill>
                  <a:srgbClr val="F7F8F8"/>
                </a:solidFill>
                <a:latin typeface="Arial" pitchFamily="34" charset="0"/>
                <a:ea typeface="Arial" pitchFamily="34" charset="-122"/>
                <a:cs typeface="Arial" pitchFamily="34" charset="-120"/>
              </a:rPr>
              <a:t>Reviews</a:t>
            </a:r>
            <a:endParaRPr lang="en-US" sz="1300" dirty="0"/>
          </a:p>
        </p:txBody>
      </p:sp>
      <p:sp>
        <p:nvSpPr>
          <p:cNvPr id="30" name="Shape 28"/>
          <p:cNvSpPr/>
          <p:nvPr/>
        </p:nvSpPr>
        <p:spPr>
          <a:xfrm>
            <a:off x="6446520" y="3273552"/>
            <a:ext cx="1554480" cy="768096"/>
          </a:xfrm>
          <a:prstGeom prst="roundRect">
            <a:avLst>
              <a:gd name="adj" fmla="val 10714"/>
            </a:avLst>
          </a:prstGeom>
          <a:solidFill>
            <a:srgbClr val="17181D"/>
          </a:solidFill>
          <a:ln w="12700">
            <a:solidFill>
              <a:srgbClr val="33353C"/>
            </a:solidFill>
            <a:prstDash val="solid"/>
          </a:ln>
          <a:effectLst>
            <a:outerShdw sx="100000" sy="100000" kx="0" ky="0" algn="bl" rotWithShape="0" blurRad="127000" dist="50800" dir="5400000">
              <a:srgbClr val="000000">
                <a:alpha val="35000"/>
              </a:srgbClr>
            </a:outerShdw>
          </a:effectLst>
        </p:spPr>
      </p:sp>
      <p:sp>
        <p:nvSpPr>
          <p:cNvPr id="31" name="Shape 29"/>
          <p:cNvSpPr/>
          <p:nvPr/>
        </p:nvSpPr>
        <p:spPr>
          <a:xfrm>
            <a:off x="6611112" y="3575304"/>
            <a:ext cx="146304" cy="146304"/>
          </a:xfrm>
          <a:prstGeom prst="ellipse">
            <a:avLst/>
          </a:prstGeom>
          <a:solidFill>
            <a:srgbClr val="FBBF24"/>
          </a:solidFill>
          <a:ln/>
        </p:spPr>
      </p:sp>
      <p:sp>
        <p:nvSpPr>
          <p:cNvPr id="32" name="Text 30"/>
          <p:cNvSpPr/>
          <p:nvPr/>
        </p:nvSpPr>
        <p:spPr>
          <a:xfrm>
            <a:off x="6812280" y="3273552"/>
            <a:ext cx="1143000" cy="768096"/>
          </a:xfrm>
          <a:prstGeom prst="rect">
            <a:avLst/>
          </a:prstGeom>
          <a:noFill/>
          <a:ln/>
        </p:spPr>
        <p:txBody>
          <a:bodyPr wrap="square" lIns="0" tIns="0" rIns="0" bIns="0" rtlCol="0" anchor="ctr"/>
          <a:lstStyle/>
          <a:p>
            <a:pPr indent="0" marL="0">
              <a:buNone/>
            </a:pPr>
            <a:r>
              <a:rPr lang="en-US" sz="1300" b="1" dirty="0">
                <a:solidFill>
                  <a:srgbClr val="F7F8F8"/>
                </a:solidFill>
                <a:latin typeface="Arial" pitchFamily="34" charset="0"/>
                <a:ea typeface="Arial" pitchFamily="34" charset="-122"/>
                <a:cs typeface="Arial" pitchFamily="34" charset="-120"/>
              </a:rPr>
              <a:t>Memory</a:t>
            </a:r>
            <a:endParaRPr lang="en-US" sz="1300" dirty="0"/>
          </a:p>
        </p:txBody>
      </p:sp>
      <p:sp>
        <p:nvSpPr>
          <p:cNvPr id="33" name="Text 31"/>
          <p:cNvSpPr/>
          <p:nvPr/>
        </p:nvSpPr>
        <p:spPr>
          <a:xfrm>
            <a:off x="640080" y="6400800"/>
            <a:ext cx="4572000" cy="274320"/>
          </a:xfrm>
          <a:prstGeom prst="rect">
            <a:avLst/>
          </a:prstGeom>
          <a:noFill/>
          <a:ln/>
        </p:spPr>
        <p:txBody>
          <a:bodyPr wrap="square" lIns="0" tIns="0" rIns="0" bIns="0" rtlCol="0" anchor="ctr"/>
          <a:lstStyle/>
          <a:p>
            <a:pPr algn="l" indent="0" marL="0">
              <a:buNone/>
            </a:pPr>
            <a:r>
              <a:rPr lang="en-US" sz="900" dirty="0">
                <a:solidFill>
                  <a:srgbClr val="8A8F98"/>
                </a:solidFill>
                <a:latin typeface="Arial" pitchFamily="34" charset="0"/>
                <a:ea typeface="Arial" pitchFamily="34" charset="-122"/>
                <a:cs typeface="Arial" pitchFamily="34" charset="-120"/>
              </a:rPr>
              <a:t>Biblio  ·  Wonderly</a:t>
            </a:r>
            <a:endParaRPr lang="en-US" sz="900" dirty="0"/>
          </a:p>
        </p:txBody>
      </p:sp>
      <p:sp>
        <p:nvSpPr>
          <p:cNvPr id="34" name="Text 32"/>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8A8F98"/>
                </a:solidFill>
                <a:latin typeface="Courier New" pitchFamily="34" charset="0"/>
                <a:ea typeface="Courier New" pitchFamily="34" charset="-122"/>
                <a:cs typeface="Courier Ne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090A"/>
        </a:solidFill>
      </p:bgPr>
    </p:bg>
    <p:spTree>
      <p:nvGrpSpPr>
        <p:cNvPr id="1" name=""/>
        <p:cNvGrpSpPr/>
        <p:nvPr/>
      </p:nvGrpSpPr>
      <p:grpSpPr>
        <a:xfrm>
          <a:off x="0" y="0"/>
          <a:ext cx="0" cy="0"/>
          <a:chOff x="0" y="0"/>
          <a:chExt cx="0" cy="0"/>
        </a:xfrm>
      </p:grpSpPr>
      <p:sp>
        <p:nvSpPr>
          <p:cNvPr id="2" name="Text 0"/>
          <p:cNvSpPr/>
          <p:nvPr/>
        </p:nvSpPr>
        <p:spPr>
          <a:xfrm>
            <a:off x="640080" y="594360"/>
            <a:ext cx="7315200" cy="274320"/>
          </a:xfrm>
          <a:prstGeom prst="rect">
            <a:avLst/>
          </a:prstGeom>
          <a:noFill/>
          <a:ln/>
        </p:spPr>
        <p:txBody>
          <a:bodyPr wrap="square" lIns="0" tIns="0" rIns="0" bIns="0" rtlCol="0" anchor="ctr"/>
          <a:lstStyle/>
          <a:p>
            <a:pPr algn="l" indent="0" marL="0">
              <a:buNone/>
            </a:pPr>
            <a:r>
              <a:rPr lang="en-US" sz="1100" b="1" spc="300" kern="0" dirty="0">
                <a:solidFill>
                  <a:srgbClr val="B59AFF"/>
                </a:solidFill>
                <a:latin typeface="Arial" pitchFamily="34" charset="0"/>
                <a:ea typeface="Arial" pitchFamily="34" charset="-122"/>
                <a:cs typeface="Arial" pitchFamily="34" charset="-120"/>
              </a:rPr>
              <a:t>PROOF  ·  IN PRODUCTION</a:t>
            </a:r>
            <a:endParaRPr lang="en-US" sz="1100" dirty="0"/>
          </a:p>
        </p:txBody>
      </p:sp>
      <p:sp>
        <p:nvSpPr>
          <p:cNvPr id="3" name="Text 1"/>
          <p:cNvSpPr/>
          <p:nvPr/>
        </p:nvSpPr>
        <p:spPr>
          <a:xfrm>
            <a:off x="640080" y="960120"/>
            <a:ext cx="4572000" cy="1005840"/>
          </a:xfrm>
          <a:prstGeom prst="rect">
            <a:avLst/>
          </a:prstGeom>
          <a:noFill/>
          <a:ln/>
        </p:spPr>
        <p:txBody>
          <a:bodyPr wrap="square" lIns="0" tIns="0" rIns="0" bIns="0" rtlCol="0" anchor="t"/>
          <a:lstStyle/>
          <a:p>
            <a:pPr algn="l" indent="0" marL="0">
              <a:lnSpc>
                <a:spcPct val="100000"/>
              </a:lnSpc>
              <a:buNone/>
            </a:pPr>
            <a:r>
              <a:rPr lang="en-US" sz="2200" b="1" dirty="0">
                <a:solidFill>
                  <a:srgbClr val="F7F8F8"/>
                </a:solidFill>
                <a:latin typeface="Arial" pitchFamily="34" charset="0"/>
                <a:ea typeface="Arial" pitchFamily="34" charset="-122"/>
                <a:cs typeface="Arial" pitchFamily="34" charset="-120"/>
              </a:rPr>
              <a:t>Every PR, reviewed by</a:t>
            </a:r>
            <a:endParaRPr lang="en-US" sz="2200" dirty="0"/>
          </a:p>
          <a:p>
            <a:pPr algn="l" indent="0" marL="0">
              <a:lnSpc>
                <a:spcPct val="100000"/>
              </a:lnSpc>
              <a:buNone/>
            </a:pPr>
            <a:r>
              <a:rPr lang="en-US" sz="2200" b="1" dirty="0">
                <a:solidFill>
                  <a:srgbClr val="F7F8F8"/>
                </a:solidFill>
                <a:latin typeface="Arial" pitchFamily="34" charset="0"/>
                <a:ea typeface="Arial" pitchFamily="34" charset="-122"/>
                <a:cs typeface="Arial" pitchFamily="34" charset="-120"/>
              </a:rPr>
              <a:t>a team of expert agents.</a:t>
            </a:r>
            <a:endParaRPr lang="en-US" sz="2200" dirty="0"/>
          </a:p>
        </p:txBody>
      </p:sp>
      <p:sp>
        <p:nvSpPr>
          <p:cNvPr id="4" name="Shape 2"/>
          <p:cNvSpPr/>
          <p:nvPr/>
        </p:nvSpPr>
        <p:spPr>
          <a:xfrm>
            <a:off x="658368" y="2752344"/>
            <a:ext cx="109728" cy="109728"/>
          </a:xfrm>
          <a:prstGeom prst="ellipse">
            <a:avLst/>
          </a:prstGeom>
          <a:solidFill>
            <a:srgbClr val="7C7FFF"/>
          </a:solidFill>
          <a:ln/>
        </p:spPr>
      </p:sp>
      <p:sp>
        <p:nvSpPr>
          <p:cNvPr id="5" name="Text 3"/>
          <p:cNvSpPr/>
          <p:nvPr/>
        </p:nvSpPr>
        <p:spPr>
          <a:xfrm>
            <a:off x="914400" y="2651760"/>
            <a:ext cx="4297680" cy="777240"/>
          </a:xfrm>
          <a:prstGeom prst="rect">
            <a:avLst/>
          </a:prstGeom>
          <a:noFill/>
          <a:ln/>
        </p:spPr>
        <p:txBody>
          <a:bodyPr wrap="square" lIns="0" tIns="0" rIns="0" bIns="0" rtlCol="0" anchor="t"/>
          <a:lstStyle/>
          <a:p>
            <a:pPr indent="0" marL="0">
              <a:lnSpc>
                <a:spcPct val="120000"/>
              </a:lnSpc>
              <a:buNone/>
            </a:pPr>
            <a:r>
              <a:rPr lang="en-US" sz="1250" dirty="0">
                <a:solidFill>
                  <a:srgbClr val="B4BCD0"/>
                </a:solidFill>
                <a:latin typeface="Arial" pitchFamily="34" charset="0"/>
                <a:ea typeface="Arial" pitchFamily="34" charset="-122"/>
                <a:cs typeface="Arial" pitchFamily="34" charset="-120"/>
              </a:rPr>
              <a:t>One comment per PR, split by reviewer: logic, tests, technique, performance, and structure.</a:t>
            </a:r>
            <a:endParaRPr lang="en-US" sz="1250" dirty="0"/>
          </a:p>
        </p:txBody>
      </p:sp>
      <p:sp>
        <p:nvSpPr>
          <p:cNvPr id="6" name="Shape 4"/>
          <p:cNvSpPr/>
          <p:nvPr/>
        </p:nvSpPr>
        <p:spPr>
          <a:xfrm>
            <a:off x="658368" y="3712464"/>
            <a:ext cx="109728" cy="109728"/>
          </a:xfrm>
          <a:prstGeom prst="ellipse">
            <a:avLst/>
          </a:prstGeom>
          <a:solidFill>
            <a:srgbClr val="7C7FFF"/>
          </a:solidFill>
          <a:ln/>
        </p:spPr>
      </p:sp>
      <p:sp>
        <p:nvSpPr>
          <p:cNvPr id="7" name="Text 5"/>
          <p:cNvSpPr/>
          <p:nvPr/>
        </p:nvSpPr>
        <p:spPr>
          <a:xfrm>
            <a:off x="914400" y="3611880"/>
            <a:ext cx="4297680" cy="777240"/>
          </a:xfrm>
          <a:prstGeom prst="rect">
            <a:avLst/>
          </a:prstGeom>
          <a:noFill/>
          <a:ln/>
        </p:spPr>
        <p:txBody>
          <a:bodyPr wrap="square" lIns="0" tIns="0" rIns="0" bIns="0" rtlCol="0" anchor="t"/>
          <a:lstStyle/>
          <a:p>
            <a:pPr indent="0" marL="0">
              <a:lnSpc>
                <a:spcPct val="120000"/>
              </a:lnSpc>
              <a:buNone/>
            </a:pPr>
            <a:r>
              <a:rPr lang="en-US" sz="1250" dirty="0">
                <a:solidFill>
                  <a:srgbClr val="B4BCD0"/>
                </a:solidFill>
                <a:latin typeface="Arial" pitchFamily="34" charset="0"/>
                <a:ea typeface="Arial" pitchFamily="34" charset="-122"/>
                <a:cs typeface="Arial" pitchFamily="34" charset="-120"/>
              </a:rPr>
              <a:t>You set up each reviewer with a name and a focus, like a SQL expert or a performance reviewer.</a:t>
            </a:r>
            <a:endParaRPr lang="en-US" sz="1250" dirty="0"/>
          </a:p>
        </p:txBody>
      </p:sp>
      <p:sp>
        <p:nvSpPr>
          <p:cNvPr id="8" name="Shape 6"/>
          <p:cNvSpPr/>
          <p:nvPr/>
        </p:nvSpPr>
        <p:spPr>
          <a:xfrm>
            <a:off x="658368" y="4672584"/>
            <a:ext cx="109728" cy="109728"/>
          </a:xfrm>
          <a:prstGeom prst="ellipse">
            <a:avLst/>
          </a:prstGeom>
          <a:solidFill>
            <a:srgbClr val="7C7FFF"/>
          </a:solidFill>
          <a:ln/>
        </p:spPr>
      </p:sp>
      <p:sp>
        <p:nvSpPr>
          <p:cNvPr id="9" name="Text 7"/>
          <p:cNvSpPr/>
          <p:nvPr/>
        </p:nvSpPr>
        <p:spPr>
          <a:xfrm>
            <a:off x="914400" y="4572000"/>
            <a:ext cx="4297680" cy="777240"/>
          </a:xfrm>
          <a:prstGeom prst="rect">
            <a:avLst/>
          </a:prstGeom>
          <a:noFill/>
          <a:ln/>
        </p:spPr>
        <p:txBody>
          <a:bodyPr wrap="square" lIns="0" tIns="0" rIns="0" bIns="0" rtlCol="0" anchor="t"/>
          <a:lstStyle/>
          <a:p>
            <a:pPr indent="0" marL="0">
              <a:lnSpc>
                <a:spcPct val="120000"/>
              </a:lnSpc>
              <a:buNone/>
            </a:pPr>
            <a:r>
              <a:rPr lang="en-US" sz="1250" dirty="0">
                <a:solidFill>
                  <a:srgbClr val="B4BCD0"/>
                </a:solidFill>
                <a:latin typeface="Arial" pitchFamily="34" charset="0"/>
                <a:ea typeface="Arial" pitchFamily="34" charset="-122"/>
                <a:cs typeface="Arial" pitchFamily="34" charset="-120"/>
              </a:rPr>
              <a:t>A reviewer only runs when the diff touches files it cares about, so reviews stay quick.</a:t>
            </a:r>
            <a:endParaRPr lang="en-US" sz="1250" dirty="0"/>
          </a:p>
        </p:txBody>
      </p:sp>
      <p:sp>
        <p:nvSpPr>
          <p:cNvPr id="10" name="Shape 8"/>
          <p:cNvSpPr/>
          <p:nvPr/>
        </p:nvSpPr>
        <p:spPr>
          <a:xfrm>
            <a:off x="5532120" y="960120"/>
            <a:ext cx="6080760" cy="3659425"/>
          </a:xfrm>
          <a:prstGeom prst="roundRect">
            <a:avLst>
              <a:gd name="adj" fmla="val 1749"/>
            </a:avLst>
          </a:prstGeom>
          <a:solidFill>
            <a:srgbClr val="0D1117"/>
          </a:solidFill>
          <a:ln w="12700">
            <a:solidFill>
              <a:srgbClr val="33353C"/>
            </a:solidFill>
            <a:prstDash val="solid"/>
          </a:ln>
          <a:effectLst>
            <a:outerShdw sx="100000" sy="100000" kx="0" ky="0" algn="bl" rotWithShape="0" blurRad="127000" dist="50800" dir="5400000">
              <a:srgbClr val="000000">
                <a:alpha val="35000"/>
              </a:srgbClr>
            </a:outerShdw>
          </a:effectLst>
        </p:spPr>
      </p:sp>
      <p:sp>
        <p:nvSpPr>
          <p:cNvPr id="11" name="Shape 9"/>
          <p:cNvSpPr/>
          <p:nvPr/>
        </p:nvSpPr>
        <p:spPr>
          <a:xfrm>
            <a:off x="5733288" y="1161288"/>
            <a:ext cx="100584" cy="100584"/>
          </a:xfrm>
          <a:prstGeom prst="ellipse">
            <a:avLst/>
          </a:prstGeom>
          <a:solidFill>
            <a:srgbClr val="3A3D44"/>
          </a:solidFill>
          <a:ln/>
        </p:spPr>
      </p:sp>
      <p:sp>
        <p:nvSpPr>
          <p:cNvPr id="12" name="Shape 10"/>
          <p:cNvSpPr/>
          <p:nvPr/>
        </p:nvSpPr>
        <p:spPr>
          <a:xfrm>
            <a:off x="5897880" y="1161288"/>
            <a:ext cx="100584" cy="100584"/>
          </a:xfrm>
          <a:prstGeom prst="ellipse">
            <a:avLst/>
          </a:prstGeom>
          <a:solidFill>
            <a:srgbClr val="3A3D44"/>
          </a:solidFill>
          <a:ln/>
        </p:spPr>
      </p:sp>
      <p:sp>
        <p:nvSpPr>
          <p:cNvPr id="13" name="Shape 11"/>
          <p:cNvSpPr/>
          <p:nvPr/>
        </p:nvSpPr>
        <p:spPr>
          <a:xfrm>
            <a:off x="6062472" y="1161288"/>
            <a:ext cx="100584" cy="100584"/>
          </a:xfrm>
          <a:prstGeom prst="ellipse">
            <a:avLst/>
          </a:prstGeom>
          <a:solidFill>
            <a:srgbClr val="3A3D44"/>
          </a:solidFill>
          <a:ln/>
        </p:spPr>
      </p:sp>
      <p:sp>
        <p:nvSpPr>
          <p:cNvPr id="14" name="Text 12"/>
          <p:cNvSpPr/>
          <p:nvPr/>
        </p:nvSpPr>
        <p:spPr>
          <a:xfrm>
            <a:off x="6263640" y="1088136"/>
            <a:ext cx="5166360" cy="256032"/>
          </a:xfrm>
          <a:prstGeom prst="rect">
            <a:avLst/>
          </a:prstGeom>
          <a:noFill/>
          <a:ln/>
        </p:spPr>
        <p:txBody>
          <a:bodyPr wrap="square" lIns="0" tIns="0" rIns="0" bIns="0" rtlCol="0" anchor="ctr"/>
          <a:lstStyle/>
          <a:p>
            <a:pPr indent="0" marL="0">
              <a:buNone/>
            </a:pPr>
            <a:r>
              <a:rPr lang="en-US" sz="850" dirty="0">
                <a:solidFill>
                  <a:srgbClr val="8A8F98"/>
                </a:solidFill>
                <a:latin typeface="Courier New" pitchFamily="34" charset="0"/>
                <a:ea typeface="Courier New" pitchFamily="34" charset="-122"/>
                <a:cs typeface="Courier New" pitchFamily="34" charset="-120"/>
              </a:rPr>
              <a:t>github.com  ·  PR #7397</a:t>
            </a:r>
            <a:endParaRPr lang="en-US" sz="850" dirty="0"/>
          </a:p>
        </p:txBody>
      </p:sp>
      <p:pic>
        <p:nvPicPr>
          <p:cNvPr id="15" name="Image 0" descr="assets/review-1-facets.png">    </p:cNvPr>
          <p:cNvPicPr>
            <a:picLocks noChangeAspect="1"/>
          </p:cNvPicPr>
          <p:nvPr/>
        </p:nvPicPr>
        <p:blipFill>
          <a:blip r:embed="rId1"/>
          <a:srcRect l="0" r="0" t="0" b="0"/>
          <a:stretch/>
        </p:blipFill>
        <p:spPr>
          <a:xfrm>
            <a:off x="5623560" y="1399032"/>
            <a:ext cx="5897880" cy="3156505"/>
          </a:xfrm>
          <a:prstGeom prst="rect">
            <a:avLst/>
          </a:prstGeom>
        </p:spPr>
      </p:pic>
      <p:sp>
        <p:nvSpPr>
          <p:cNvPr id="16" name="Text 13"/>
          <p:cNvSpPr/>
          <p:nvPr/>
        </p:nvSpPr>
        <p:spPr>
          <a:xfrm>
            <a:off x="640080" y="6400800"/>
            <a:ext cx="4572000" cy="274320"/>
          </a:xfrm>
          <a:prstGeom prst="rect">
            <a:avLst/>
          </a:prstGeom>
          <a:noFill/>
          <a:ln/>
        </p:spPr>
        <p:txBody>
          <a:bodyPr wrap="square" lIns="0" tIns="0" rIns="0" bIns="0" rtlCol="0" anchor="ctr"/>
          <a:lstStyle/>
          <a:p>
            <a:pPr algn="l" indent="0" marL="0">
              <a:buNone/>
            </a:pPr>
            <a:r>
              <a:rPr lang="en-US" sz="900" dirty="0">
                <a:solidFill>
                  <a:srgbClr val="8A8F98"/>
                </a:solidFill>
                <a:latin typeface="Arial" pitchFamily="34" charset="0"/>
                <a:ea typeface="Arial" pitchFamily="34" charset="-122"/>
                <a:cs typeface="Arial" pitchFamily="34" charset="-120"/>
              </a:rPr>
              <a:t>Biblio  ·  Wonderly</a:t>
            </a:r>
            <a:endParaRPr lang="en-US" sz="900" dirty="0"/>
          </a:p>
        </p:txBody>
      </p:sp>
      <p:sp>
        <p:nvSpPr>
          <p:cNvPr id="17" name="Text 14"/>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8A8F98"/>
                </a:solidFill>
                <a:latin typeface="Courier New" pitchFamily="34" charset="0"/>
                <a:ea typeface="Courier New" pitchFamily="34" charset="-122"/>
                <a:cs typeface="Courier Ne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090A"/>
        </a:solidFill>
      </p:bgPr>
    </p:bg>
    <p:spTree>
      <p:nvGrpSpPr>
        <p:cNvPr id="1" name=""/>
        <p:cNvGrpSpPr/>
        <p:nvPr/>
      </p:nvGrpSpPr>
      <p:grpSpPr>
        <a:xfrm>
          <a:off x="0" y="0"/>
          <a:ext cx="0" cy="0"/>
          <a:chOff x="0" y="0"/>
          <a:chExt cx="0" cy="0"/>
        </a:xfrm>
      </p:grpSpPr>
      <p:sp>
        <p:nvSpPr>
          <p:cNvPr id="2" name="Text 0"/>
          <p:cNvSpPr/>
          <p:nvPr/>
        </p:nvSpPr>
        <p:spPr>
          <a:xfrm>
            <a:off x="640080" y="594360"/>
            <a:ext cx="7315200" cy="274320"/>
          </a:xfrm>
          <a:prstGeom prst="rect">
            <a:avLst/>
          </a:prstGeom>
          <a:noFill/>
          <a:ln/>
        </p:spPr>
        <p:txBody>
          <a:bodyPr wrap="square" lIns="0" tIns="0" rIns="0" bIns="0" rtlCol="0" anchor="ctr"/>
          <a:lstStyle/>
          <a:p>
            <a:pPr algn="l" indent="0" marL="0">
              <a:buNone/>
            </a:pPr>
            <a:r>
              <a:rPr lang="en-US" sz="1100" b="1" spc="300" kern="0" dirty="0">
                <a:solidFill>
                  <a:srgbClr val="B59AFF"/>
                </a:solidFill>
                <a:latin typeface="Arial" pitchFamily="34" charset="0"/>
                <a:ea typeface="Arial" pitchFamily="34" charset="-122"/>
                <a:cs typeface="Arial" pitchFamily="34" charset="-120"/>
              </a:rPr>
              <a:t>PROOF  ·  THE LOOP, IN WRITING</a:t>
            </a:r>
            <a:endParaRPr lang="en-US" sz="1100" dirty="0"/>
          </a:p>
        </p:txBody>
      </p:sp>
      <p:sp>
        <p:nvSpPr>
          <p:cNvPr id="3" name="Text 1"/>
          <p:cNvSpPr/>
          <p:nvPr/>
        </p:nvSpPr>
        <p:spPr>
          <a:xfrm>
            <a:off x="640080" y="960120"/>
            <a:ext cx="4572000" cy="1005840"/>
          </a:xfrm>
          <a:prstGeom prst="rect">
            <a:avLst/>
          </a:prstGeom>
          <a:noFill/>
          <a:ln/>
        </p:spPr>
        <p:txBody>
          <a:bodyPr wrap="square" lIns="0" tIns="0" rIns="0" bIns="0" rtlCol="0" anchor="t"/>
          <a:lstStyle/>
          <a:p>
            <a:pPr algn="l" indent="0" marL="0">
              <a:lnSpc>
                <a:spcPct val="100000"/>
              </a:lnSpc>
              <a:buNone/>
            </a:pPr>
            <a:r>
              <a:rPr lang="en-US" sz="2200" b="1" dirty="0">
                <a:solidFill>
                  <a:srgbClr val="F7F8F8"/>
                </a:solidFill>
                <a:latin typeface="Arial" pitchFamily="34" charset="0"/>
                <a:ea typeface="Arial" pitchFamily="34" charset="-122"/>
                <a:cs typeface="Arial" pitchFamily="34" charset="-120"/>
              </a:rPr>
              <a:t>Every review shows which</a:t>
            </a:r>
            <a:endParaRPr lang="en-US" sz="2200" dirty="0"/>
          </a:p>
          <a:p>
            <a:pPr algn="l" indent="0" marL="0">
              <a:lnSpc>
                <a:spcPct val="100000"/>
              </a:lnSpc>
              <a:buNone/>
            </a:pPr>
            <a:r>
              <a:rPr lang="en-US" sz="2200" b="1" dirty="0">
                <a:solidFill>
                  <a:srgbClr val="F7F8F8"/>
                </a:solidFill>
                <a:latin typeface="Arial" pitchFamily="34" charset="0"/>
                <a:ea typeface="Arial" pitchFamily="34" charset="-122"/>
                <a:cs typeface="Arial" pitchFamily="34" charset="-120"/>
              </a:rPr>
              <a:t>docs and memories</a:t>
            </a:r>
            <a:endParaRPr lang="en-US" sz="2200" dirty="0"/>
          </a:p>
          <a:p>
            <a:pPr algn="l" indent="0" marL="0">
              <a:lnSpc>
                <a:spcPct val="100000"/>
              </a:lnSpc>
              <a:buNone/>
            </a:pPr>
            <a:r>
              <a:rPr lang="en-US" sz="2200" b="1" dirty="0">
                <a:solidFill>
                  <a:srgbClr val="F7F8F8"/>
                </a:solidFill>
                <a:latin typeface="Arial" pitchFamily="34" charset="0"/>
                <a:ea typeface="Arial" pitchFamily="34" charset="-122"/>
                <a:cs typeface="Arial" pitchFamily="34" charset="-120"/>
              </a:rPr>
              <a:t>it actually used.</a:t>
            </a:r>
            <a:endParaRPr lang="en-US" sz="2200" dirty="0"/>
          </a:p>
        </p:txBody>
      </p:sp>
      <p:sp>
        <p:nvSpPr>
          <p:cNvPr id="4" name="Text 2"/>
          <p:cNvSpPr/>
          <p:nvPr/>
        </p:nvSpPr>
        <p:spPr>
          <a:xfrm>
            <a:off x="640080" y="2286000"/>
            <a:ext cx="4572000" cy="365760"/>
          </a:xfrm>
          <a:prstGeom prst="rect">
            <a:avLst/>
          </a:prstGeom>
          <a:noFill/>
          <a:ln/>
        </p:spPr>
        <p:txBody>
          <a:bodyPr wrap="square" lIns="0" tIns="0" rIns="0" bIns="0" rtlCol="0" anchor="ctr"/>
          <a:lstStyle/>
          <a:p>
            <a:pPr indent="0" marL="0">
              <a:buNone/>
            </a:pPr>
            <a:r>
              <a:rPr lang="en-US" sz="1250" b="1" dirty="0">
                <a:solidFill>
                  <a:srgbClr val="F7F8F8"/>
                </a:solidFill>
                <a:latin typeface="Arial" pitchFamily="34" charset="0"/>
                <a:ea typeface="Arial" pitchFamily="34" charset="-122"/>
                <a:cs typeface="Arial" pitchFamily="34" charset="-120"/>
              </a:rPr>
              <a:t>Competitors can't show you this. Here is what you get:</a:t>
            </a:r>
            <a:endParaRPr lang="en-US" sz="1250" dirty="0"/>
          </a:p>
        </p:txBody>
      </p:sp>
      <p:sp>
        <p:nvSpPr>
          <p:cNvPr id="5" name="Shape 3"/>
          <p:cNvSpPr/>
          <p:nvPr/>
        </p:nvSpPr>
        <p:spPr>
          <a:xfrm>
            <a:off x="658368" y="3026664"/>
            <a:ext cx="109728" cy="109728"/>
          </a:xfrm>
          <a:prstGeom prst="ellipse">
            <a:avLst/>
          </a:prstGeom>
          <a:solidFill>
            <a:srgbClr val="B59AFF"/>
          </a:solidFill>
          <a:ln/>
        </p:spPr>
      </p:sp>
      <p:sp>
        <p:nvSpPr>
          <p:cNvPr id="6" name="Text 4"/>
          <p:cNvSpPr/>
          <p:nvPr/>
        </p:nvSpPr>
        <p:spPr>
          <a:xfrm>
            <a:off x="914400" y="2926080"/>
            <a:ext cx="4297680" cy="777240"/>
          </a:xfrm>
          <a:prstGeom prst="rect">
            <a:avLst/>
          </a:prstGeom>
          <a:noFill/>
          <a:ln/>
        </p:spPr>
        <p:txBody>
          <a:bodyPr wrap="square" lIns="0" tIns="0" rIns="0" bIns="0" rtlCol="0" anchor="t"/>
          <a:lstStyle/>
          <a:p>
            <a:pPr indent="0" marL="0">
              <a:lnSpc>
                <a:spcPct val="118000"/>
              </a:lnSpc>
              <a:buNone/>
            </a:pPr>
            <a:r>
              <a:rPr lang="en-US" sz="1200" dirty="0">
                <a:solidFill>
                  <a:srgbClr val="B4BCD0"/>
                </a:solidFill>
                <a:latin typeface="Arial" pitchFamily="34" charset="0"/>
                <a:ea typeface="Arial" pitchFamily="34" charset="-122"/>
                <a:cs typeface="Arial" pitchFamily="34" charset="-120"/>
              </a:rPr>
              <a:t>Every file and memory the reviewer read, which partition it came from, and how it was used.</a:t>
            </a:r>
            <a:endParaRPr lang="en-US" sz="1200" dirty="0"/>
          </a:p>
        </p:txBody>
      </p:sp>
      <p:sp>
        <p:nvSpPr>
          <p:cNvPr id="7" name="Shape 5"/>
          <p:cNvSpPr/>
          <p:nvPr/>
        </p:nvSpPr>
        <p:spPr>
          <a:xfrm>
            <a:off x="658368" y="3895344"/>
            <a:ext cx="109728" cy="109728"/>
          </a:xfrm>
          <a:prstGeom prst="ellipse">
            <a:avLst/>
          </a:prstGeom>
          <a:solidFill>
            <a:srgbClr val="B59AFF"/>
          </a:solidFill>
          <a:ln/>
        </p:spPr>
      </p:sp>
      <p:sp>
        <p:nvSpPr>
          <p:cNvPr id="8" name="Text 6"/>
          <p:cNvSpPr/>
          <p:nvPr/>
        </p:nvSpPr>
        <p:spPr>
          <a:xfrm>
            <a:off x="914400" y="3794760"/>
            <a:ext cx="4297680" cy="777240"/>
          </a:xfrm>
          <a:prstGeom prst="rect">
            <a:avLst/>
          </a:prstGeom>
          <a:noFill/>
          <a:ln/>
        </p:spPr>
        <p:txBody>
          <a:bodyPr wrap="square" lIns="0" tIns="0" rIns="0" bIns="0" rtlCol="0" anchor="t"/>
          <a:lstStyle/>
          <a:p>
            <a:pPr indent="0" marL="0">
              <a:lnSpc>
                <a:spcPct val="118000"/>
              </a:lnSpc>
              <a:buNone/>
            </a:pPr>
            <a:r>
              <a:rPr lang="en-US" sz="1200" dirty="0">
                <a:solidFill>
                  <a:srgbClr val="B4BCD0"/>
                </a:solidFill>
                <a:latin typeface="Arial" pitchFamily="34" charset="0"/>
                <a:ea typeface="Arial" pitchFamily="34" charset="-122"/>
                <a:cs typeface="Arial" pitchFamily="34" charset="-120"/>
              </a:rPr>
              <a:t>Change a standard and the next review changes with it. Writing and reviewing read the same source.</a:t>
            </a:r>
            <a:endParaRPr lang="en-US" sz="1200" dirty="0"/>
          </a:p>
        </p:txBody>
      </p:sp>
      <p:sp>
        <p:nvSpPr>
          <p:cNvPr id="9" name="Shape 7"/>
          <p:cNvSpPr/>
          <p:nvPr/>
        </p:nvSpPr>
        <p:spPr>
          <a:xfrm>
            <a:off x="658368" y="4764024"/>
            <a:ext cx="109728" cy="109728"/>
          </a:xfrm>
          <a:prstGeom prst="ellipse">
            <a:avLst/>
          </a:prstGeom>
          <a:solidFill>
            <a:srgbClr val="B59AFF"/>
          </a:solidFill>
          <a:ln/>
        </p:spPr>
      </p:sp>
      <p:sp>
        <p:nvSpPr>
          <p:cNvPr id="10" name="Text 8"/>
          <p:cNvSpPr/>
          <p:nvPr/>
        </p:nvSpPr>
        <p:spPr>
          <a:xfrm>
            <a:off x="914400" y="4663440"/>
            <a:ext cx="4297680" cy="777240"/>
          </a:xfrm>
          <a:prstGeom prst="rect">
            <a:avLst/>
          </a:prstGeom>
          <a:noFill/>
          <a:ln/>
        </p:spPr>
        <p:txBody>
          <a:bodyPr wrap="square" lIns="0" tIns="0" rIns="0" bIns="0" rtlCol="0" anchor="t"/>
          <a:lstStyle/>
          <a:p>
            <a:pPr indent="0" marL="0">
              <a:lnSpc>
                <a:spcPct val="118000"/>
              </a:lnSpc>
              <a:buNone/>
            </a:pPr>
            <a:r>
              <a:rPr lang="en-US" sz="1200" dirty="0">
                <a:solidFill>
                  <a:srgbClr val="B4BCD0"/>
                </a:solidFill>
                <a:latin typeface="Arial" pitchFamily="34" charset="0"/>
                <a:ea typeface="Arial" pitchFamily="34" charset="-122"/>
                <a:cs typeface="Arial" pitchFamily="34" charset="-120"/>
              </a:rPr>
              <a:t>A written record of exactly what shaped the AI's review, ready for any audit.</a:t>
            </a:r>
            <a:endParaRPr lang="en-US" sz="1200" dirty="0"/>
          </a:p>
        </p:txBody>
      </p:sp>
      <p:sp>
        <p:nvSpPr>
          <p:cNvPr id="11" name="Shape 9"/>
          <p:cNvSpPr/>
          <p:nvPr/>
        </p:nvSpPr>
        <p:spPr>
          <a:xfrm>
            <a:off x="5532120" y="960120"/>
            <a:ext cx="6080760" cy="3335421"/>
          </a:xfrm>
          <a:prstGeom prst="roundRect">
            <a:avLst>
              <a:gd name="adj" fmla="val 1919"/>
            </a:avLst>
          </a:prstGeom>
          <a:solidFill>
            <a:srgbClr val="0D1117"/>
          </a:solidFill>
          <a:ln w="12700">
            <a:solidFill>
              <a:srgbClr val="33353C"/>
            </a:solidFill>
            <a:prstDash val="solid"/>
          </a:ln>
          <a:effectLst>
            <a:outerShdw sx="100000" sy="100000" kx="0" ky="0" algn="bl" rotWithShape="0" blurRad="127000" dist="50800" dir="5400000">
              <a:srgbClr val="000000">
                <a:alpha val="35000"/>
              </a:srgbClr>
            </a:outerShdw>
          </a:effectLst>
        </p:spPr>
      </p:sp>
      <p:sp>
        <p:nvSpPr>
          <p:cNvPr id="12" name="Shape 10"/>
          <p:cNvSpPr/>
          <p:nvPr/>
        </p:nvSpPr>
        <p:spPr>
          <a:xfrm>
            <a:off x="5733288" y="1161288"/>
            <a:ext cx="100584" cy="100584"/>
          </a:xfrm>
          <a:prstGeom prst="ellipse">
            <a:avLst/>
          </a:prstGeom>
          <a:solidFill>
            <a:srgbClr val="3A3D44"/>
          </a:solidFill>
          <a:ln/>
        </p:spPr>
      </p:sp>
      <p:sp>
        <p:nvSpPr>
          <p:cNvPr id="13" name="Shape 11"/>
          <p:cNvSpPr/>
          <p:nvPr/>
        </p:nvSpPr>
        <p:spPr>
          <a:xfrm>
            <a:off x="5897880" y="1161288"/>
            <a:ext cx="100584" cy="100584"/>
          </a:xfrm>
          <a:prstGeom prst="ellipse">
            <a:avLst/>
          </a:prstGeom>
          <a:solidFill>
            <a:srgbClr val="3A3D44"/>
          </a:solidFill>
          <a:ln/>
        </p:spPr>
      </p:sp>
      <p:sp>
        <p:nvSpPr>
          <p:cNvPr id="14" name="Shape 12"/>
          <p:cNvSpPr/>
          <p:nvPr/>
        </p:nvSpPr>
        <p:spPr>
          <a:xfrm>
            <a:off x="6062472" y="1161288"/>
            <a:ext cx="100584" cy="100584"/>
          </a:xfrm>
          <a:prstGeom prst="ellipse">
            <a:avLst/>
          </a:prstGeom>
          <a:solidFill>
            <a:srgbClr val="3A3D44"/>
          </a:solidFill>
          <a:ln/>
        </p:spPr>
      </p:sp>
      <p:sp>
        <p:nvSpPr>
          <p:cNvPr id="15" name="Text 13"/>
          <p:cNvSpPr/>
          <p:nvPr/>
        </p:nvSpPr>
        <p:spPr>
          <a:xfrm>
            <a:off x="6263640" y="1088136"/>
            <a:ext cx="5166360" cy="256032"/>
          </a:xfrm>
          <a:prstGeom prst="rect">
            <a:avLst/>
          </a:prstGeom>
          <a:noFill/>
          <a:ln/>
        </p:spPr>
        <p:txBody>
          <a:bodyPr wrap="square" lIns="0" tIns="0" rIns="0" bIns="0" rtlCol="0" anchor="ctr"/>
          <a:lstStyle/>
          <a:p>
            <a:pPr indent="0" marL="0">
              <a:buNone/>
            </a:pPr>
            <a:r>
              <a:rPr lang="en-US" sz="850" dirty="0">
                <a:solidFill>
                  <a:srgbClr val="8A8F98"/>
                </a:solidFill>
                <a:latin typeface="Courier New" pitchFamily="34" charset="0"/>
                <a:ea typeface="Courier New" pitchFamily="34" charset="-122"/>
                <a:cs typeface="Courier New" pitchFamily="34" charset="-120"/>
              </a:rPr>
              <a:t>github.com  ·  PR #7397</a:t>
            </a:r>
            <a:endParaRPr lang="en-US" sz="850" dirty="0"/>
          </a:p>
        </p:txBody>
      </p:sp>
      <p:pic>
        <p:nvPicPr>
          <p:cNvPr id="16" name="Image 0" descr="assets/review-4-sources.png">    </p:cNvPr>
          <p:cNvPicPr>
            <a:picLocks noChangeAspect="1"/>
          </p:cNvPicPr>
          <p:nvPr/>
        </p:nvPicPr>
        <p:blipFill>
          <a:blip r:embed="rId1"/>
          <a:srcRect l="0" r="0" t="0" b="0"/>
          <a:stretch/>
        </p:blipFill>
        <p:spPr>
          <a:xfrm>
            <a:off x="5623560" y="1399032"/>
            <a:ext cx="5897880" cy="2832501"/>
          </a:xfrm>
          <a:prstGeom prst="rect">
            <a:avLst/>
          </a:prstGeom>
        </p:spPr>
      </p:pic>
      <p:sp>
        <p:nvSpPr>
          <p:cNvPr id="17" name="Text 14"/>
          <p:cNvSpPr/>
          <p:nvPr/>
        </p:nvSpPr>
        <p:spPr>
          <a:xfrm>
            <a:off x="640080" y="6400800"/>
            <a:ext cx="4572000" cy="274320"/>
          </a:xfrm>
          <a:prstGeom prst="rect">
            <a:avLst/>
          </a:prstGeom>
          <a:noFill/>
          <a:ln/>
        </p:spPr>
        <p:txBody>
          <a:bodyPr wrap="square" lIns="0" tIns="0" rIns="0" bIns="0" rtlCol="0" anchor="ctr"/>
          <a:lstStyle/>
          <a:p>
            <a:pPr algn="l" indent="0" marL="0">
              <a:buNone/>
            </a:pPr>
            <a:r>
              <a:rPr lang="en-US" sz="900" dirty="0">
                <a:solidFill>
                  <a:srgbClr val="8A8F98"/>
                </a:solidFill>
                <a:latin typeface="Arial" pitchFamily="34" charset="0"/>
                <a:ea typeface="Arial" pitchFamily="34" charset="-122"/>
                <a:cs typeface="Arial" pitchFamily="34" charset="-120"/>
              </a:rPr>
              <a:t>Biblio  ·  Wonderly</a:t>
            </a:r>
            <a:endParaRPr lang="en-US" sz="900" dirty="0"/>
          </a:p>
        </p:txBody>
      </p:sp>
      <p:sp>
        <p:nvSpPr>
          <p:cNvPr id="18" name="Text 15"/>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8A8F98"/>
                </a:solidFill>
                <a:latin typeface="Courier New" pitchFamily="34" charset="0"/>
                <a:ea typeface="Courier New" pitchFamily="34" charset="-122"/>
                <a:cs typeface="Courier Ne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090A"/>
        </a:solidFill>
      </p:bgPr>
    </p:bg>
    <p:spTree>
      <p:nvGrpSpPr>
        <p:cNvPr id="1" name=""/>
        <p:cNvGrpSpPr/>
        <p:nvPr/>
      </p:nvGrpSpPr>
      <p:grpSpPr>
        <a:xfrm>
          <a:off x="0" y="0"/>
          <a:ext cx="0" cy="0"/>
          <a:chOff x="0" y="0"/>
          <a:chExt cx="0" cy="0"/>
        </a:xfrm>
      </p:grpSpPr>
      <p:sp>
        <p:nvSpPr>
          <p:cNvPr id="2" name="Text 0"/>
          <p:cNvSpPr/>
          <p:nvPr/>
        </p:nvSpPr>
        <p:spPr>
          <a:xfrm>
            <a:off x="640080" y="594360"/>
            <a:ext cx="7315200" cy="274320"/>
          </a:xfrm>
          <a:prstGeom prst="rect">
            <a:avLst/>
          </a:prstGeom>
          <a:noFill/>
          <a:ln/>
        </p:spPr>
        <p:txBody>
          <a:bodyPr wrap="square" lIns="0" tIns="0" rIns="0" bIns="0" rtlCol="0" anchor="ctr"/>
          <a:lstStyle/>
          <a:p>
            <a:pPr algn="l" indent="0" marL="0">
              <a:buNone/>
            </a:pPr>
            <a:r>
              <a:rPr lang="en-US" sz="1100" b="1" spc="300" kern="0" dirty="0">
                <a:solidFill>
                  <a:srgbClr val="B59AFF"/>
                </a:solidFill>
                <a:latin typeface="Arial" pitchFamily="34" charset="0"/>
                <a:ea typeface="Arial" pitchFamily="34" charset="-122"/>
                <a:cs typeface="Arial" pitchFamily="34" charset="-120"/>
              </a:rPr>
              <a:t>PROOF  ·  FOR ENGINEERING LEADERS</a:t>
            </a:r>
            <a:endParaRPr lang="en-US" sz="1100" dirty="0"/>
          </a:p>
        </p:txBody>
      </p:sp>
      <p:sp>
        <p:nvSpPr>
          <p:cNvPr id="3" name="Text 1"/>
          <p:cNvSpPr/>
          <p:nvPr/>
        </p:nvSpPr>
        <p:spPr>
          <a:xfrm>
            <a:off x="640080" y="960120"/>
            <a:ext cx="4572000" cy="1005840"/>
          </a:xfrm>
          <a:prstGeom prst="rect">
            <a:avLst/>
          </a:prstGeom>
          <a:noFill/>
          <a:ln/>
        </p:spPr>
        <p:txBody>
          <a:bodyPr wrap="square" lIns="0" tIns="0" rIns="0" bIns="0" rtlCol="0" anchor="t"/>
          <a:lstStyle/>
          <a:p>
            <a:pPr algn="l" indent="0" marL="0">
              <a:lnSpc>
                <a:spcPct val="100000"/>
              </a:lnSpc>
              <a:buNone/>
            </a:pPr>
            <a:r>
              <a:rPr lang="en-US" sz="2200" b="1" dirty="0">
                <a:solidFill>
                  <a:srgbClr val="F7F8F8"/>
                </a:solidFill>
                <a:latin typeface="Arial" pitchFamily="34" charset="0"/>
                <a:ea typeface="Arial" pitchFamily="34" charset="-122"/>
                <a:cs typeface="Arial" pitchFamily="34" charset="-120"/>
              </a:rPr>
              <a:t>What the review found,</a:t>
            </a:r>
            <a:endParaRPr lang="en-US" sz="2200" dirty="0"/>
          </a:p>
          <a:p>
            <a:pPr algn="l" indent="0" marL="0">
              <a:lnSpc>
                <a:spcPct val="100000"/>
              </a:lnSpc>
              <a:buNone/>
            </a:pPr>
            <a:r>
              <a:rPr lang="en-US" sz="2200" b="1" dirty="0">
                <a:solidFill>
                  <a:srgbClr val="F7F8F8"/>
                </a:solidFill>
                <a:latin typeface="Arial" pitchFamily="34" charset="0"/>
                <a:ea typeface="Arial" pitchFamily="34" charset="-122"/>
                <a:cs typeface="Arial" pitchFamily="34" charset="-120"/>
              </a:rPr>
              <a:t>and how it got there.</a:t>
            </a:r>
            <a:endParaRPr lang="en-US" sz="2200" dirty="0"/>
          </a:p>
        </p:txBody>
      </p:sp>
      <p:sp>
        <p:nvSpPr>
          <p:cNvPr id="4" name="Shape 2"/>
          <p:cNvSpPr/>
          <p:nvPr/>
        </p:nvSpPr>
        <p:spPr>
          <a:xfrm>
            <a:off x="658368" y="2752344"/>
            <a:ext cx="109728" cy="109728"/>
          </a:xfrm>
          <a:prstGeom prst="ellipse">
            <a:avLst/>
          </a:prstGeom>
          <a:solidFill>
            <a:srgbClr val="4ADE80"/>
          </a:solidFill>
          <a:ln/>
        </p:spPr>
      </p:sp>
      <p:sp>
        <p:nvSpPr>
          <p:cNvPr id="5" name="Text 3"/>
          <p:cNvSpPr/>
          <p:nvPr/>
        </p:nvSpPr>
        <p:spPr>
          <a:xfrm>
            <a:off x="914400" y="2651760"/>
            <a:ext cx="4297680" cy="777240"/>
          </a:xfrm>
          <a:prstGeom prst="rect">
            <a:avLst/>
          </a:prstGeom>
          <a:noFill/>
          <a:ln/>
        </p:spPr>
        <p:txBody>
          <a:bodyPr wrap="square" lIns="0" tIns="0" rIns="0" bIns="0" rtlCol="0" anchor="t"/>
          <a:lstStyle/>
          <a:p>
            <a:pPr indent="0" marL="0">
              <a:lnSpc>
                <a:spcPct val="120000"/>
              </a:lnSpc>
              <a:buNone/>
            </a:pPr>
            <a:r>
              <a:rPr lang="en-US" sz="1250" dirty="0">
                <a:solidFill>
                  <a:srgbClr val="B4BCD0"/>
                </a:solidFill>
                <a:latin typeface="Arial" pitchFamily="34" charset="0"/>
                <a:ea typeface="Arial" pitchFamily="34" charset="-122"/>
                <a:cs typeface="Arial" pitchFamily="34" charset="-120"/>
              </a:rPr>
              <a:t>A summary table by reviewer and severity, so you can decide ship or fix in seconds.</a:t>
            </a:r>
            <a:endParaRPr lang="en-US" sz="1250" dirty="0"/>
          </a:p>
        </p:txBody>
      </p:sp>
      <p:sp>
        <p:nvSpPr>
          <p:cNvPr id="6" name="Shape 4"/>
          <p:cNvSpPr/>
          <p:nvPr/>
        </p:nvSpPr>
        <p:spPr>
          <a:xfrm>
            <a:off x="658368" y="3666744"/>
            <a:ext cx="109728" cy="109728"/>
          </a:xfrm>
          <a:prstGeom prst="ellipse">
            <a:avLst/>
          </a:prstGeom>
          <a:solidFill>
            <a:srgbClr val="4ADE80"/>
          </a:solidFill>
          <a:ln/>
        </p:spPr>
      </p:sp>
      <p:sp>
        <p:nvSpPr>
          <p:cNvPr id="7" name="Text 5"/>
          <p:cNvSpPr/>
          <p:nvPr/>
        </p:nvSpPr>
        <p:spPr>
          <a:xfrm>
            <a:off x="914400" y="3566160"/>
            <a:ext cx="4297680" cy="777240"/>
          </a:xfrm>
          <a:prstGeom prst="rect">
            <a:avLst/>
          </a:prstGeom>
          <a:noFill/>
          <a:ln/>
        </p:spPr>
        <p:txBody>
          <a:bodyPr wrap="square" lIns="0" tIns="0" rIns="0" bIns="0" rtlCol="0" anchor="t"/>
          <a:lstStyle/>
          <a:p>
            <a:pPr indent="0" marL="0">
              <a:lnSpc>
                <a:spcPct val="120000"/>
              </a:lnSpc>
              <a:buNone/>
            </a:pPr>
            <a:r>
              <a:rPr lang="en-US" sz="1250" dirty="0">
                <a:solidFill>
                  <a:srgbClr val="B4BCD0"/>
                </a:solidFill>
                <a:latin typeface="Arial" pitchFamily="34" charset="0"/>
                <a:ea typeface="Arial" pitchFamily="34" charset="-122"/>
                <a:cs typeface="Arial" pitchFamily="34" charset="-120"/>
              </a:rPr>
              <a:t>The exact searches and memory lookups each agent ran while reviewing.</a:t>
            </a:r>
            <a:endParaRPr lang="en-US" sz="1250" dirty="0"/>
          </a:p>
        </p:txBody>
      </p:sp>
      <p:sp>
        <p:nvSpPr>
          <p:cNvPr id="8" name="Shape 6"/>
          <p:cNvSpPr/>
          <p:nvPr/>
        </p:nvSpPr>
        <p:spPr>
          <a:xfrm>
            <a:off x="658368" y="4581144"/>
            <a:ext cx="109728" cy="109728"/>
          </a:xfrm>
          <a:prstGeom prst="ellipse">
            <a:avLst/>
          </a:prstGeom>
          <a:solidFill>
            <a:srgbClr val="4ADE80"/>
          </a:solidFill>
          <a:ln/>
        </p:spPr>
      </p:sp>
      <p:sp>
        <p:nvSpPr>
          <p:cNvPr id="9" name="Text 7"/>
          <p:cNvSpPr/>
          <p:nvPr/>
        </p:nvSpPr>
        <p:spPr>
          <a:xfrm>
            <a:off x="914400" y="4480560"/>
            <a:ext cx="4297680" cy="777240"/>
          </a:xfrm>
          <a:prstGeom prst="rect">
            <a:avLst/>
          </a:prstGeom>
          <a:noFill/>
          <a:ln/>
        </p:spPr>
        <p:txBody>
          <a:bodyPr wrap="square" lIns="0" tIns="0" rIns="0" bIns="0" rtlCol="0" anchor="t"/>
          <a:lstStyle/>
          <a:p>
            <a:pPr indent="0" marL="0">
              <a:lnSpc>
                <a:spcPct val="120000"/>
              </a:lnSpc>
              <a:buNone/>
            </a:pPr>
            <a:r>
              <a:rPr lang="en-US" sz="1250" dirty="0">
                <a:solidFill>
                  <a:srgbClr val="B4BCD0"/>
                </a:solidFill>
                <a:latin typeface="Arial" pitchFamily="34" charset="0"/>
                <a:ea typeface="Arial" pitchFamily="34" charset="-122"/>
                <a:cs typeface="Arial" pitchFamily="34" charset="-120"/>
              </a:rPr>
              <a:t>It's OpenTelemetry, so doc usage, agent mix, and review trends flow into Datadog or wherever you already look.</a:t>
            </a:r>
            <a:endParaRPr lang="en-US" sz="1250" dirty="0"/>
          </a:p>
        </p:txBody>
      </p:sp>
      <p:sp>
        <p:nvSpPr>
          <p:cNvPr id="10" name="Text 8"/>
          <p:cNvSpPr/>
          <p:nvPr/>
        </p:nvSpPr>
        <p:spPr>
          <a:xfrm>
            <a:off x="640080" y="5943600"/>
            <a:ext cx="4937760" cy="274320"/>
          </a:xfrm>
          <a:prstGeom prst="rect">
            <a:avLst/>
          </a:prstGeom>
          <a:noFill/>
          <a:ln/>
        </p:spPr>
        <p:txBody>
          <a:bodyPr wrap="square" lIns="0" tIns="0" rIns="0" bIns="0" rtlCol="0" anchor="ctr"/>
          <a:lstStyle/>
          <a:p>
            <a:pPr indent="0" marL="0">
              <a:buNone/>
            </a:pPr>
            <a:r>
              <a:rPr lang="en-US" sz="950" dirty="0">
                <a:solidFill>
                  <a:srgbClr val="8A8F98"/>
                </a:solidFill>
                <a:latin typeface="Courier New" pitchFamily="34" charset="0"/>
                <a:ea typeface="Courier New" pitchFamily="34" charset="-122"/>
                <a:cs typeface="Courier New" pitchFamily="34" charset="-120"/>
              </a:rPr>
              <a:t>More views: knowledge base, shared memory, dashboards</a:t>
            </a:r>
            <a:endParaRPr lang="en-US" sz="950" dirty="0"/>
          </a:p>
        </p:txBody>
      </p:sp>
      <p:sp>
        <p:nvSpPr>
          <p:cNvPr id="11" name="Shape 9"/>
          <p:cNvSpPr/>
          <p:nvPr/>
        </p:nvSpPr>
        <p:spPr>
          <a:xfrm>
            <a:off x="5532120" y="960120"/>
            <a:ext cx="6080760" cy="3335421"/>
          </a:xfrm>
          <a:prstGeom prst="roundRect">
            <a:avLst>
              <a:gd name="adj" fmla="val 1919"/>
            </a:avLst>
          </a:prstGeom>
          <a:solidFill>
            <a:srgbClr val="0D1117"/>
          </a:solidFill>
          <a:ln w="12700">
            <a:solidFill>
              <a:srgbClr val="33353C"/>
            </a:solidFill>
            <a:prstDash val="solid"/>
          </a:ln>
          <a:effectLst>
            <a:outerShdw sx="100000" sy="100000" kx="0" ky="0" algn="bl" rotWithShape="0" blurRad="127000" dist="50800" dir="5400000">
              <a:srgbClr val="000000">
                <a:alpha val="35000"/>
              </a:srgbClr>
            </a:outerShdw>
          </a:effectLst>
        </p:spPr>
      </p:sp>
      <p:sp>
        <p:nvSpPr>
          <p:cNvPr id="12" name="Shape 10"/>
          <p:cNvSpPr/>
          <p:nvPr/>
        </p:nvSpPr>
        <p:spPr>
          <a:xfrm>
            <a:off x="5733288" y="1161288"/>
            <a:ext cx="100584" cy="100584"/>
          </a:xfrm>
          <a:prstGeom prst="ellipse">
            <a:avLst/>
          </a:prstGeom>
          <a:solidFill>
            <a:srgbClr val="3A3D44"/>
          </a:solidFill>
          <a:ln/>
        </p:spPr>
      </p:sp>
      <p:sp>
        <p:nvSpPr>
          <p:cNvPr id="13" name="Shape 11"/>
          <p:cNvSpPr/>
          <p:nvPr/>
        </p:nvSpPr>
        <p:spPr>
          <a:xfrm>
            <a:off x="5897880" y="1161288"/>
            <a:ext cx="100584" cy="100584"/>
          </a:xfrm>
          <a:prstGeom prst="ellipse">
            <a:avLst/>
          </a:prstGeom>
          <a:solidFill>
            <a:srgbClr val="3A3D44"/>
          </a:solidFill>
          <a:ln/>
        </p:spPr>
      </p:sp>
      <p:sp>
        <p:nvSpPr>
          <p:cNvPr id="14" name="Shape 12"/>
          <p:cNvSpPr/>
          <p:nvPr/>
        </p:nvSpPr>
        <p:spPr>
          <a:xfrm>
            <a:off x="6062472" y="1161288"/>
            <a:ext cx="100584" cy="100584"/>
          </a:xfrm>
          <a:prstGeom prst="ellipse">
            <a:avLst/>
          </a:prstGeom>
          <a:solidFill>
            <a:srgbClr val="3A3D44"/>
          </a:solidFill>
          <a:ln/>
        </p:spPr>
      </p:sp>
      <p:sp>
        <p:nvSpPr>
          <p:cNvPr id="15" name="Text 13"/>
          <p:cNvSpPr/>
          <p:nvPr/>
        </p:nvSpPr>
        <p:spPr>
          <a:xfrm>
            <a:off x="6263640" y="1088136"/>
            <a:ext cx="5166360" cy="256032"/>
          </a:xfrm>
          <a:prstGeom prst="rect">
            <a:avLst/>
          </a:prstGeom>
          <a:noFill/>
          <a:ln/>
        </p:spPr>
        <p:txBody>
          <a:bodyPr wrap="square" lIns="0" tIns="0" rIns="0" bIns="0" rtlCol="0" anchor="ctr"/>
          <a:lstStyle/>
          <a:p>
            <a:pPr indent="0" marL="0">
              <a:buNone/>
            </a:pPr>
            <a:r>
              <a:rPr lang="en-US" sz="850" dirty="0">
                <a:solidFill>
                  <a:srgbClr val="8A8F98"/>
                </a:solidFill>
                <a:latin typeface="Courier New" pitchFamily="34" charset="0"/>
                <a:ea typeface="Courier New" pitchFamily="34" charset="-122"/>
                <a:cs typeface="Courier New" pitchFamily="34" charset="-120"/>
              </a:rPr>
              <a:t>github.com  ·  PR #7397</a:t>
            </a:r>
            <a:endParaRPr lang="en-US" sz="850" dirty="0"/>
          </a:p>
        </p:txBody>
      </p:sp>
      <p:pic>
        <p:nvPicPr>
          <p:cNvPr id="16" name="Image 0" descr="assets/review-3-summary-tools.png">    </p:cNvPr>
          <p:cNvPicPr>
            <a:picLocks noChangeAspect="1"/>
          </p:cNvPicPr>
          <p:nvPr/>
        </p:nvPicPr>
        <p:blipFill>
          <a:blip r:embed="rId1"/>
          <a:srcRect l="0" r="0" t="0" b="0"/>
          <a:stretch/>
        </p:blipFill>
        <p:spPr>
          <a:xfrm>
            <a:off x="5623560" y="1399032"/>
            <a:ext cx="5897880" cy="2832501"/>
          </a:xfrm>
          <a:prstGeom prst="rect">
            <a:avLst/>
          </a:prstGeom>
        </p:spPr>
      </p:pic>
      <p:sp>
        <p:nvSpPr>
          <p:cNvPr id="17" name="Text 14"/>
          <p:cNvSpPr/>
          <p:nvPr/>
        </p:nvSpPr>
        <p:spPr>
          <a:xfrm>
            <a:off x="640080" y="6400800"/>
            <a:ext cx="4572000" cy="274320"/>
          </a:xfrm>
          <a:prstGeom prst="rect">
            <a:avLst/>
          </a:prstGeom>
          <a:noFill/>
          <a:ln/>
        </p:spPr>
        <p:txBody>
          <a:bodyPr wrap="square" lIns="0" tIns="0" rIns="0" bIns="0" rtlCol="0" anchor="ctr"/>
          <a:lstStyle/>
          <a:p>
            <a:pPr algn="l" indent="0" marL="0">
              <a:buNone/>
            </a:pPr>
            <a:r>
              <a:rPr lang="en-US" sz="900" dirty="0">
                <a:solidFill>
                  <a:srgbClr val="8A8F98"/>
                </a:solidFill>
                <a:latin typeface="Arial" pitchFamily="34" charset="0"/>
                <a:ea typeface="Arial" pitchFamily="34" charset="-122"/>
                <a:cs typeface="Arial" pitchFamily="34" charset="-120"/>
              </a:rPr>
              <a:t>Biblio  ·  Wonderly</a:t>
            </a:r>
            <a:endParaRPr lang="en-US" sz="900" dirty="0"/>
          </a:p>
        </p:txBody>
      </p:sp>
      <p:sp>
        <p:nvSpPr>
          <p:cNvPr id="18" name="Text 15"/>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8A8F98"/>
                </a:solidFill>
                <a:latin typeface="Courier New" pitchFamily="34" charset="0"/>
                <a:ea typeface="Courier New" pitchFamily="34" charset="-122"/>
                <a:cs typeface="Courier New" pitchFamily="34" charset="-120"/>
              </a:rPr>
              <a:t>09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090A"/>
        </a:solidFill>
      </p:bgPr>
    </p:bg>
    <p:spTree>
      <p:nvGrpSpPr>
        <p:cNvPr id="1" name=""/>
        <p:cNvGrpSpPr/>
        <p:nvPr/>
      </p:nvGrpSpPr>
      <p:grpSpPr>
        <a:xfrm>
          <a:off x="0" y="0"/>
          <a:ext cx="0" cy="0"/>
          <a:chOff x="0" y="0"/>
          <a:chExt cx="0" cy="0"/>
        </a:xfrm>
      </p:grpSpPr>
      <p:sp>
        <p:nvSpPr>
          <p:cNvPr id="2" name="Text 0"/>
          <p:cNvSpPr/>
          <p:nvPr/>
        </p:nvSpPr>
        <p:spPr>
          <a:xfrm>
            <a:off x="640080" y="594360"/>
            <a:ext cx="7315200" cy="274320"/>
          </a:xfrm>
          <a:prstGeom prst="rect">
            <a:avLst/>
          </a:prstGeom>
          <a:noFill/>
          <a:ln/>
        </p:spPr>
        <p:txBody>
          <a:bodyPr wrap="square" lIns="0" tIns="0" rIns="0" bIns="0" rtlCol="0" anchor="ctr"/>
          <a:lstStyle/>
          <a:p>
            <a:pPr algn="l" indent="0" marL="0">
              <a:buNone/>
            </a:pPr>
            <a:r>
              <a:rPr lang="en-US" sz="1100" b="1" spc="300" kern="0" dirty="0">
                <a:solidFill>
                  <a:srgbClr val="B59AFF"/>
                </a:solidFill>
                <a:latin typeface="Arial" pitchFamily="34" charset="0"/>
                <a:ea typeface="Arial" pitchFamily="34" charset="-122"/>
                <a:cs typeface="Arial" pitchFamily="34" charset="-120"/>
              </a:rPr>
              <a:t>MARKET</a:t>
            </a:r>
            <a:endParaRPr lang="en-US" sz="1100" dirty="0"/>
          </a:p>
        </p:txBody>
      </p:sp>
      <p:sp>
        <p:nvSpPr>
          <p:cNvPr id="3" name="Text 1"/>
          <p:cNvSpPr/>
          <p:nvPr/>
        </p:nvSpPr>
        <p:spPr>
          <a:xfrm>
            <a:off x="640080" y="960120"/>
            <a:ext cx="10972800" cy="1005840"/>
          </a:xfrm>
          <a:prstGeom prst="rect">
            <a:avLst/>
          </a:prstGeom>
          <a:noFill/>
          <a:ln/>
        </p:spPr>
        <p:txBody>
          <a:bodyPr wrap="square" lIns="0" tIns="0" rIns="0" bIns="0" rtlCol="0" anchor="t"/>
          <a:lstStyle/>
          <a:p>
            <a:pPr algn="l" indent="0" marL="0">
              <a:lnSpc>
                <a:spcPct val="100000"/>
              </a:lnSpc>
              <a:buNone/>
            </a:pPr>
            <a:r>
              <a:rPr lang="en-US" sz="2800" b="1" dirty="0">
                <a:solidFill>
                  <a:srgbClr val="F7F8F8"/>
                </a:solidFill>
                <a:latin typeface="Arial" pitchFamily="34" charset="0"/>
                <a:ea typeface="Arial" pitchFamily="34" charset="-122"/>
                <a:cs typeface="Arial" pitchFamily="34" charset="-120"/>
              </a:rPr>
              <a:t>A new layer in a market that's</a:t>
            </a:r>
            <a:endParaRPr lang="en-US" sz="2800" dirty="0"/>
          </a:p>
          <a:p>
            <a:pPr algn="l" indent="0" marL="0">
              <a:lnSpc>
                <a:spcPct val="100000"/>
              </a:lnSpc>
              <a:buNone/>
            </a:pPr>
            <a:r>
              <a:rPr lang="en-US" sz="2800" b="1" dirty="0">
                <a:solidFill>
                  <a:srgbClr val="F7F8F8"/>
                </a:solidFill>
                <a:latin typeface="Arial" pitchFamily="34" charset="0"/>
                <a:ea typeface="Arial" pitchFamily="34" charset="-122"/>
                <a:cs typeface="Arial" pitchFamily="34" charset="-120"/>
              </a:rPr>
              <a:t>already big and growing fast.</a:t>
            </a:r>
            <a:endParaRPr lang="en-US" sz="2800" dirty="0"/>
          </a:p>
        </p:txBody>
      </p:sp>
      <p:sp>
        <p:nvSpPr>
          <p:cNvPr id="4" name="Shape 2"/>
          <p:cNvSpPr/>
          <p:nvPr/>
        </p:nvSpPr>
        <p:spPr>
          <a:xfrm>
            <a:off x="1280160" y="2057400"/>
            <a:ext cx="4206240" cy="4206240"/>
          </a:xfrm>
          <a:prstGeom prst="ellipse">
            <a:avLst/>
          </a:prstGeom>
          <a:solidFill>
            <a:srgbClr val="13142A"/>
          </a:solidFill>
          <a:ln w="15875">
            <a:solidFill>
              <a:srgbClr val="3A3B6A"/>
            </a:solidFill>
            <a:prstDash val="solid"/>
          </a:ln>
        </p:spPr>
      </p:sp>
      <p:sp>
        <p:nvSpPr>
          <p:cNvPr id="5" name="Shape 3"/>
          <p:cNvSpPr/>
          <p:nvPr/>
        </p:nvSpPr>
        <p:spPr>
          <a:xfrm>
            <a:off x="1965960" y="2743200"/>
            <a:ext cx="2834640" cy="2834640"/>
          </a:xfrm>
          <a:prstGeom prst="ellipse">
            <a:avLst/>
          </a:prstGeom>
          <a:solidFill>
            <a:srgbClr val="191A3D"/>
          </a:solidFill>
          <a:ln w="15875">
            <a:solidFill>
              <a:srgbClr val="4B4C82"/>
            </a:solidFill>
            <a:prstDash val="solid"/>
          </a:ln>
        </p:spPr>
      </p:sp>
      <p:sp>
        <p:nvSpPr>
          <p:cNvPr id="6" name="Shape 4"/>
          <p:cNvSpPr/>
          <p:nvPr/>
        </p:nvSpPr>
        <p:spPr>
          <a:xfrm>
            <a:off x="2606040" y="3383280"/>
            <a:ext cx="1554480" cy="1554480"/>
          </a:xfrm>
          <a:prstGeom prst="ellipse">
            <a:avLst/>
          </a:prstGeom>
          <a:solidFill>
            <a:srgbClr val="23245A"/>
          </a:solidFill>
          <a:ln w="15875">
            <a:solidFill>
              <a:srgbClr val="7C7FFF"/>
            </a:solidFill>
            <a:prstDash val="solid"/>
          </a:ln>
        </p:spPr>
      </p:sp>
      <p:sp>
        <p:nvSpPr>
          <p:cNvPr id="7" name="Text 5"/>
          <p:cNvSpPr/>
          <p:nvPr/>
        </p:nvSpPr>
        <p:spPr>
          <a:xfrm>
            <a:off x="2606040" y="3886200"/>
            <a:ext cx="1554480" cy="274320"/>
          </a:xfrm>
          <a:prstGeom prst="rect">
            <a:avLst/>
          </a:prstGeom>
          <a:noFill/>
          <a:ln/>
        </p:spPr>
        <p:txBody>
          <a:bodyPr wrap="square" lIns="0" tIns="0" rIns="0" bIns="0" rtlCol="0" anchor="ctr"/>
          <a:lstStyle/>
          <a:p>
            <a:pPr algn="ctr" indent="0" marL="0">
              <a:buNone/>
            </a:pPr>
            <a:r>
              <a:rPr lang="en-US" sz="1200" b="1" dirty="0">
                <a:solidFill>
                  <a:srgbClr val="F7F8F8"/>
                </a:solidFill>
                <a:latin typeface="Arial" pitchFamily="34" charset="0"/>
                <a:ea typeface="Arial" pitchFamily="34" charset="-122"/>
                <a:cs typeface="Arial" pitchFamily="34" charset="-120"/>
              </a:rPr>
              <a:t>SOM</a:t>
            </a:r>
            <a:endParaRPr lang="en-US" sz="1200" dirty="0"/>
          </a:p>
        </p:txBody>
      </p:sp>
      <p:sp>
        <p:nvSpPr>
          <p:cNvPr id="8" name="Text 6"/>
          <p:cNvSpPr/>
          <p:nvPr/>
        </p:nvSpPr>
        <p:spPr>
          <a:xfrm>
            <a:off x="2606040" y="4160520"/>
            <a:ext cx="1554480" cy="274320"/>
          </a:xfrm>
          <a:prstGeom prst="rect">
            <a:avLst/>
          </a:prstGeom>
          <a:noFill/>
          <a:ln/>
        </p:spPr>
        <p:txBody>
          <a:bodyPr wrap="square" lIns="0" tIns="0" rIns="0" bIns="0" rtlCol="0" anchor="ctr"/>
          <a:lstStyle/>
          <a:p>
            <a:pPr algn="ctr" indent="0" marL="0">
              <a:buNone/>
            </a:pPr>
            <a:r>
              <a:rPr lang="en-US" sz="1100" dirty="0">
                <a:solidFill>
                  <a:srgbClr val="B59AFF"/>
                </a:solidFill>
                <a:latin typeface="Arial" pitchFamily="34" charset="0"/>
                <a:ea typeface="Arial" pitchFamily="34" charset="-122"/>
                <a:cs typeface="Arial" pitchFamily="34" charset="-120"/>
              </a:rPr>
              <a:t>$15M</a:t>
            </a:r>
            <a:endParaRPr lang="en-US" sz="1100" dirty="0"/>
          </a:p>
        </p:txBody>
      </p:sp>
      <p:sp>
        <p:nvSpPr>
          <p:cNvPr id="9" name="Text 7"/>
          <p:cNvSpPr/>
          <p:nvPr/>
        </p:nvSpPr>
        <p:spPr>
          <a:xfrm>
            <a:off x="2011680" y="2788920"/>
            <a:ext cx="2743200" cy="274320"/>
          </a:xfrm>
          <a:prstGeom prst="rect">
            <a:avLst/>
          </a:prstGeom>
          <a:noFill/>
          <a:ln/>
        </p:spPr>
        <p:txBody>
          <a:bodyPr wrap="square" lIns="0" tIns="0" rIns="0" bIns="0" rtlCol="0" anchor="ctr"/>
          <a:lstStyle/>
          <a:p>
            <a:pPr algn="ctr" indent="0" marL="0">
              <a:buNone/>
            </a:pPr>
            <a:r>
              <a:rPr lang="en-US" sz="1100" b="1" dirty="0">
                <a:solidFill>
                  <a:srgbClr val="B4BCD0"/>
                </a:solidFill>
                <a:latin typeface="Arial" pitchFamily="34" charset="0"/>
                <a:ea typeface="Arial" pitchFamily="34" charset="-122"/>
                <a:cs typeface="Arial" pitchFamily="34" charset="-120"/>
              </a:rPr>
              <a:t>SAM  ·  $1.8B</a:t>
            </a:r>
            <a:endParaRPr lang="en-US" sz="1100" dirty="0"/>
          </a:p>
        </p:txBody>
      </p:sp>
      <p:sp>
        <p:nvSpPr>
          <p:cNvPr id="10" name="Text 8"/>
          <p:cNvSpPr/>
          <p:nvPr/>
        </p:nvSpPr>
        <p:spPr>
          <a:xfrm>
            <a:off x="1280160" y="2130552"/>
            <a:ext cx="4206240" cy="274320"/>
          </a:xfrm>
          <a:prstGeom prst="rect">
            <a:avLst/>
          </a:prstGeom>
          <a:noFill/>
          <a:ln/>
        </p:spPr>
        <p:txBody>
          <a:bodyPr wrap="square" lIns="0" tIns="0" rIns="0" bIns="0" rtlCol="0" anchor="ctr"/>
          <a:lstStyle/>
          <a:p>
            <a:pPr algn="ctr" indent="0" marL="0">
              <a:buNone/>
            </a:pPr>
            <a:r>
              <a:rPr lang="en-US" sz="1100" b="1" dirty="0">
                <a:solidFill>
                  <a:srgbClr val="8A8F98"/>
                </a:solidFill>
                <a:latin typeface="Arial" pitchFamily="34" charset="0"/>
                <a:ea typeface="Arial" pitchFamily="34" charset="-122"/>
                <a:cs typeface="Arial" pitchFamily="34" charset="-120"/>
              </a:rPr>
              <a:t>TAM  ·  $24B</a:t>
            </a:r>
            <a:endParaRPr lang="en-US" sz="1100" dirty="0"/>
          </a:p>
        </p:txBody>
      </p:sp>
      <p:sp>
        <p:nvSpPr>
          <p:cNvPr id="11" name="Shape 9"/>
          <p:cNvSpPr/>
          <p:nvPr/>
        </p:nvSpPr>
        <p:spPr>
          <a:xfrm>
            <a:off x="6858000" y="2286000"/>
            <a:ext cx="4709160" cy="1207008"/>
          </a:xfrm>
          <a:prstGeom prst="roundRect">
            <a:avLst>
              <a:gd name="adj" fmla="val 6818"/>
            </a:avLst>
          </a:prstGeom>
          <a:solidFill>
            <a:srgbClr val="131418"/>
          </a:solidFill>
          <a:ln w="12700">
            <a:solidFill>
              <a:srgbClr val="26282E"/>
            </a:solidFill>
            <a:prstDash val="solid"/>
          </a:ln>
          <a:effectLst>
            <a:outerShdw sx="100000" sy="100000" kx="0" ky="0" algn="bl" rotWithShape="0" blurRad="127000" dist="50800" dir="5400000">
              <a:srgbClr val="000000">
                <a:alpha val="35000"/>
              </a:srgbClr>
            </a:outerShdw>
          </a:effectLst>
        </p:spPr>
      </p:sp>
      <p:sp>
        <p:nvSpPr>
          <p:cNvPr id="12" name="Shape 10"/>
          <p:cNvSpPr/>
          <p:nvPr/>
        </p:nvSpPr>
        <p:spPr>
          <a:xfrm>
            <a:off x="6858000" y="2286000"/>
            <a:ext cx="54864" cy="1207008"/>
          </a:xfrm>
          <a:prstGeom prst="rect">
            <a:avLst/>
          </a:prstGeom>
          <a:solidFill>
            <a:srgbClr val="3A3B6A"/>
          </a:solidFill>
          <a:ln/>
        </p:spPr>
      </p:sp>
      <p:sp>
        <p:nvSpPr>
          <p:cNvPr id="13" name="Text 11"/>
          <p:cNvSpPr/>
          <p:nvPr/>
        </p:nvSpPr>
        <p:spPr>
          <a:xfrm>
            <a:off x="7132320" y="2450592"/>
            <a:ext cx="4160520" cy="365760"/>
          </a:xfrm>
          <a:prstGeom prst="rect">
            <a:avLst/>
          </a:prstGeom>
          <a:noFill/>
          <a:ln/>
        </p:spPr>
        <p:txBody>
          <a:bodyPr wrap="square" lIns="0" tIns="0" rIns="0" bIns="0" rtlCol="0" anchor="ctr"/>
          <a:lstStyle/>
          <a:p>
            <a:pPr indent="0" marL="0">
              <a:buNone/>
            </a:pPr>
            <a:r>
              <a:rPr lang="en-US" sz="1500" b="1" dirty="0">
                <a:solidFill>
                  <a:srgbClr val="F7F8F8"/>
                </a:solidFill>
                <a:latin typeface="Arial" pitchFamily="34" charset="0"/>
                <a:ea typeface="Arial" pitchFamily="34" charset="-122"/>
                <a:cs typeface="Arial" pitchFamily="34" charset="-120"/>
              </a:rPr>
              <a:t>TAM — $24B by 2030</a:t>
            </a:r>
            <a:endParaRPr lang="en-US" sz="1500" dirty="0"/>
          </a:p>
        </p:txBody>
      </p:sp>
      <p:sp>
        <p:nvSpPr>
          <p:cNvPr id="14" name="Text 12"/>
          <p:cNvSpPr/>
          <p:nvPr/>
        </p:nvSpPr>
        <p:spPr>
          <a:xfrm>
            <a:off x="7132320" y="2834640"/>
            <a:ext cx="4160520" cy="594360"/>
          </a:xfrm>
          <a:prstGeom prst="rect">
            <a:avLst/>
          </a:prstGeom>
          <a:noFill/>
          <a:ln/>
        </p:spPr>
        <p:txBody>
          <a:bodyPr wrap="square" lIns="0" tIns="0" rIns="0" bIns="0" rtlCol="0" anchor="ctr"/>
          <a:lstStyle/>
          <a:p>
            <a:pPr indent="0" marL="0">
              <a:lnSpc>
                <a:spcPct val="115000"/>
              </a:lnSpc>
              <a:buNone/>
            </a:pPr>
            <a:r>
              <a:rPr lang="en-US" sz="1100" dirty="0">
                <a:solidFill>
                  <a:srgbClr val="8A8F98"/>
                </a:solidFill>
                <a:latin typeface="Arial" pitchFamily="34" charset="0"/>
                <a:ea typeface="Arial" pitchFamily="34" charset="-122"/>
                <a:cs typeface="Arial" pitchFamily="34" charset="-120"/>
              </a:rPr>
              <a:t>The AI code tools market, growing about 27% a year from $7.4B in 2025.</a:t>
            </a:r>
            <a:endParaRPr lang="en-US" sz="1100" dirty="0"/>
          </a:p>
        </p:txBody>
      </p:sp>
      <p:sp>
        <p:nvSpPr>
          <p:cNvPr id="15" name="Shape 13"/>
          <p:cNvSpPr/>
          <p:nvPr/>
        </p:nvSpPr>
        <p:spPr>
          <a:xfrm>
            <a:off x="6858000" y="3657600"/>
            <a:ext cx="4709160" cy="1207008"/>
          </a:xfrm>
          <a:prstGeom prst="roundRect">
            <a:avLst>
              <a:gd name="adj" fmla="val 6818"/>
            </a:avLst>
          </a:prstGeom>
          <a:solidFill>
            <a:srgbClr val="131418"/>
          </a:solidFill>
          <a:ln w="12700">
            <a:solidFill>
              <a:srgbClr val="26282E"/>
            </a:solidFill>
            <a:prstDash val="solid"/>
          </a:ln>
          <a:effectLst>
            <a:outerShdw sx="100000" sy="100000" kx="0" ky="0" algn="bl" rotWithShape="0" blurRad="127000" dist="50800" dir="5400000">
              <a:srgbClr val="000000">
                <a:alpha val="35000"/>
              </a:srgbClr>
            </a:outerShdw>
          </a:effectLst>
        </p:spPr>
      </p:sp>
      <p:sp>
        <p:nvSpPr>
          <p:cNvPr id="16" name="Shape 14"/>
          <p:cNvSpPr/>
          <p:nvPr/>
        </p:nvSpPr>
        <p:spPr>
          <a:xfrm>
            <a:off x="6858000" y="3657600"/>
            <a:ext cx="54864" cy="1207008"/>
          </a:xfrm>
          <a:prstGeom prst="rect">
            <a:avLst/>
          </a:prstGeom>
          <a:solidFill>
            <a:srgbClr val="B4BCD0"/>
          </a:solidFill>
          <a:ln/>
        </p:spPr>
      </p:sp>
      <p:sp>
        <p:nvSpPr>
          <p:cNvPr id="17" name="Text 15"/>
          <p:cNvSpPr/>
          <p:nvPr/>
        </p:nvSpPr>
        <p:spPr>
          <a:xfrm>
            <a:off x="7132320" y="3822192"/>
            <a:ext cx="4160520" cy="365760"/>
          </a:xfrm>
          <a:prstGeom prst="rect">
            <a:avLst/>
          </a:prstGeom>
          <a:noFill/>
          <a:ln/>
        </p:spPr>
        <p:txBody>
          <a:bodyPr wrap="square" lIns="0" tIns="0" rIns="0" bIns="0" rtlCol="0" anchor="ctr"/>
          <a:lstStyle/>
          <a:p>
            <a:pPr indent="0" marL="0">
              <a:buNone/>
            </a:pPr>
            <a:r>
              <a:rPr lang="en-US" sz="1500" b="1" dirty="0">
                <a:solidFill>
                  <a:srgbClr val="F7F8F8"/>
                </a:solidFill>
                <a:latin typeface="Arial" pitchFamily="34" charset="0"/>
                <a:ea typeface="Arial" pitchFamily="34" charset="-122"/>
                <a:cs typeface="Arial" pitchFamily="34" charset="-120"/>
              </a:rPr>
              <a:t>SAM — $1.8B</a:t>
            </a:r>
            <a:endParaRPr lang="en-US" sz="1500" dirty="0"/>
          </a:p>
        </p:txBody>
      </p:sp>
      <p:sp>
        <p:nvSpPr>
          <p:cNvPr id="18" name="Text 16"/>
          <p:cNvSpPr/>
          <p:nvPr/>
        </p:nvSpPr>
        <p:spPr>
          <a:xfrm>
            <a:off x="7132320" y="4206240"/>
            <a:ext cx="4160520" cy="594360"/>
          </a:xfrm>
          <a:prstGeom prst="rect">
            <a:avLst/>
          </a:prstGeom>
          <a:noFill/>
          <a:ln/>
        </p:spPr>
        <p:txBody>
          <a:bodyPr wrap="square" lIns="0" tIns="0" rIns="0" bIns="0" rtlCol="0" anchor="ctr"/>
          <a:lstStyle/>
          <a:p>
            <a:pPr indent="0" marL="0">
              <a:lnSpc>
                <a:spcPct val="115000"/>
              </a:lnSpc>
              <a:buNone/>
            </a:pPr>
            <a:r>
              <a:rPr lang="en-US" sz="1100" dirty="0">
                <a:solidFill>
                  <a:srgbClr val="8A8F98"/>
                </a:solidFill>
                <a:latin typeface="Arial" pitchFamily="34" charset="0"/>
                <a:ea typeface="Arial" pitchFamily="34" charset="-122"/>
                <a:cs typeface="Arial" pitchFamily="34" charset="-120"/>
              </a:rPr>
              <a:t>Code quality and context tools for mid-to-large engineering orgs. Roughly 5M developers in our target accounts at about $360 a seat per year.</a:t>
            </a:r>
            <a:endParaRPr lang="en-US" sz="1100" dirty="0"/>
          </a:p>
        </p:txBody>
      </p:sp>
      <p:sp>
        <p:nvSpPr>
          <p:cNvPr id="19" name="Shape 17"/>
          <p:cNvSpPr/>
          <p:nvPr/>
        </p:nvSpPr>
        <p:spPr>
          <a:xfrm>
            <a:off x="6858000" y="5029200"/>
            <a:ext cx="4709160" cy="1207008"/>
          </a:xfrm>
          <a:prstGeom prst="roundRect">
            <a:avLst>
              <a:gd name="adj" fmla="val 6818"/>
            </a:avLst>
          </a:prstGeom>
          <a:solidFill>
            <a:srgbClr val="131418"/>
          </a:solidFill>
          <a:ln w="12700">
            <a:solidFill>
              <a:srgbClr val="26282E"/>
            </a:solidFill>
            <a:prstDash val="solid"/>
          </a:ln>
          <a:effectLst>
            <a:outerShdw sx="100000" sy="100000" kx="0" ky="0" algn="bl" rotWithShape="0" blurRad="127000" dist="50800" dir="5400000">
              <a:srgbClr val="000000">
                <a:alpha val="35000"/>
              </a:srgbClr>
            </a:outerShdw>
          </a:effectLst>
        </p:spPr>
      </p:sp>
      <p:sp>
        <p:nvSpPr>
          <p:cNvPr id="20" name="Shape 18"/>
          <p:cNvSpPr/>
          <p:nvPr/>
        </p:nvSpPr>
        <p:spPr>
          <a:xfrm>
            <a:off x="6858000" y="5029200"/>
            <a:ext cx="54864" cy="1207008"/>
          </a:xfrm>
          <a:prstGeom prst="rect">
            <a:avLst/>
          </a:prstGeom>
          <a:solidFill>
            <a:srgbClr val="B59AFF"/>
          </a:solidFill>
          <a:ln/>
        </p:spPr>
      </p:sp>
      <p:sp>
        <p:nvSpPr>
          <p:cNvPr id="21" name="Text 19"/>
          <p:cNvSpPr/>
          <p:nvPr/>
        </p:nvSpPr>
        <p:spPr>
          <a:xfrm>
            <a:off x="7132320" y="5193792"/>
            <a:ext cx="4160520" cy="365760"/>
          </a:xfrm>
          <a:prstGeom prst="rect">
            <a:avLst/>
          </a:prstGeom>
          <a:noFill/>
          <a:ln/>
        </p:spPr>
        <p:txBody>
          <a:bodyPr wrap="square" lIns="0" tIns="0" rIns="0" bIns="0" rtlCol="0" anchor="ctr"/>
          <a:lstStyle/>
          <a:p>
            <a:pPr indent="0" marL="0">
              <a:buNone/>
            </a:pPr>
            <a:r>
              <a:rPr lang="en-US" sz="1500" b="1" dirty="0">
                <a:solidFill>
                  <a:srgbClr val="F7F8F8"/>
                </a:solidFill>
                <a:latin typeface="Arial" pitchFamily="34" charset="0"/>
                <a:ea typeface="Arial" pitchFamily="34" charset="-122"/>
                <a:cs typeface="Arial" pitchFamily="34" charset="-120"/>
              </a:rPr>
              <a:t>SOM — $15M (3-yr)</a:t>
            </a:r>
            <a:endParaRPr lang="en-US" sz="1500" dirty="0"/>
          </a:p>
        </p:txBody>
      </p:sp>
      <p:sp>
        <p:nvSpPr>
          <p:cNvPr id="22" name="Text 20"/>
          <p:cNvSpPr/>
          <p:nvPr/>
        </p:nvSpPr>
        <p:spPr>
          <a:xfrm>
            <a:off x="7132320" y="5577840"/>
            <a:ext cx="4160520" cy="594360"/>
          </a:xfrm>
          <a:prstGeom prst="rect">
            <a:avLst/>
          </a:prstGeom>
          <a:noFill/>
          <a:ln/>
        </p:spPr>
        <p:txBody>
          <a:bodyPr wrap="square" lIns="0" tIns="0" rIns="0" bIns="0" rtlCol="0" anchor="ctr"/>
          <a:lstStyle/>
          <a:p>
            <a:pPr indent="0" marL="0">
              <a:lnSpc>
                <a:spcPct val="115000"/>
              </a:lnSpc>
              <a:buNone/>
            </a:pPr>
            <a:r>
              <a:rPr lang="en-US" sz="1100" dirty="0">
                <a:solidFill>
                  <a:srgbClr val="8A8F98"/>
                </a:solidFill>
                <a:latin typeface="Arial" pitchFamily="34" charset="0"/>
                <a:ea typeface="Arial" pitchFamily="34" charset="-122"/>
                <a:cs typeface="Arial" pitchFamily="34" charset="-120"/>
              </a:rPr>
              <a:t>Design partners at AI-forward orgs of 50 to 500 engineers, expanding seat by seat.</a:t>
            </a:r>
            <a:endParaRPr lang="en-US" sz="1100" dirty="0"/>
          </a:p>
        </p:txBody>
      </p:sp>
      <p:sp>
        <p:nvSpPr>
          <p:cNvPr id="23" name="Text 21"/>
          <p:cNvSpPr/>
          <p:nvPr/>
        </p:nvSpPr>
        <p:spPr>
          <a:xfrm>
            <a:off x="640080" y="6400800"/>
            <a:ext cx="8229600" cy="274320"/>
          </a:xfrm>
          <a:prstGeom prst="rect">
            <a:avLst/>
          </a:prstGeom>
          <a:noFill/>
          <a:ln/>
        </p:spPr>
        <p:txBody>
          <a:bodyPr wrap="square" lIns="0" tIns="0" rIns="0" bIns="0" rtlCol="0" anchor="ctr"/>
          <a:lstStyle/>
          <a:p>
            <a:pPr indent="0" marL="0">
              <a:buNone/>
            </a:pPr>
            <a:r>
              <a:rPr lang="en-US" sz="850" dirty="0">
                <a:solidFill>
                  <a:srgbClr val="8A8F98"/>
                </a:solidFill>
                <a:latin typeface="Arial" pitchFamily="34" charset="0"/>
                <a:ea typeface="Arial" pitchFamily="34" charset="-122"/>
                <a:cs typeface="Arial" pitchFamily="34" charset="-120"/>
              </a:rPr>
              <a:t>Sources: Mordor Intelligence; Research &amp; Markets; developer population estimates, 2025–26.</a:t>
            </a:r>
            <a:endParaRPr lang="en-US" sz="850" dirty="0"/>
          </a:p>
        </p:txBody>
      </p:sp>
      <p:sp>
        <p:nvSpPr>
          <p:cNvPr id="24" name="Text 22"/>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8A8F98"/>
                </a:solidFill>
                <a:latin typeface="Courier New" pitchFamily="34" charset="0"/>
                <a:ea typeface="Courier New" pitchFamily="34" charset="-122"/>
                <a:cs typeface="Courier New"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090A"/>
        </a:solidFill>
      </p:bgPr>
    </p:bg>
    <p:spTree>
      <p:nvGrpSpPr>
        <p:cNvPr id="1" name=""/>
        <p:cNvGrpSpPr/>
        <p:nvPr/>
      </p:nvGrpSpPr>
      <p:grpSpPr>
        <a:xfrm>
          <a:off x="0" y="0"/>
          <a:ext cx="0" cy="0"/>
          <a:chOff x="0" y="0"/>
          <a:chExt cx="0" cy="0"/>
        </a:xfrm>
      </p:grpSpPr>
      <p:sp>
        <p:nvSpPr>
          <p:cNvPr id="2" name="Text 0"/>
          <p:cNvSpPr/>
          <p:nvPr/>
        </p:nvSpPr>
        <p:spPr>
          <a:xfrm>
            <a:off x="640080" y="594360"/>
            <a:ext cx="7315200" cy="274320"/>
          </a:xfrm>
          <a:prstGeom prst="rect">
            <a:avLst/>
          </a:prstGeom>
          <a:noFill/>
          <a:ln/>
        </p:spPr>
        <p:txBody>
          <a:bodyPr wrap="square" lIns="0" tIns="0" rIns="0" bIns="0" rtlCol="0" anchor="ctr"/>
          <a:lstStyle/>
          <a:p>
            <a:pPr algn="l" indent="0" marL="0">
              <a:buNone/>
            </a:pPr>
            <a:r>
              <a:rPr lang="en-US" sz="1100" b="1" spc="300" kern="0" dirty="0">
                <a:solidFill>
                  <a:srgbClr val="B59AFF"/>
                </a:solidFill>
                <a:latin typeface="Arial" pitchFamily="34" charset="0"/>
                <a:ea typeface="Arial" pitchFamily="34" charset="-122"/>
                <a:cs typeface="Arial" pitchFamily="34" charset="-120"/>
              </a:rPr>
              <a:t>COMPETITION</a:t>
            </a:r>
            <a:endParaRPr lang="en-US" sz="1100" dirty="0"/>
          </a:p>
        </p:txBody>
      </p:sp>
      <p:sp>
        <p:nvSpPr>
          <p:cNvPr id="3" name="Text 1"/>
          <p:cNvSpPr/>
          <p:nvPr/>
        </p:nvSpPr>
        <p:spPr>
          <a:xfrm>
            <a:off x="640080" y="960120"/>
            <a:ext cx="10972800" cy="1005840"/>
          </a:xfrm>
          <a:prstGeom prst="rect">
            <a:avLst/>
          </a:prstGeom>
          <a:noFill/>
          <a:ln/>
        </p:spPr>
        <p:txBody>
          <a:bodyPr wrap="square" lIns="0" tIns="0" rIns="0" bIns="0" rtlCol="0" anchor="t"/>
          <a:lstStyle/>
          <a:p>
            <a:pPr algn="l" indent="0" marL="0">
              <a:lnSpc>
                <a:spcPct val="100000"/>
              </a:lnSpc>
              <a:buNone/>
            </a:pPr>
            <a:r>
              <a:rPr lang="en-US" sz="2800" b="1" dirty="0">
                <a:solidFill>
                  <a:srgbClr val="F7F8F8"/>
                </a:solidFill>
                <a:latin typeface="Arial" pitchFamily="34" charset="0"/>
                <a:ea typeface="Arial" pitchFamily="34" charset="-122"/>
                <a:cs typeface="Arial" pitchFamily="34" charset="-120"/>
              </a:rPr>
              <a:t>Each competitor covers one piece.</a:t>
            </a:r>
            <a:endParaRPr lang="en-US" sz="2800" dirty="0"/>
          </a:p>
          <a:p>
            <a:pPr algn="l" indent="0" marL="0">
              <a:lnSpc>
                <a:spcPct val="100000"/>
              </a:lnSpc>
              <a:buNone/>
            </a:pPr>
            <a:r>
              <a:rPr lang="en-US" sz="2800" b="1" dirty="0">
                <a:solidFill>
                  <a:srgbClr val="F7F8F8"/>
                </a:solidFill>
                <a:latin typeface="Arial" pitchFamily="34" charset="0"/>
                <a:ea typeface="Arial" pitchFamily="34" charset="-122"/>
                <a:cs typeface="Arial" pitchFamily="34" charset="-120"/>
              </a:rPr>
              <a:t>Biblio connects them.</a:t>
            </a:r>
            <a:endParaRPr lang="en-US" sz="2800" dirty="0"/>
          </a:p>
        </p:txBody>
      </p:sp>
      <p:sp>
        <p:nvSpPr>
          <p:cNvPr id="4" name="Text 2"/>
          <p:cNvSpPr/>
          <p:nvPr/>
        </p:nvSpPr>
        <p:spPr>
          <a:xfrm>
            <a:off x="777240" y="2514600"/>
            <a:ext cx="3657600" cy="502920"/>
          </a:xfrm>
          <a:prstGeom prst="rect">
            <a:avLst/>
          </a:prstGeom>
          <a:noFill/>
          <a:ln/>
        </p:spPr>
        <p:txBody>
          <a:bodyPr wrap="square" lIns="0" tIns="0" rIns="0" bIns="0" rtlCol="0" anchor="ctr"/>
          <a:lstStyle/>
          <a:p>
            <a:pPr algn="l" indent="0" marL="0">
              <a:lnSpc>
                <a:spcPct val="90000"/>
              </a:lnSpc>
              <a:buNone/>
            </a:pPr>
            <a:endParaRPr lang="en-US" sz="950" dirty="0"/>
          </a:p>
        </p:txBody>
      </p:sp>
      <p:sp>
        <p:nvSpPr>
          <p:cNvPr id="5" name="Text 3"/>
          <p:cNvSpPr/>
          <p:nvPr/>
        </p:nvSpPr>
        <p:spPr>
          <a:xfrm>
            <a:off x="4434840" y="2514600"/>
            <a:ext cx="1426464" cy="502920"/>
          </a:xfrm>
          <a:prstGeom prst="rect">
            <a:avLst/>
          </a:prstGeom>
          <a:noFill/>
          <a:ln/>
        </p:spPr>
        <p:txBody>
          <a:bodyPr wrap="square" lIns="0" tIns="0" rIns="0" bIns="0" rtlCol="0" anchor="ctr"/>
          <a:lstStyle/>
          <a:p>
            <a:pPr algn="ctr" indent="0" marL="0">
              <a:lnSpc>
                <a:spcPct val="90000"/>
              </a:lnSpc>
              <a:buNone/>
            </a:pPr>
            <a:r>
              <a:rPr lang="en-US" sz="950" b="1" dirty="0">
                <a:solidFill>
                  <a:srgbClr val="8A8F98"/>
                </a:solidFill>
                <a:latin typeface="Arial" pitchFamily="34" charset="0"/>
                <a:ea typeface="Arial" pitchFamily="34" charset="-122"/>
                <a:cs typeface="Arial" pitchFamily="34" charset="-120"/>
              </a:rPr>
              <a:t>Curated docs</a:t>
            </a:r>
            <a:endParaRPr lang="en-US" sz="950" dirty="0"/>
          </a:p>
        </p:txBody>
      </p:sp>
      <p:sp>
        <p:nvSpPr>
          <p:cNvPr id="6" name="Text 4"/>
          <p:cNvSpPr/>
          <p:nvPr/>
        </p:nvSpPr>
        <p:spPr>
          <a:xfrm>
            <a:off x="5861304" y="2514600"/>
            <a:ext cx="1426464" cy="502920"/>
          </a:xfrm>
          <a:prstGeom prst="rect">
            <a:avLst/>
          </a:prstGeom>
          <a:noFill/>
          <a:ln/>
        </p:spPr>
        <p:txBody>
          <a:bodyPr wrap="square" lIns="0" tIns="0" rIns="0" bIns="0" rtlCol="0" anchor="ctr"/>
          <a:lstStyle/>
          <a:p>
            <a:pPr algn="ctr" indent="0" marL="0">
              <a:lnSpc>
                <a:spcPct val="90000"/>
              </a:lnSpc>
              <a:buNone/>
            </a:pPr>
            <a:r>
              <a:rPr lang="en-US" sz="950" b="1" dirty="0">
                <a:solidFill>
                  <a:srgbClr val="8A8F98"/>
                </a:solidFill>
                <a:latin typeface="Arial" pitchFamily="34" charset="0"/>
                <a:ea typeface="Arial" pitchFamily="34" charset="-122"/>
                <a:cs typeface="Arial" pitchFamily="34" charset="-120"/>
              </a:rPr>
              <a:t>Cross-agent retrieval</a:t>
            </a:r>
            <a:endParaRPr lang="en-US" sz="950" dirty="0"/>
          </a:p>
        </p:txBody>
      </p:sp>
      <p:sp>
        <p:nvSpPr>
          <p:cNvPr id="7" name="Text 5"/>
          <p:cNvSpPr/>
          <p:nvPr/>
        </p:nvSpPr>
        <p:spPr>
          <a:xfrm>
            <a:off x="7287768" y="2514600"/>
            <a:ext cx="1426464" cy="502920"/>
          </a:xfrm>
          <a:prstGeom prst="rect">
            <a:avLst/>
          </a:prstGeom>
          <a:noFill/>
          <a:ln/>
        </p:spPr>
        <p:txBody>
          <a:bodyPr wrap="square" lIns="0" tIns="0" rIns="0" bIns="0" rtlCol="0" anchor="ctr"/>
          <a:lstStyle/>
          <a:p>
            <a:pPr algn="ctr" indent="0" marL="0">
              <a:lnSpc>
                <a:spcPct val="90000"/>
              </a:lnSpc>
              <a:buNone/>
            </a:pPr>
            <a:r>
              <a:rPr lang="en-US" sz="950" b="1" dirty="0">
                <a:solidFill>
                  <a:srgbClr val="8A8F98"/>
                </a:solidFill>
                <a:latin typeface="Arial" pitchFamily="34" charset="0"/>
                <a:ea typeface="Arial" pitchFamily="34" charset="-122"/>
                <a:cs typeface="Arial" pitchFamily="34" charset="-120"/>
              </a:rPr>
              <a:t>Shared memory</a:t>
            </a:r>
            <a:endParaRPr lang="en-US" sz="950" dirty="0"/>
          </a:p>
        </p:txBody>
      </p:sp>
      <p:sp>
        <p:nvSpPr>
          <p:cNvPr id="8" name="Text 6"/>
          <p:cNvSpPr/>
          <p:nvPr/>
        </p:nvSpPr>
        <p:spPr>
          <a:xfrm>
            <a:off x="8714232" y="2514600"/>
            <a:ext cx="1426464" cy="502920"/>
          </a:xfrm>
          <a:prstGeom prst="rect">
            <a:avLst/>
          </a:prstGeom>
          <a:noFill/>
          <a:ln/>
        </p:spPr>
        <p:txBody>
          <a:bodyPr wrap="square" lIns="0" tIns="0" rIns="0" bIns="0" rtlCol="0" anchor="ctr"/>
          <a:lstStyle/>
          <a:p>
            <a:pPr algn="ctr" indent="0" marL="0">
              <a:lnSpc>
                <a:spcPct val="90000"/>
              </a:lnSpc>
              <a:buNone/>
            </a:pPr>
            <a:r>
              <a:rPr lang="en-US" sz="950" b="1" dirty="0">
                <a:solidFill>
                  <a:srgbClr val="8A8F98"/>
                </a:solidFill>
                <a:latin typeface="Arial" pitchFamily="34" charset="0"/>
                <a:ea typeface="Arial" pitchFamily="34" charset="-122"/>
                <a:cs typeface="Arial" pitchFamily="34" charset="-120"/>
              </a:rPr>
              <a:t>Code review</a:t>
            </a:r>
            <a:endParaRPr lang="en-US" sz="950" dirty="0"/>
          </a:p>
        </p:txBody>
      </p:sp>
      <p:sp>
        <p:nvSpPr>
          <p:cNvPr id="9" name="Text 7"/>
          <p:cNvSpPr/>
          <p:nvPr/>
        </p:nvSpPr>
        <p:spPr>
          <a:xfrm>
            <a:off x="10140696" y="2514600"/>
            <a:ext cx="1426464" cy="502920"/>
          </a:xfrm>
          <a:prstGeom prst="rect">
            <a:avLst/>
          </a:prstGeom>
          <a:noFill/>
          <a:ln/>
        </p:spPr>
        <p:txBody>
          <a:bodyPr wrap="square" lIns="0" tIns="0" rIns="0" bIns="0" rtlCol="0" anchor="ctr"/>
          <a:lstStyle/>
          <a:p>
            <a:pPr algn="ctr" indent="0" marL="0">
              <a:lnSpc>
                <a:spcPct val="90000"/>
              </a:lnSpc>
              <a:buNone/>
            </a:pPr>
            <a:r>
              <a:rPr lang="en-US" sz="950" b="1" dirty="0">
                <a:solidFill>
                  <a:srgbClr val="8A8F98"/>
                </a:solidFill>
                <a:latin typeface="Arial" pitchFamily="34" charset="0"/>
                <a:ea typeface="Arial" pitchFamily="34" charset="-122"/>
                <a:cs typeface="Arial" pitchFamily="34" charset="-120"/>
              </a:rPr>
              <a:t>Leader telemetry</a:t>
            </a:r>
            <a:endParaRPr lang="en-US" sz="950" dirty="0"/>
          </a:p>
        </p:txBody>
      </p:sp>
      <p:sp>
        <p:nvSpPr>
          <p:cNvPr id="10" name="Text 8"/>
          <p:cNvSpPr/>
          <p:nvPr/>
        </p:nvSpPr>
        <p:spPr>
          <a:xfrm>
            <a:off x="777240" y="3017520"/>
            <a:ext cx="3657600" cy="502920"/>
          </a:xfrm>
          <a:prstGeom prst="rect">
            <a:avLst/>
          </a:prstGeom>
          <a:noFill/>
          <a:ln/>
        </p:spPr>
        <p:txBody>
          <a:bodyPr wrap="square" lIns="0" tIns="0" rIns="0" bIns="0" rtlCol="0" anchor="ctr"/>
          <a:lstStyle/>
          <a:p>
            <a:pPr algn="l" indent="0" marL="0">
              <a:lnSpc>
                <a:spcPct val="90000"/>
              </a:lnSpc>
              <a:buNone/>
            </a:pPr>
            <a:r>
              <a:rPr lang="en-US" sz="1100" dirty="0">
                <a:solidFill>
                  <a:srgbClr val="B4BCD0"/>
                </a:solidFill>
                <a:latin typeface="Arial" pitchFamily="34" charset="0"/>
                <a:ea typeface="Arial" pitchFamily="34" charset="-122"/>
                <a:cs typeface="Arial" pitchFamily="34" charset="-120"/>
              </a:rPr>
              <a:t>Review tools (CodeRabbit, Greptile)</a:t>
            </a:r>
            <a:endParaRPr lang="en-US" sz="1100" dirty="0"/>
          </a:p>
        </p:txBody>
      </p:sp>
      <p:sp>
        <p:nvSpPr>
          <p:cNvPr id="11" name="Text 9"/>
          <p:cNvSpPr/>
          <p:nvPr/>
        </p:nvSpPr>
        <p:spPr>
          <a:xfrm>
            <a:off x="4434840" y="3017520"/>
            <a:ext cx="1426464" cy="502920"/>
          </a:xfrm>
          <a:prstGeom prst="rect">
            <a:avLst/>
          </a:prstGeom>
          <a:noFill/>
          <a:ln/>
        </p:spPr>
        <p:txBody>
          <a:bodyPr wrap="square" lIns="0" tIns="0" rIns="0" bIns="0" rtlCol="0" anchor="ctr"/>
          <a:lstStyle/>
          <a:p>
            <a:pPr algn="ctr" indent="0" marL="0">
              <a:lnSpc>
                <a:spcPct val="90000"/>
              </a:lnSpc>
              <a:buNone/>
            </a:pPr>
            <a:r>
              <a:rPr lang="en-US" sz="1100" dirty="0">
                <a:solidFill>
                  <a:srgbClr val="5A5E68"/>
                </a:solidFill>
                <a:latin typeface="Arial" pitchFamily="34" charset="0"/>
                <a:ea typeface="Arial" pitchFamily="34" charset="-122"/>
                <a:cs typeface="Arial" pitchFamily="34" charset="-120"/>
              </a:rPr>
              <a:t>–</a:t>
            </a:r>
            <a:endParaRPr lang="en-US" sz="1100" dirty="0"/>
          </a:p>
        </p:txBody>
      </p:sp>
      <p:sp>
        <p:nvSpPr>
          <p:cNvPr id="12" name="Text 10"/>
          <p:cNvSpPr/>
          <p:nvPr/>
        </p:nvSpPr>
        <p:spPr>
          <a:xfrm>
            <a:off x="5861304" y="3017520"/>
            <a:ext cx="1426464" cy="502920"/>
          </a:xfrm>
          <a:prstGeom prst="rect">
            <a:avLst/>
          </a:prstGeom>
          <a:noFill/>
          <a:ln/>
        </p:spPr>
        <p:txBody>
          <a:bodyPr wrap="square" lIns="0" tIns="0" rIns="0" bIns="0" rtlCol="0" anchor="ctr"/>
          <a:lstStyle/>
          <a:p>
            <a:pPr algn="ctr" indent="0" marL="0">
              <a:lnSpc>
                <a:spcPct val="90000"/>
              </a:lnSpc>
              <a:buNone/>
            </a:pPr>
            <a:r>
              <a:rPr lang="en-US" sz="1100" dirty="0">
                <a:solidFill>
                  <a:srgbClr val="5A5E68"/>
                </a:solidFill>
                <a:latin typeface="Arial" pitchFamily="34" charset="0"/>
                <a:ea typeface="Arial" pitchFamily="34" charset="-122"/>
                <a:cs typeface="Arial" pitchFamily="34" charset="-120"/>
              </a:rPr>
              <a:t>–</a:t>
            </a:r>
            <a:endParaRPr lang="en-US" sz="1100" dirty="0"/>
          </a:p>
        </p:txBody>
      </p:sp>
      <p:sp>
        <p:nvSpPr>
          <p:cNvPr id="13" name="Text 11"/>
          <p:cNvSpPr/>
          <p:nvPr/>
        </p:nvSpPr>
        <p:spPr>
          <a:xfrm>
            <a:off x="7287768" y="3017520"/>
            <a:ext cx="1426464" cy="502920"/>
          </a:xfrm>
          <a:prstGeom prst="rect">
            <a:avLst/>
          </a:prstGeom>
          <a:noFill/>
          <a:ln/>
        </p:spPr>
        <p:txBody>
          <a:bodyPr wrap="square" lIns="0" tIns="0" rIns="0" bIns="0" rtlCol="0" anchor="ctr"/>
          <a:lstStyle/>
          <a:p>
            <a:pPr algn="ctr" indent="0" marL="0">
              <a:lnSpc>
                <a:spcPct val="90000"/>
              </a:lnSpc>
              <a:buNone/>
            </a:pPr>
            <a:r>
              <a:rPr lang="en-US" sz="950" dirty="0">
                <a:solidFill>
                  <a:srgbClr val="8A8F98"/>
                </a:solidFill>
                <a:latin typeface="Arial" pitchFamily="34" charset="0"/>
                <a:ea typeface="Arial" pitchFamily="34" charset="-122"/>
                <a:cs typeface="Arial" pitchFamily="34" charset="-120"/>
              </a:rPr>
              <a:t>review only</a:t>
            </a:r>
            <a:endParaRPr lang="en-US" sz="950" dirty="0"/>
          </a:p>
        </p:txBody>
      </p:sp>
      <p:sp>
        <p:nvSpPr>
          <p:cNvPr id="14" name="Text 12"/>
          <p:cNvSpPr/>
          <p:nvPr/>
        </p:nvSpPr>
        <p:spPr>
          <a:xfrm>
            <a:off x="8714232" y="3017520"/>
            <a:ext cx="1426464" cy="502920"/>
          </a:xfrm>
          <a:prstGeom prst="rect">
            <a:avLst/>
          </a:prstGeom>
          <a:noFill/>
          <a:ln/>
        </p:spPr>
        <p:txBody>
          <a:bodyPr wrap="square" lIns="0" tIns="0" rIns="0" bIns="0" rtlCol="0" anchor="ctr"/>
          <a:lstStyle/>
          <a:p>
            <a:pPr algn="ctr" indent="0" marL="0">
              <a:lnSpc>
                <a:spcPct val="90000"/>
              </a:lnSpc>
              <a:buNone/>
            </a:pPr>
            <a:r>
              <a:rPr lang="en-US" sz="1300" b="1" dirty="0">
                <a:solidFill>
                  <a:srgbClr val="4ADE80"/>
                </a:solidFill>
                <a:latin typeface="Arial" pitchFamily="34" charset="0"/>
                <a:ea typeface="Arial" pitchFamily="34" charset="-122"/>
                <a:cs typeface="Arial" pitchFamily="34" charset="-120"/>
              </a:rPr>
              <a:t>✓</a:t>
            </a:r>
            <a:endParaRPr lang="en-US" sz="1300" dirty="0"/>
          </a:p>
        </p:txBody>
      </p:sp>
      <p:sp>
        <p:nvSpPr>
          <p:cNvPr id="15" name="Text 13"/>
          <p:cNvSpPr/>
          <p:nvPr/>
        </p:nvSpPr>
        <p:spPr>
          <a:xfrm>
            <a:off x="10140696" y="3017520"/>
            <a:ext cx="1426464" cy="502920"/>
          </a:xfrm>
          <a:prstGeom prst="rect">
            <a:avLst/>
          </a:prstGeom>
          <a:noFill/>
          <a:ln/>
        </p:spPr>
        <p:txBody>
          <a:bodyPr wrap="square" lIns="0" tIns="0" rIns="0" bIns="0" rtlCol="0" anchor="ctr"/>
          <a:lstStyle/>
          <a:p>
            <a:pPr algn="ctr" indent="0" marL="0">
              <a:lnSpc>
                <a:spcPct val="90000"/>
              </a:lnSpc>
              <a:buNone/>
            </a:pPr>
            <a:r>
              <a:rPr lang="en-US" sz="1100" dirty="0">
                <a:solidFill>
                  <a:srgbClr val="5A5E68"/>
                </a:solidFill>
                <a:latin typeface="Arial" pitchFamily="34" charset="0"/>
                <a:ea typeface="Arial" pitchFamily="34" charset="-122"/>
                <a:cs typeface="Arial" pitchFamily="34" charset="-120"/>
              </a:rPr>
              <a:t>–</a:t>
            </a:r>
            <a:endParaRPr lang="en-US" sz="1100" dirty="0"/>
          </a:p>
        </p:txBody>
      </p:sp>
      <p:sp>
        <p:nvSpPr>
          <p:cNvPr id="16" name="Shape 14"/>
          <p:cNvSpPr/>
          <p:nvPr/>
        </p:nvSpPr>
        <p:spPr>
          <a:xfrm>
            <a:off x="640080" y="3520440"/>
            <a:ext cx="10927080" cy="0"/>
          </a:xfrm>
          <a:prstGeom prst="line">
            <a:avLst/>
          </a:prstGeom>
          <a:noFill/>
          <a:ln w="9525">
            <a:solidFill>
              <a:srgbClr val="26282E"/>
            </a:solidFill>
            <a:prstDash val="solid"/>
          </a:ln>
        </p:spPr>
      </p:sp>
      <p:sp>
        <p:nvSpPr>
          <p:cNvPr id="17" name="Text 15"/>
          <p:cNvSpPr/>
          <p:nvPr/>
        </p:nvSpPr>
        <p:spPr>
          <a:xfrm>
            <a:off x="777240" y="3520440"/>
            <a:ext cx="3657600" cy="502920"/>
          </a:xfrm>
          <a:prstGeom prst="rect">
            <a:avLst/>
          </a:prstGeom>
          <a:noFill/>
          <a:ln/>
        </p:spPr>
        <p:txBody>
          <a:bodyPr wrap="square" lIns="0" tIns="0" rIns="0" bIns="0" rtlCol="0" anchor="ctr"/>
          <a:lstStyle/>
          <a:p>
            <a:pPr algn="l" indent="0" marL="0">
              <a:lnSpc>
                <a:spcPct val="90000"/>
              </a:lnSpc>
              <a:buNone/>
            </a:pPr>
            <a:r>
              <a:rPr lang="en-US" sz="1100" dirty="0">
                <a:solidFill>
                  <a:srgbClr val="B4BCD0"/>
                </a:solidFill>
                <a:latin typeface="Arial" pitchFamily="34" charset="0"/>
                <a:ea typeface="Arial" pitchFamily="34" charset="-122"/>
                <a:cs typeface="Arial" pitchFamily="34" charset="-120"/>
              </a:rPr>
              <a:t>Context tools (Unblocked, Context7)</a:t>
            </a:r>
            <a:endParaRPr lang="en-US" sz="1100" dirty="0"/>
          </a:p>
        </p:txBody>
      </p:sp>
      <p:sp>
        <p:nvSpPr>
          <p:cNvPr id="18" name="Text 16"/>
          <p:cNvSpPr/>
          <p:nvPr/>
        </p:nvSpPr>
        <p:spPr>
          <a:xfrm>
            <a:off x="4434840" y="3520440"/>
            <a:ext cx="1426464" cy="502920"/>
          </a:xfrm>
          <a:prstGeom prst="rect">
            <a:avLst/>
          </a:prstGeom>
          <a:noFill/>
          <a:ln/>
        </p:spPr>
        <p:txBody>
          <a:bodyPr wrap="square" lIns="0" tIns="0" rIns="0" bIns="0" rtlCol="0" anchor="ctr"/>
          <a:lstStyle/>
          <a:p>
            <a:pPr algn="ctr" indent="0" marL="0">
              <a:lnSpc>
                <a:spcPct val="90000"/>
              </a:lnSpc>
              <a:buNone/>
            </a:pPr>
            <a:r>
              <a:rPr lang="en-US" sz="950" dirty="0">
                <a:solidFill>
                  <a:srgbClr val="8A8F98"/>
                </a:solidFill>
                <a:latin typeface="Arial" pitchFamily="34" charset="0"/>
                <a:ea typeface="Arial" pitchFamily="34" charset="-122"/>
                <a:cs typeface="Arial" pitchFamily="34" charset="-120"/>
              </a:rPr>
              <a:t>aggregates</a:t>
            </a:r>
            <a:endParaRPr lang="en-US" sz="950" dirty="0"/>
          </a:p>
        </p:txBody>
      </p:sp>
      <p:sp>
        <p:nvSpPr>
          <p:cNvPr id="19" name="Text 17"/>
          <p:cNvSpPr/>
          <p:nvPr/>
        </p:nvSpPr>
        <p:spPr>
          <a:xfrm>
            <a:off x="5861304" y="3520440"/>
            <a:ext cx="1426464" cy="502920"/>
          </a:xfrm>
          <a:prstGeom prst="rect">
            <a:avLst/>
          </a:prstGeom>
          <a:noFill/>
          <a:ln/>
        </p:spPr>
        <p:txBody>
          <a:bodyPr wrap="square" lIns="0" tIns="0" rIns="0" bIns="0" rtlCol="0" anchor="ctr"/>
          <a:lstStyle/>
          <a:p>
            <a:pPr algn="ctr" indent="0" marL="0">
              <a:lnSpc>
                <a:spcPct val="90000"/>
              </a:lnSpc>
              <a:buNone/>
            </a:pPr>
            <a:r>
              <a:rPr lang="en-US" sz="1300" b="1" dirty="0">
                <a:solidFill>
                  <a:srgbClr val="4ADE80"/>
                </a:solidFill>
                <a:latin typeface="Arial" pitchFamily="34" charset="0"/>
                <a:ea typeface="Arial" pitchFamily="34" charset="-122"/>
                <a:cs typeface="Arial" pitchFamily="34" charset="-120"/>
              </a:rPr>
              <a:t>✓</a:t>
            </a:r>
            <a:endParaRPr lang="en-US" sz="1300" dirty="0"/>
          </a:p>
        </p:txBody>
      </p:sp>
      <p:sp>
        <p:nvSpPr>
          <p:cNvPr id="20" name="Text 18"/>
          <p:cNvSpPr/>
          <p:nvPr/>
        </p:nvSpPr>
        <p:spPr>
          <a:xfrm>
            <a:off x="7287768" y="3520440"/>
            <a:ext cx="1426464" cy="502920"/>
          </a:xfrm>
          <a:prstGeom prst="rect">
            <a:avLst/>
          </a:prstGeom>
          <a:noFill/>
          <a:ln/>
        </p:spPr>
        <p:txBody>
          <a:bodyPr wrap="square" lIns="0" tIns="0" rIns="0" bIns="0" rtlCol="0" anchor="ctr"/>
          <a:lstStyle/>
          <a:p>
            <a:pPr algn="ctr" indent="0" marL="0">
              <a:lnSpc>
                <a:spcPct val="90000"/>
              </a:lnSpc>
              <a:buNone/>
            </a:pPr>
            <a:r>
              <a:rPr lang="en-US" sz="1100" dirty="0">
                <a:solidFill>
                  <a:srgbClr val="5A5E68"/>
                </a:solidFill>
                <a:latin typeface="Arial" pitchFamily="34" charset="0"/>
                <a:ea typeface="Arial" pitchFamily="34" charset="-122"/>
                <a:cs typeface="Arial" pitchFamily="34" charset="-120"/>
              </a:rPr>
              <a:t>–</a:t>
            </a:r>
            <a:endParaRPr lang="en-US" sz="1100" dirty="0"/>
          </a:p>
        </p:txBody>
      </p:sp>
      <p:sp>
        <p:nvSpPr>
          <p:cNvPr id="21" name="Text 19"/>
          <p:cNvSpPr/>
          <p:nvPr/>
        </p:nvSpPr>
        <p:spPr>
          <a:xfrm>
            <a:off x="8714232" y="3520440"/>
            <a:ext cx="1426464" cy="502920"/>
          </a:xfrm>
          <a:prstGeom prst="rect">
            <a:avLst/>
          </a:prstGeom>
          <a:noFill/>
          <a:ln/>
        </p:spPr>
        <p:txBody>
          <a:bodyPr wrap="square" lIns="0" tIns="0" rIns="0" bIns="0" rtlCol="0" anchor="ctr"/>
          <a:lstStyle/>
          <a:p>
            <a:pPr algn="ctr" indent="0" marL="0">
              <a:lnSpc>
                <a:spcPct val="90000"/>
              </a:lnSpc>
              <a:buNone/>
            </a:pPr>
            <a:r>
              <a:rPr lang="en-US" sz="950" dirty="0">
                <a:solidFill>
                  <a:srgbClr val="8A8F98"/>
                </a:solidFill>
                <a:latin typeface="Arial" pitchFamily="34" charset="0"/>
                <a:ea typeface="Arial" pitchFamily="34" charset="-122"/>
                <a:cs typeface="Arial" pitchFamily="34" charset="-120"/>
              </a:rPr>
              <a:t>some</a:t>
            </a:r>
            <a:endParaRPr lang="en-US" sz="950" dirty="0"/>
          </a:p>
        </p:txBody>
      </p:sp>
      <p:sp>
        <p:nvSpPr>
          <p:cNvPr id="22" name="Text 20"/>
          <p:cNvSpPr/>
          <p:nvPr/>
        </p:nvSpPr>
        <p:spPr>
          <a:xfrm>
            <a:off x="10140696" y="3520440"/>
            <a:ext cx="1426464" cy="502920"/>
          </a:xfrm>
          <a:prstGeom prst="rect">
            <a:avLst/>
          </a:prstGeom>
          <a:noFill/>
          <a:ln/>
        </p:spPr>
        <p:txBody>
          <a:bodyPr wrap="square" lIns="0" tIns="0" rIns="0" bIns="0" rtlCol="0" anchor="ctr"/>
          <a:lstStyle/>
          <a:p>
            <a:pPr algn="ctr" indent="0" marL="0">
              <a:lnSpc>
                <a:spcPct val="90000"/>
              </a:lnSpc>
              <a:buNone/>
            </a:pPr>
            <a:r>
              <a:rPr lang="en-US" sz="1100" dirty="0">
                <a:solidFill>
                  <a:srgbClr val="5A5E68"/>
                </a:solidFill>
                <a:latin typeface="Arial" pitchFamily="34" charset="0"/>
                <a:ea typeface="Arial" pitchFamily="34" charset="-122"/>
                <a:cs typeface="Arial" pitchFamily="34" charset="-120"/>
              </a:rPr>
              <a:t>–</a:t>
            </a:r>
            <a:endParaRPr lang="en-US" sz="1100" dirty="0"/>
          </a:p>
        </p:txBody>
      </p:sp>
      <p:sp>
        <p:nvSpPr>
          <p:cNvPr id="23" name="Shape 21"/>
          <p:cNvSpPr/>
          <p:nvPr/>
        </p:nvSpPr>
        <p:spPr>
          <a:xfrm>
            <a:off x="640080" y="4023360"/>
            <a:ext cx="10927080" cy="0"/>
          </a:xfrm>
          <a:prstGeom prst="line">
            <a:avLst/>
          </a:prstGeom>
          <a:noFill/>
          <a:ln w="9525">
            <a:solidFill>
              <a:srgbClr val="26282E"/>
            </a:solidFill>
            <a:prstDash val="solid"/>
          </a:ln>
        </p:spPr>
      </p:sp>
      <p:sp>
        <p:nvSpPr>
          <p:cNvPr id="24" name="Text 22"/>
          <p:cNvSpPr/>
          <p:nvPr/>
        </p:nvSpPr>
        <p:spPr>
          <a:xfrm>
            <a:off x="777240" y="4023360"/>
            <a:ext cx="3657600" cy="502920"/>
          </a:xfrm>
          <a:prstGeom prst="rect">
            <a:avLst/>
          </a:prstGeom>
          <a:noFill/>
          <a:ln/>
        </p:spPr>
        <p:txBody>
          <a:bodyPr wrap="square" lIns="0" tIns="0" rIns="0" bIns="0" rtlCol="0" anchor="ctr"/>
          <a:lstStyle/>
          <a:p>
            <a:pPr algn="l" indent="0" marL="0">
              <a:lnSpc>
                <a:spcPct val="90000"/>
              </a:lnSpc>
              <a:buNone/>
            </a:pPr>
            <a:r>
              <a:rPr lang="en-US" sz="1100" dirty="0">
                <a:solidFill>
                  <a:srgbClr val="B4BCD0"/>
                </a:solidFill>
                <a:latin typeface="Arial" pitchFamily="34" charset="0"/>
                <a:ea typeface="Arial" pitchFamily="34" charset="-122"/>
                <a:cs typeface="Arial" pitchFamily="34" charset="-120"/>
              </a:rPr>
              <a:t>Memory tools (Mem0, Zep)</a:t>
            </a:r>
            <a:endParaRPr lang="en-US" sz="1100" dirty="0"/>
          </a:p>
        </p:txBody>
      </p:sp>
      <p:sp>
        <p:nvSpPr>
          <p:cNvPr id="25" name="Text 23"/>
          <p:cNvSpPr/>
          <p:nvPr/>
        </p:nvSpPr>
        <p:spPr>
          <a:xfrm>
            <a:off x="4434840" y="4023360"/>
            <a:ext cx="1426464" cy="502920"/>
          </a:xfrm>
          <a:prstGeom prst="rect">
            <a:avLst/>
          </a:prstGeom>
          <a:noFill/>
          <a:ln/>
        </p:spPr>
        <p:txBody>
          <a:bodyPr wrap="square" lIns="0" tIns="0" rIns="0" bIns="0" rtlCol="0" anchor="ctr"/>
          <a:lstStyle/>
          <a:p>
            <a:pPr algn="ctr" indent="0" marL="0">
              <a:lnSpc>
                <a:spcPct val="90000"/>
              </a:lnSpc>
              <a:buNone/>
            </a:pPr>
            <a:r>
              <a:rPr lang="en-US" sz="1100" dirty="0">
                <a:solidFill>
                  <a:srgbClr val="5A5E68"/>
                </a:solidFill>
                <a:latin typeface="Arial" pitchFamily="34" charset="0"/>
                <a:ea typeface="Arial" pitchFamily="34" charset="-122"/>
                <a:cs typeface="Arial" pitchFamily="34" charset="-120"/>
              </a:rPr>
              <a:t>–</a:t>
            </a:r>
            <a:endParaRPr lang="en-US" sz="1100" dirty="0"/>
          </a:p>
        </p:txBody>
      </p:sp>
      <p:sp>
        <p:nvSpPr>
          <p:cNvPr id="26" name="Text 24"/>
          <p:cNvSpPr/>
          <p:nvPr/>
        </p:nvSpPr>
        <p:spPr>
          <a:xfrm>
            <a:off x="5861304" y="4023360"/>
            <a:ext cx="1426464" cy="502920"/>
          </a:xfrm>
          <a:prstGeom prst="rect">
            <a:avLst/>
          </a:prstGeom>
          <a:noFill/>
          <a:ln/>
        </p:spPr>
        <p:txBody>
          <a:bodyPr wrap="square" lIns="0" tIns="0" rIns="0" bIns="0" rtlCol="0" anchor="ctr"/>
          <a:lstStyle/>
          <a:p>
            <a:pPr algn="ctr" indent="0" marL="0">
              <a:lnSpc>
                <a:spcPct val="90000"/>
              </a:lnSpc>
              <a:buNone/>
            </a:pPr>
            <a:r>
              <a:rPr lang="en-US" sz="950" dirty="0">
                <a:solidFill>
                  <a:srgbClr val="8A8F98"/>
                </a:solidFill>
                <a:latin typeface="Arial" pitchFamily="34" charset="0"/>
                <a:ea typeface="Arial" pitchFamily="34" charset="-122"/>
                <a:cs typeface="Arial" pitchFamily="34" charset="-120"/>
              </a:rPr>
              <a:t>infra</a:t>
            </a:r>
            <a:endParaRPr lang="en-US" sz="950" dirty="0"/>
          </a:p>
        </p:txBody>
      </p:sp>
      <p:sp>
        <p:nvSpPr>
          <p:cNvPr id="27" name="Text 25"/>
          <p:cNvSpPr/>
          <p:nvPr/>
        </p:nvSpPr>
        <p:spPr>
          <a:xfrm>
            <a:off x="7287768" y="4023360"/>
            <a:ext cx="1426464" cy="502920"/>
          </a:xfrm>
          <a:prstGeom prst="rect">
            <a:avLst/>
          </a:prstGeom>
          <a:noFill/>
          <a:ln/>
        </p:spPr>
        <p:txBody>
          <a:bodyPr wrap="square" lIns="0" tIns="0" rIns="0" bIns="0" rtlCol="0" anchor="ctr"/>
          <a:lstStyle/>
          <a:p>
            <a:pPr algn="ctr" indent="0" marL="0">
              <a:lnSpc>
                <a:spcPct val="90000"/>
              </a:lnSpc>
              <a:buNone/>
            </a:pPr>
            <a:r>
              <a:rPr lang="en-US" sz="1300" b="1" dirty="0">
                <a:solidFill>
                  <a:srgbClr val="4ADE80"/>
                </a:solidFill>
                <a:latin typeface="Arial" pitchFamily="34" charset="0"/>
                <a:ea typeface="Arial" pitchFamily="34" charset="-122"/>
                <a:cs typeface="Arial" pitchFamily="34" charset="-120"/>
              </a:rPr>
              <a:t>✓</a:t>
            </a:r>
            <a:endParaRPr lang="en-US" sz="1300" dirty="0"/>
          </a:p>
        </p:txBody>
      </p:sp>
      <p:sp>
        <p:nvSpPr>
          <p:cNvPr id="28" name="Text 26"/>
          <p:cNvSpPr/>
          <p:nvPr/>
        </p:nvSpPr>
        <p:spPr>
          <a:xfrm>
            <a:off x="8714232" y="4023360"/>
            <a:ext cx="1426464" cy="502920"/>
          </a:xfrm>
          <a:prstGeom prst="rect">
            <a:avLst/>
          </a:prstGeom>
          <a:noFill/>
          <a:ln/>
        </p:spPr>
        <p:txBody>
          <a:bodyPr wrap="square" lIns="0" tIns="0" rIns="0" bIns="0" rtlCol="0" anchor="ctr"/>
          <a:lstStyle/>
          <a:p>
            <a:pPr algn="ctr" indent="0" marL="0">
              <a:lnSpc>
                <a:spcPct val="90000"/>
              </a:lnSpc>
              <a:buNone/>
            </a:pPr>
            <a:r>
              <a:rPr lang="en-US" sz="1100" dirty="0">
                <a:solidFill>
                  <a:srgbClr val="5A5E68"/>
                </a:solidFill>
                <a:latin typeface="Arial" pitchFamily="34" charset="0"/>
                <a:ea typeface="Arial" pitchFamily="34" charset="-122"/>
                <a:cs typeface="Arial" pitchFamily="34" charset="-120"/>
              </a:rPr>
              <a:t>–</a:t>
            </a:r>
            <a:endParaRPr lang="en-US" sz="1100" dirty="0"/>
          </a:p>
        </p:txBody>
      </p:sp>
      <p:sp>
        <p:nvSpPr>
          <p:cNvPr id="29" name="Text 27"/>
          <p:cNvSpPr/>
          <p:nvPr/>
        </p:nvSpPr>
        <p:spPr>
          <a:xfrm>
            <a:off x="10140696" y="4023360"/>
            <a:ext cx="1426464" cy="502920"/>
          </a:xfrm>
          <a:prstGeom prst="rect">
            <a:avLst/>
          </a:prstGeom>
          <a:noFill/>
          <a:ln/>
        </p:spPr>
        <p:txBody>
          <a:bodyPr wrap="square" lIns="0" tIns="0" rIns="0" bIns="0" rtlCol="0" anchor="ctr"/>
          <a:lstStyle/>
          <a:p>
            <a:pPr algn="ctr" indent="0" marL="0">
              <a:lnSpc>
                <a:spcPct val="90000"/>
              </a:lnSpc>
              <a:buNone/>
            </a:pPr>
            <a:r>
              <a:rPr lang="en-US" sz="1100" dirty="0">
                <a:solidFill>
                  <a:srgbClr val="5A5E68"/>
                </a:solidFill>
                <a:latin typeface="Arial" pitchFamily="34" charset="0"/>
                <a:ea typeface="Arial" pitchFamily="34" charset="-122"/>
                <a:cs typeface="Arial" pitchFamily="34" charset="-120"/>
              </a:rPr>
              <a:t>–</a:t>
            </a:r>
            <a:endParaRPr lang="en-US" sz="1100" dirty="0"/>
          </a:p>
        </p:txBody>
      </p:sp>
      <p:sp>
        <p:nvSpPr>
          <p:cNvPr id="30" name="Shape 28"/>
          <p:cNvSpPr/>
          <p:nvPr/>
        </p:nvSpPr>
        <p:spPr>
          <a:xfrm>
            <a:off x="640080" y="4526280"/>
            <a:ext cx="10927080" cy="0"/>
          </a:xfrm>
          <a:prstGeom prst="line">
            <a:avLst/>
          </a:prstGeom>
          <a:noFill/>
          <a:ln w="9525">
            <a:solidFill>
              <a:srgbClr val="26282E"/>
            </a:solidFill>
            <a:prstDash val="solid"/>
          </a:ln>
        </p:spPr>
      </p:sp>
      <p:sp>
        <p:nvSpPr>
          <p:cNvPr id="31" name="Text 29"/>
          <p:cNvSpPr/>
          <p:nvPr/>
        </p:nvSpPr>
        <p:spPr>
          <a:xfrm>
            <a:off x="777240" y="4526280"/>
            <a:ext cx="3657600" cy="502920"/>
          </a:xfrm>
          <a:prstGeom prst="rect">
            <a:avLst/>
          </a:prstGeom>
          <a:noFill/>
          <a:ln/>
        </p:spPr>
        <p:txBody>
          <a:bodyPr wrap="square" lIns="0" tIns="0" rIns="0" bIns="0" rtlCol="0" anchor="ctr"/>
          <a:lstStyle/>
          <a:p>
            <a:pPr algn="l" indent="0" marL="0">
              <a:lnSpc>
                <a:spcPct val="90000"/>
              </a:lnSpc>
              <a:buNone/>
            </a:pPr>
            <a:r>
              <a:rPr lang="en-US" sz="1100" dirty="0">
                <a:solidFill>
                  <a:srgbClr val="B4BCD0"/>
                </a:solidFill>
                <a:latin typeface="Arial" pitchFamily="34" charset="0"/>
                <a:ea typeface="Arial" pitchFamily="34" charset="-122"/>
                <a:cs typeface="Arial" pitchFamily="34" charset="-120"/>
              </a:rPr>
              <a:t>Skills platforms (Tessl)</a:t>
            </a:r>
            <a:endParaRPr lang="en-US" sz="1100" dirty="0"/>
          </a:p>
        </p:txBody>
      </p:sp>
      <p:sp>
        <p:nvSpPr>
          <p:cNvPr id="32" name="Text 30"/>
          <p:cNvSpPr/>
          <p:nvPr/>
        </p:nvSpPr>
        <p:spPr>
          <a:xfrm>
            <a:off x="4434840" y="4526280"/>
            <a:ext cx="1426464" cy="502920"/>
          </a:xfrm>
          <a:prstGeom prst="rect">
            <a:avLst/>
          </a:prstGeom>
          <a:noFill/>
          <a:ln/>
        </p:spPr>
        <p:txBody>
          <a:bodyPr wrap="square" lIns="0" tIns="0" rIns="0" bIns="0" rtlCol="0" anchor="ctr"/>
          <a:lstStyle/>
          <a:p>
            <a:pPr algn="ctr" indent="0" marL="0">
              <a:lnSpc>
                <a:spcPct val="90000"/>
              </a:lnSpc>
              <a:buNone/>
            </a:pPr>
            <a:r>
              <a:rPr lang="en-US" sz="950" dirty="0">
                <a:solidFill>
                  <a:srgbClr val="8A8F98"/>
                </a:solidFill>
                <a:latin typeface="Arial" pitchFamily="34" charset="0"/>
                <a:ea typeface="Arial" pitchFamily="34" charset="-122"/>
                <a:cs typeface="Arial" pitchFamily="34" charset="-120"/>
              </a:rPr>
              <a:t>skills</a:t>
            </a:r>
            <a:endParaRPr lang="en-US" sz="950" dirty="0"/>
          </a:p>
        </p:txBody>
      </p:sp>
      <p:sp>
        <p:nvSpPr>
          <p:cNvPr id="33" name="Text 31"/>
          <p:cNvSpPr/>
          <p:nvPr/>
        </p:nvSpPr>
        <p:spPr>
          <a:xfrm>
            <a:off x="5861304" y="4526280"/>
            <a:ext cx="1426464" cy="502920"/>
          </a:xfrm>
          <a:prstGeom prst="rect">
            <a:avLst/>
          </a:prstGeom>
          <a:noFill/>
          <a:ln/>
        </p:spPr>
        <p:txBody>
          <a:bodyPr wrap="square" lIns="0" tIns="0" rIns="0" bIns="0" rtlCol="0" anchor="ctr"/>
          <a:lstStyle/>
          <a:p>
            <a:pPr algn="ctr" indent="0" marL="0">
              <a:lnSpc>
                <a:spcPct val="90000"/>
              </a:lnSpc>
              <a:buNone/>
            </a:pPr>
            <a:r>
              <a:rPr lang="en-US" sz="1100" dirty="0">
                <a:solidFill>
                  <a:srgbClr val="5A5E68"/>
                </a:solidFill>
                <a:latin typeface="Arial" pitchFamily="34" charset="0"/>
                <a:ea typeface="Arial" pitchFamily="34" charset="-122"/>
                <a:cs typeface="Arial" pitchFamily="34" charset="-120"/>
              </a:rPr>
              <a:t>–</a:t>
            </a:r>
            <a:endParaRPr lang="en-US" sz="1100" dirty="0"/>
          </a:p>
        </p:txBody>
      </p:sp>
      <p:sp>
        <p:nvSpPr>
          <p:cNvPr id="34" name="Text 32"/>
          <p:cNvSpPr/>
          <p:nvPr/>
        </p:nvSpPr>
        <p:spPr>
          <a:xfrm>
            <a:off x="7287768" y="4526280"/>
            <a:ext cx="1426464" cy="502920"/>
          </a:xfrm>
          <a:prstGeom prst="rect">
            <a:avLst/>
          </a:prstGeom>
          <a:noFill/>
          <a:ln/>
        </p:spPr>
        <p:txBody>
          <a:bodyPr wrap="square" lIns="0" tIns="0" rIns="0" bIns="0" rtlCol="0" anchor="ctr"/>
          <a:lstStyle/>
          <a:p>
            <a:pPr algn="ctr" indent="0" marL="0">
              <a:lnSpc>
                <a:spcPct val="90000"/>
              </a:lnSpc>
              <a:buNone/>
            </a:pPr>
            <a:r>
              <a:rPr lang="en-US" sz="1100" dirty="0">
                <a:solidFill>
                  <a:srgbClr val="5A5E68"/>
                </a:solidFill>
                <a:latin typeface="Arial" pitchFamily="34" charset="0"/>
                <a:ea typeface="Arial" pitchFamily="34" charset="-122"/>
                <a:cs typeface="Arial" pitchFamily="34" charset="-120"/>
              </a:rPr>
              <a:t>–</a:t>
            </a:r>
            <a:endParaRPr lang="en-US" sz="1100" dirty="0"/>
          </a:p>
        </p:txBody>
      </p:sp>
      <p:sp>
        <p:nvSpPr>
          <p:cNvPr id="35" name="Text 33"/>
          <p:cNvSpPr/>
          <p:nvPr/>
        </p:nvSpPr>
        <p:spPr>
          <a:xfrm>
            <a:off x="8714232" y="4526280"/>
            <a:ext cx="1426464" cy="502920"/>
          </a:xfrm>
          <a:prstGeom prst="rect">
            <a:avLst/>
          </a:prstGeom>
          <a:noFill/>
          <a:ln/>
        </p:spPr>
        <p:txBody>
          <a:bodyPr wrap="square" lIns="0" tIns="0" rIns="0" bIns="0" rtlCol="0" anchor="ctr"/>
          <a:lstStyle/>
          <a:p>
            <a:pPr algn="ctr" indent="0" marL="0">
              <a:lnSpc>
                <a:spcPct val="90000"/>
              </a:lnSpc>
              <a:buNone/>
            </a:pPr>
            <a:r>
              <a:rPr lang="en-US" sz="1100" dirty="0">
                <a:solidFill>
                  <a:srgbClr val="5A5E68"/>
                </a:solidFill>
                <a:latin typeface="Arial" pitchFamily="34" charset="0"/>
                <a:ea typeface="Arial" pitchFamily="34" charset="-122"/>
                <a:cs typeface="Arial" pitchFamily="34" charset="-120"/>
              </a:rPr>
              <a:t>–</a:t>
            </a:r>
            <a:endParaRPr lang="en-US" sz="1100" dirty="0"/>
          </a:p>
        </p:txBody>
      </p:sp>
      <p:sp>
        <p:nvSpPr>
          <p:cNvPr id="36" name="Text 34"/>
          <p:cNvSpPr/>
          <p:nvPr/>
        </p:nvSpPr>
        <p:spPr>
          <a:xfrm>
            <a:off x="10140696" y="4526280"/>
            <a:ext cx="1426464" cy="502920"/>
          </a:xfrm>
          <a:prstGeom prst="rect">
            <a:avLst/>
          </a:prstGeom>
          <a:noFill/>
          <a:ln/>
        </p:spPr>
        <p:txBody>
          <a:bodyPr wrap="square" lIns="0" tIns="0" rIns="0" bIns="0" rtlCol="0" anchor="ctr"/>
          <a:lstStyle/>
          <a:p>
            <a:pPr algn="ctr" indent="0" marL="0">
              <a:lnSpc>
                <a:spcPct val="90000"/>
              </a:lnSpc>
              <a:buNone/>
            </a:pPr>
            <a:r>
              <a:rPr lang="en-US" sz="1300" b="1" dirty="0">
                <a:solidFill>
                  <a:srgbClr val="4ADE80"/>
                </a:solidFill>
                <a:latin typeface="Arial" pitchFamily="34" charset="0"/>
                <a:ea typeface="Arial" pitchFamily="34" charset="-122"/>
                <a:cs typeface="Arial" pitchFamily="34" charset="-120"/>
              </a:rPr>
              <a:t>✓</a:t>
            </a:r>
            <a:endParaRPr lang="en-US" sz="1300" dirty="0"/>
          </a:p>
        </p:txBody>
      </p:sp>
      <p:sp>
        <p:nvSpPr>
          <p:cNvPr id="37" name="Shape 35"/>
          <p:cNvSpPr/>
          <p:nvPr/>
        </p:nvSpPr>
        <p:spPr>
          <a:xfrm>
            <a:off x="640080" y="5029200"/>
            <a:ext cx="10927080" cy="0"/>
          </a:xfrm>
          <a:prstGeom prst="line">
            <a:avLst/>
          </a:prstGeom>
          <a:noFill/>
          <a:ln w="9525">
            <a:solidFill>
              <a:srgbClr val="26282E"/>
            </a:solidFill>
            <a:prstDash val="solid"/>
          </a:ln>
        </p:spPr>
      </p:sp>
      <p:sp>
        <p:nvSpPr>
          <p:cNvPr id="38" name="Shape 36"/>
          <p:cNvSpPr/>
          <p:nvPr/>
        </p:nvSpPr>
        <p:spPr>
          <a:xfrm>
            <a:off x="640080" y="5029200"/>
            <a:ext cx="10927080" cy="502920"/>
          </a:xfrm>
          <a:prstGeom prst="rect">
            <a:avLst/>
          </a:prstGeom>
          <a:solidFill>
            <a:srgbClr val="16183A"/>
          </a:solidFill>
          <a:ln w="12700">
            <a:solidFill>
              <a:srgbClr val="3A3B6A"/>
            </a:solidFill>
            <a:prstDash val="solid"/>
          </a:ln>
        </p:spPr>
      </p:sp>
      <p:sp>
        <p:nvSpPr>
          <p:cNvPr id="39" name="Text 37"/>
          <p:cNvSpPr/>
          <p:nvPr/>
        </p:nvSpPr>
        <p:spPr>
          <a:xfrm>
            <a:off x="777240" y="5029200"/>
            <a:ext cx="3657600" cy="502920"/>
          </a:xfrm>
          <a:prstGeom prst="rect">
            <a:avLst/>
          </a:prstGeom>
          <a:noFill/>
          <a:ln/>
        </p:spPr>
        <p:txBody>
          <a:bodyPr wrap="square" lIns="0" tIns="0" rIns="0" bIns="0" rtlCol="0" anchor="ctr"/>
          <a:lstStyle/>
          <a:p>
            <a:pPr algn="l" indent="0" marL="0">
              <a:lnSpc>
                <a:spcPct val="90000"/>
              </a:lnSpc>
              <a:buNone/>
            </a:pPr>
            <a:r>
              <a:rPr lang="en-US" sz="1100" b="1" dirty="0">
                <a:solidFill>
                  <a:srgbClr val="F7F8F8"/>
                </a:solidFill>
                <a:latin typeface="Arial" pitchFamily="34" charset="0"/>
                <a:ea typeface="Arial" pitchFamily="34" charset="-122"/>
                <a:cs typeface="Arial" pitchFamily="34" charset="-120"/>
              </a:rPr>
              <a:t>Biblio</a:t>
            </a:r>
            <a:endParaRPr lang="en-US" sz="1100" dirty="0"/>
          </a:p>
        </p:txBody>
      </p:sp>
      <p:sp>
        <p:nvSpPr>
          <p:cNvPr id="40" name="Text 38"/>
          <p:cNvSpPr/>
          <p:nvPr/>
        </p:nvSpPr>
        <p:spPr>
          <a:xfrm>
            <a:off x="4434840" y="5029200"/>
            <a:ext cx="1426464" cy="502920"/>
          </a:xfrm>
          <a:prstGeom prst="rect">
            <a:avLst/>
          </a:prstGeom>
          <a:noFill/>
          <a:ln/>
        </p:spPr>
        <p:txBody>
          <a:bodyPr wrap="square" lIns="0" tIns="0" rIns="0" bIns="0" rtlCol="0" anchor="ctr"/>
          <a:lstStyle/>
          <a:p>
            <a:pPr algn="ctr" indent="0" marL="0">
              <a:lnSpc>
                <a:spcPct val="90000"/>
              </a:lnSpc>
              <a:buNone/>
            </a:pPr>
            <a:r>
              <a:rPr lang="en-US" sz="1300" b="1" dirty="0">
                <a:solidFill>
                  <a:srgbClr val="4ADE80"/>
                </a:solidFill>
                <a:latin typeface="Arial" pitchFamily="34" charset="0"/>
                <a:ea typeface="Arial" pitchFamily="34" charset="-122"/>
                <a:cs typeface="Arial" pitchFamily="34" charset="-120"/>
              </a:rPr>
              <a:t>✓</a:t>
            </a:r>
            <a:endParaRPr lang="en-US" sz="1300" dirty="0"/>
          </a:p>
        </p:txBody>
      </p:sp>
      <p:sp>
        <p:nvSpPr>
          <p:cNvPr id="41" name="Text 39"/>
          <p:cNvSpPr/>
          <p:nvPr/>
        </p:nvSpPr>
        <p:spPr>
          <a:xfrm>
            <a:off x="5861304" y="5029200"/>
            <a:ext cx="1426464" cy="502920"/>
          </a:xfrm>
          <a:prstGeom prst="rect">
            <a:avLst/>
          </a:prstGeom>
          <a:noFill/>
          <a:ln/>
        </p:spPr>
        <p:txBody>
          <a:bodyPr wrap="square" lIns="0" tIns="0" rIns="0" bIns="0" rtlCol="0" anchor="ctr"/>
          <a:lstStyle/>
          <a:p>
            <a:pPr algn="ctr" indent="0" marL="0">
              <a:lnSpc>
                <a:spcPct val="90000"/>
              </a:lnSpc>
              <a:buNone/>
            </a:pPr>
            <a:r>
              <a:rPr lang="en-US" sz="1300" b="1" dirty="0">
                <a:solidFill>
                  <a:srgbClr val="4ADE80"/>
                </a:solidFill>
                <a:latin typeface="Arial" pitchFamily="34" charset="0"/>
                <a:ea typeface="Arial" pitchFamily="34" charset="-122"/>
                <a:cs typeface="Arial" pitchFamily="34" charset="-120"/>
              </a:rPr>
              <a:t>✓</a:t>
            </a:r>
            <a:endParaRPr lang="en-US" sz="1300" dirty="0"/>
          </a:p>
        </p:txBody>
      </p:sp>
      <p:sp>
        <p:nvSpPr>
          <p:cNvPr id="42" name="Text 40"/>
          <p:cNvSpPr/>
          <p:nvPr/>
        </p:nvSpPr>
        <p:spPr>
          <a:xfrm>
            <a:off x="7287768" y="5029200"/>
            <a:ext cx="1426464" cy="502920"/>
          </a:xfrm>
          <a:prstGeom prst="rect">
            <a:avLst/>
          </a:prstGeom>
          <a:noFill/>
          <a:ln/>
        </p:spPr>
        <p:txBody>
          <a:bodyPr wrap="square" lIns="0" tIns="0" rIns="0" bIns="0" rtlCol="0" anchor="ctr"/>
          <a:lstStyle/>
          <a:p>
            <a:pPr algn="ctr" indent="0" marL="0">
              <a:lnSpc>
                <a:spcPct val="90000"/>
              </a:lnSpc>
              <a:buNone/>
            </a:pPr>
            <a:r>
              <a:rPr lang="en-US" sz="1300" b="1" dirty="0">
                <a:solidFill>
                  <a:srgbClr val="4ADE80"/>
                </a:solidFill>
                <a:latin typeface="Arial" pitchFamily="34" charset="0"/>
                <a:ea typeface="Arial" pitchFamily="34" charset="-122"/>
                <a:cs typeface="Arial" pitchFamily="34" charset="-120"/>
              </a:rPr>
              <a:t>✓</a:t>
            </a:r>
            <a:endParaRPr lang="en-US" sz="1300" dirty="0"/>
          </a:p>
        </p:txBody>
      </p:sp>
      <p:sp>
        <p:nvSpPr>
          <p:cNvPr id="43" name="Text 41"/>
          <p:cNvSpPr/>
          <p:nvPr/>
        </p:nvSpPr>
        <p:spPr>
          <a:xfrm>
            <a:off x="8714232" y="5029200"/>
            <a:ext cx="1426464" cy="502920"/>
          </a:xfrm>
          <a:prstGeom prst="rect">
            <a:avLst/>
          </a:prstGeom>
          <a:noFill/>
          <a:ln/>
        </p:spPr>
        <p:txBody>
          <a:bodyPr wrap="square" lIns="0" tIns="0" rIns="0" bIns="0" rtlCol="0" anchor="ctr"/>
          <a:lstStyle/>
          <a:p>
            <a:pPr algn="ctr" indent="0" marL="0">
              <a:lnSpc>
                <a:spcPct val="90000"/>
              </a:lnSpc>
              <a:buNone/>
            </a:pPr>
            <a:r>
              <a:rPr lang="en-US" sz="1300" b="1" dirty="0">
                <a:solidFill>
                  <a:srgbClr val="4ADE80"/>
                </a:solidFill>
                <a:latin typeface="Arial" pitchFamily="34" charset="0"/>
                <a:ea typeface="Arial" pitchFamily="34" charset="-122"/>
                <a:cs typeface="Arial" pitchFamily="34" charset="-120"/>
              </a:rPr>
              <a:t>✓</a:t>
            </a:r>
            <a:endParaRPr lang="en-US" sz="1300" dirty="0"/>
          </a:p>
        </p:txBody>
      </p:sp>
      <p:sp>
        <p:nvSpPr>
          <p:cNvPr id="44" name="Text 42"/>
          <p:cNvSpPr/>
          <p:nvPr/>
        </p:nvSpPr>
        <p:spPr>
          <a:xfrm>
            <a:off x="10140696" y="5029200"/>
            <a:ext cx="1426464" cy="502920"/>
          </a:xfrm>
          <a:prstGeom prst="rect">
            <a:avLst/>
          </a:prstGeom>
          <a:noFill/>
          <a:ln/>
        </p:spPr>
        <p:txBody>
          <a:bodyPr wrap="square" lIns="0" tIns="0" rIns="0" bIns="0" rtlCol="0" anchor="ctr"/>
          <a:lstStyle/>
          <a:p>
            <a:pPr algn="ctr" indent="0" marL="0">
              <a:lnSpc>
                <a:spcPct val="90000"/>
              </a:lnSpc>
              <a:buNone/>
            </a:pPr>
            <a:r>
              <a:rPr lang="en-US" sz="1300" b="1" dirty="0">
                <a:solidFill>
                  <a:srgbClr val="4ADE80"/>
                </a:solidFill>
                <a:latin typeface="Arial" pitchFamily="34" charset="0"/>
                <a:ea typeface="Arial" pitchFamily="34" charset="-122"/>
                <a:cs typeface="Arial" pitchFamily="34" charset="-120"/>
              </a:rPr>
              <a:t>✓</a:t>
            </a:r>
            <a:endParaRPr lang="en-US" sz="1300" dirty="0"/>
          </a:p>
        </p:txBody>
      </p:sp>
      <p:sp>
        <p:nvSpPr>
          <p:cNvPr id="45" name="Text 43"/>
          <p:cNvSpPr/>
          <p:nvPr/>
        </p:nvSpPr>
        <p:spPr>
          <a:xfrm>
            <a:off x="640080" y="5669280"/>
            <a:ext cx="10927080" cy="502920"/>
          </a:xfrm>
          <a:prstGeom prst="rect">
            <a:avLst/>
          </a:prstGeom>
          <a:noFill/>
          <a:ln/>
        </p:spPr>
        <p:txBody>
          <a:bodyPr wrap="square" lIns="0" tIns="0" rIns="0" bIns="0" rtlCol="0" anchor="ctr"/>
          <a:lstStyle/>
          <a:p>
            <a:pPr algn="ctr" indent="0" marL="0">
              <a:lnSpc>
                <a:spcPct val="115000"/>
              </a:lnSpc>
              <a:buNone/>
            </a:pPr>
            <a:r>
              <a:rPr lang="en-US" sz="1100" i="1" dirty="0">
                <a:solidFill>
                  <a:srgbClr val="8A8F98"/>
                </a:solidFill>
                <a:latin typeface="Arial" pitchFamily="34" charset="0"/>
                <a:ea typeface="Arial" pitchFamily="34" charset="-122"/>
                <a:cs typeface="Arial" pitchFamily="34" charset="-120"/>
              </a:rPr>
              <a:t>Review tools only learn inside their own reviews. Context tools serve docs but never check that agents follow them. Memory tools are infrastructure you still have to build on. Biblio is the one place docs, review, and memory work together for every agent.</a:t>
            </a:r>
            <a:endParaRPr lang="en-US" sz="1100" dirty="0"/>
          </a:p>
        </p:txBody>
      </p:sp>
      <p:sp>
        <p:nvSpPr>
          <p:cNvPr id="46" name="Text 44"/>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8A8F98"/>
                </a:solidFill>
                <a:latin typeface="Courier New" pitchFamily="34" charset="0"/>
                <a:ea typeface="Courier New" pitchFamily="34" charset="-122"/>
                <a:cs typeface="Courier Ne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090A"/>
        </a:solidFill>
      </p:bgPr>
    </p:bg>
    <p:spTree>
      <p:nvGrpSpPr>
        <p:cNvPr id="1" name=""/>
        <p:cNvGrpSpPr/>
        <p:nvPr/>
      </p:nvGrpSpPr>
      <p:grpSpPr>
        <a:xfrm>
          <a:off x="0" y="0"/>
          <a:ext cx="0" cy="0"/>
          <a:chOff x="0" y="0"/>
          <a:chExt cx="0" cy="0"/>
        </a:xfrm>
      </p:grpSpPr>
      <p:sp>
        <p:nvSpPr>
          <p:cNvPr id="2" name="Text 0"/>
          <p:cNvSpPr/>
          <p:nvPr/>
        </p:nvSpPr>
        <p:spPr>
          <a:xfrm>
            <a:off x="640080" y="594360"/>
            <a:ext cx="7315200" cy="274320"/>
          </a:xfrm>
          <a:prstGeom prst="rect">
            <a:avLst/>
          </a:prstGeom>
          <a:noFill/>
          <a:ln/>
        </p:spPr>
        <p:txBody>
          <a:bodyPr wrap="square" lIns="0" tIns="0" rIns="0" bIns="0" rtlCol="0" anchor="ctr"/>
          <a:lstStyle/>
          <a:p>
            <a:pPr algn="l" indent="0" marL="0">
              <a:buNone/>
            </a:pPr>
            <a:r>
              <a:rPr lang="en-US" sz="1100" b="1" spc="300" kern="0" dirty="0">
                <a:solidFill>
                  <a:srgbClr val="B59AFF"/>
                </a:solidFill>
                <a:latin typeface="Arial" pitchFamily="34" charset="0"/>
                <a:ea typeface="Arial" pitchFamily="34" charset="-122"/>
                <a:cs typeface="Arial" pitchFamily="34" charset="-120"/>
              </a:rPr>
              <a:t>BUSINESS MODEL</a:t>
            </a:r>
            <a:endParaRPr lang="en-US" sz="1100" dirty="0"/>
          </a:p>
        </p:txBody>
      </p:sp>
      <p:sp>
        <p:nvSpPr>
          <p:cNvPr id="3" name="Text 1"/>
          <p:cNvSpPr/>
          <p:nvPr/>
        </p:nvSpPr>
        <p:spPr>
          <a:xfrm>
            <a:off x="640080" y="960120"/>
            <a:ext cx="10972800" cy="1005840"/>
          </a:xfrm>
          <a:prstGeom prst="rect">
            <a:avLst/>
          </a:prstGeom>
          <a:noFill/>
          <a:ln/>
        </p:spPr>
        <p:txBody>
          <a:bodyPr wrap="square" lIns="0" tIns="0" rIns="0" bIns="0" rtlCol="0" anchor="t"/>
          <a:lstStyle/>
          <a:p>
            <a:pPr algn="l" indent="0" marL="0">
              <a:lnSpc>
                <a:spcPct val="100000"/>
              </a:lnSpc>
              <a:buNone/>
            </a:pPr>
            <a:r>
              <a:rPr lang="en-US" sz="2800" b="1" dirty="0">
                <a:solidFill>
                  <a:srgbClr val="F7F8F8"/>
                </a:solidFill>
                <a:latin typeface="Arial" pitchFamily="34" charset="0"/>
                <a:ea typeface="Arial" pitchFamily="34" charset="-122"/>
                <a:cs typeface="Arial" pitchFamily="34" charset="-120"/>
              </a:rPr>
              <a:t>Open core. Start with one team,</a:t>
            </a:r>
            <a:endParaRPr lang="en-US" sz="2800" dirty="0"/>
          </a:p>
          <a:p>
            <a:pPr algn="l" indent="0" marL="0">
              <a:lnSpc>
                <a:spcPct val="100000"/>
              </a:lnSpc>
              <a:buNone/>
            </a:pPr>
            <a:r>
              <a:rPr lang="en-US" sz="2800" b="1" dirty="0">
                <a:solidFill>
                  <a:srgbClr val="F7F8F8"/>
                </a:solidFill>
                <a:latin typeface="Arial" pitchFamily="34" charset="0"/>
                <a:ea typeface="Arial" pitchFamily="34" charset="-122"/>
                <a:cs typeface="Arial" pitchFamily="34" charset="-120"/>
              </a:rPr>
              <a:t>grow across the company.</a:t>
            </a:r>
            <a:endParaRPr lang="en-US" sz="2800" dirty="0"/>
          </a:p>
        </p:txBody>
      </p:sp>
      <p:sp>
        <p:nvSpPr>
          <p:cNvPr id="4" name="Shape 2"/>
          <p:cNvSpPr/>
          <p:nvPr/>
        </p:nvSpPr>
        <p:spPr>
          <a:xfrm>
            <a:off x="640080" y="2468880"/>
            <a:ext cx="3346704" cy="3108960"/>
          </a:xfrm>
          <a:prstGeom prst="roundRect">
            <a:avLst>
              <a:gd name="adj" fmla="val 2647"/>
            </a:avLst>
          </a:prstGeom>
          <a:solidFill>
            <a:srgbClr val="131418"/>
          </a:solidFill>
          <a:ln w="12700">
            <a:solidFill>
              <a:srgbClr val="26282E"/>
            </a:solidFill>
            <a:prstDash val="solid"/>
          </a:ln>
          <a:effectLst>
            <a:outerShdw sx="100000" sy="100000" kx="0" ky="0" algn="bl" rotWithShape="0" blurRad="127000" dist="50800" dir="5400000">
              <a:srgbClr val="000000">
                <a:alpha val="35000"/>
              </a:srgbClr>
            </a:outerShdw>
          </a:effectLst>
        </p:spPr>
      </p:sp>
      <p:sp>
        <p:nvSpPr>
          <p:cNvPr id="5" name="Text 3"/>
          <p:cNvSpPr/>
          <p:nvPr/>
        </p:nvSpPr>
        <p:spPr>
          <a:xfrm>
            <a:off x="932688" y="2743200"/>
            <a:ext cx="2798064" cy="365760"/>
          </a:xfrm>
          <a:prstGeom prst="rect">
            <a:avLst/>
          </a:prstGeom>
          <a:noFill/>
          <a:ln/>
        </p:spPr>
        <p:txBody>
          <a:bodyPr wrap="square" lIns="0" tIns="0" rIns="0" bIns="0" rtlCol="0" anchor="ctr"/>
          <a:lstStyle/>
          <a:p>
            <a:pPr indent="0" marL="0">
              <a:buNone/>
            </a:pPr>
            <a:r>
              <a:rPr lang="en-US" sz="1600" b="1" dirty="0">
                <a:solidFill>
                  <a:srgbClr val="F7F8F8"/>
                </a:solidFill>
                <a:latin typeface="Arial" pitchFamily="34" charset="0"/>
                <a:ea typeface="Arial" pitchFamily="34" charset="-122"/>
                <a:cs typeface="Arial" pitchFamily="34" charset="-120"/>
              </a:rPr>
              <a:t>Open source</a:t>
            </a:r>
            <a:endParaRPr lang="en-US" sz="1600" dirty="0"/>
          </a:p>
        </p:txBody>
      </p:sp>
      <p:sp>
        <p:nvSpPr>
          <p:cNvPr id="6" name="Text 4"/>
          <p:cNvSpPr/>
          <p:nvPr/>
        </p:nvSpPr>
        <p:spPr>
          <a:xfrm>
            <a:off x="932688" y="3127248"/>
            <a:ext cx="2798064" cy="594360"/>
          </a:xfrm>
          <a:prstGeom prst="rect">
            <a:avLst/>
          </a:prstGeom>
          <a:noFill/>
          <a:ln/>
        </p:spPr>
        <p:txBody>
          <a:bodyPr wrap="square" lIns="0" tIns="0" rIns="0" bIns="0" rtlCol="0" anchor="ctr"/>
          <a:lstStyle/>
          <a:p>
            <a:pPr indent="0" marL="0">
              <a:buNone/>
            </a:pPr>
            <a:r>
              <a:rPr lang="en-US" sz="3000" b="1" dirty="0">
                <a:solidFill>
                  <a:srgbClr val="B4BCD0"/>
                </a:solidFill>
                <a:latin typeface="Arial" pitchFamily="34" charset="0"/>
                <a:ea typeface="Arial" pitchFamily="34" charset="-122"/>
                <a:cs typeface="Arial" pitchFamily="34" charset="-120"/>
              </a:rPr>
              <a:t>Free</a:t>
            </a:r>
            <a:endParaRPr lang="en-US" sz="3000" dirty="0"/>
          </a:p>
        </p:txBody>
      </p:sp>
      <p:sp>
        <p:nvSpPr>
          <p:cNvPr id="7" name="Text 5"/>
          <p:cNvSpPr/>
          <p:nvPr/>
        </p:nvSpPr>
        <p:spPr>
          <a:xfrm>
            <a:off x="932688" y="3931920"/>
            <a:ext cx="274320" cy="274320"/>
          </a:xfrm>
          <a:prstGeom prst="rect">
            <a:avLst/>
          </a:prstGeom>
          <a:noFill/>
          <a:ln/>
        </p:spPr>
        <p:txBody>
          <a:bodyPr wrap="square" lIns="0" tIns="0" rIns="0" bIns="0" rtlCol="0" anchor="ctr"/>
          <a:lstStyle/>
          <a:p>
            <a:pPr indent="0" marL="0">
              <a:buNone/>
            </a:pPr>
            <a:r>
              <a:rPr lang="en-US" sz="1100" b="1" dirty="0">
                <a:solidFill>
                  <a:srgbClr val="B4BCD0"/>
                </a:solidFill>
                <a:latin typeface="Arial" pitchFamily="34" charset="0"/>
                <a:ea typeface="Arial" pitchFamily="34" charset="-122"/>
                <a:cs typeface="Arial" pitchFamily="34" charset="-120"/>
              </a:rPr>
              <a:t>✓</a:t>
            </a:r>
            <a:endParaRPr lang="en-US" sz="1100" dirty="0"/>
          </a:p>
        </p:txBody>
      </p:sp>
      <p:sp>
        <p:nvSpPr>
          <p:cNvPr id="8" name="Text 6"/>
          <p:cNvSpPr/>
          <p:nvPr/>
        </p:nvSpPr>
        <p:spPr>
          <a:xfrm>
            <a:off x="1207008" y="3931920"/>
            <a:ext cx="2523744" cy="274320"/>
          </a:xfrm>
          <a:prstGeom prst="rect">
            <a:avLst/>
          </a:prstGeom>
          <a:noFill/>
          <a:ln/>
        </p:spPr>
        <p:txBody>
          <a:bodyPr wrap="square" lIns="0" tIns="0" rIns="0" bIns="0" rtlCol="0" anchor="ctr"/>
          <a:lstStyle/>
          <a:p>
            <a:pPr indent="0" marL="0">
              <a:buNone/>
            </a:pPr>
            <a:r>
              <a:rPr lang="en-US" sz="1100" dirty="0">
                <a:solidFill>
                  <a:srgbClr val="B4BCD0"/>
                </a:solidFill>
                <a:latin typeface="Arial" pitchFamily="34" charset="0"/>
                <a:ea typeface="Arial" pitchFamily="34" charset="-122"/>
                <a:cs typeface="Arial" pitchFamily="34" charset="-120"/>
              </a:rPr>
              <a:t>Self-host the full server</a:t>
            </a:r>
            <a:endParaRPr lang="en-US" sz="1100" dirty="0"/>
          </a:p>
        </p:txBody>
      </p:sp>
      <p:sp>
        <p:nvSpPr>
          <p:cNvPr id="9" name="Text 7"/>
          <p:cNvSpPr/>
          <p:nvPr/>
        </p:nvSpPr>
        <p:spPr>
          <a:xfrm>
            <a:off x="932688" y="4343400"/>
            <a:ext cx="274320" cy="274320"/>
          </a:xfrm>
          <a:prstGeom prst="rect">
            <a:avLst/>
          </a:prstGeom>
          <a:noFill/>
          <a:ln/>
        </p:spPr>
        <p:txBody>
          <a:bodyPr wrap="square" lIns="0" tIns="0" rIns="0" bIns="0" rtlCol="0" anchor="ctr"/>
          <a:lstStyle/>
          <a:p>
            <a:pPr indent="0" marL="0">
              <a:buNone/>
            </a:pPr>
            <a:r>
              <a:rPr lang="en-US" sz="1100" b="1" dirty="0">
                <a:solidFill>
                  <a:srgbClr val="B4BCD0"/>
                </a:solidFill>
                <a:latin typeface="Arial" pitchFamily="34" charset="0"/>
                <a:ea typeface="Arial" pitchFamily="34" charset="-122"/>
                <a:cs typeface="Arial" pitchFamily="34" charset="-120"/>
              </a:rPr>
              <a:t>✓</a:t>
            </a:r>
            <a:endParaRPr lang="en-US" sz="1100" dirty="0"/>
          </a:p>
        </p:txBody>
      </p:sp>
      <p:sp>
        <p:nvSpPr>
          <p:cNvPr id="10" name="Text 8"/>
          <p:cNvSpPr/>
          <p:nvPr/>
        </p:nvSpPr>
        <p:spPr>
          <a:xfrm>
            <a:off x="1207008" y="4343400"/>
            <a:ext cx="2523744" cy="274320"/>
          </a:xfrm>
          <a:prstGeom prst="rect">
            <a:avLst/>
          </a:prstGeom>
          <a:noFill/>
          <a:ln/>
        </p:spPr>
        <p:txBody>
          <a:bodyPr wrap="square" lIns="0" tIns="0" rIns="0" bIns="0" rtlCol="0" anchor="ctr"/>
          <a:lstStyle/>
          <a:p>
            <a:pPr indent="0" marL="0">
              <a:buNone/>
            </a:pPr>
            <a:r>
              <a:rPr lang="en-US" sz="1100" dirty="0">
                <a:solidFill>
                  <a:srgbClr val="B4BCD0"/>
                </a:solidFill>
                <a:latin typeface="Arial" pitchFamily="34" charset="0"/>
                <a:ea typeface="Arial" pitchFamily="34" charset="-122"/>
                <a:cs typeface="Arial" pitchFamily="34" charset="-120"/>
              </a:rPr>
              <a:t>Single team or repo</a:t>
            </a:r>
            <a:endParaRPr lang="en-US" sz="1100" dirty="0"/>
          </a:p>
        </p:txBody>
      </p:sp>
      <p:sp>
        <p:nvSpPr>
          <p:cNvPr id="11" name="Text 9"/>
          <p:cNvSpPr/>
          <p:nvPr/>
        </p:nvSpPr>
        <p:spPr>
          <a:xfrm>
            <a:off x="932688" y="4754880"/>
            <a:ext cx="274320" cy="274320"/>
          </a:xfrm>
          <a:prstGeom prst="rect">
            <a:avLst/>
          </a:prstGeom>
          <a:noFill/>
          <a:ln/>
        </p:spPr>
        <p:txBody>
          <a:bodyPr wrap="square" lIns="0" tIns="0" rIns="0" bIns="0" rtlCol="0" anchor="ctr"/>
          <a:lstStyle/>
          <a:p>
            <a:pPr indent="0" marL="0">
              <a:buNone/>
            </a:pPr>
            <a:r>
              <a:rPr lang="en-US" sz="1100" b="1" dirty="0">
                <a:solidFill>
                  <a:srgbClr val="B4BCD0"/>
                </a:solidFill>
                <a:latin typeface="Arial" pitchFamily="34" charset="0"/>
                <a:ea typeface="Arial" pitchFamily="34" charset="-122"/>
                <a:cs typeface="Arial" pitchFamily="34" charset="-120"/>
              </a:rPr>
              <a:t>✓</a:t>
            </a:r>
            <a:endParaRPr lang="en-US" sz="1100" dirty="0"/>
          </a:p>
        </p:txBody>
      </p:sp>
      <p:sp>
        <p:nvSpPr>
          <p:cNvPr id="12" name="Text 10"/>
          <p:cNvSpPr/>
          <p:nvPr/>
        </p:nvSpPr>
        <p:spPr>
          <a:xfrm>
            <a:off x="1207008" y="4754880"/>
            <a:ext cx="2523744" cy="274320"/>
          </a:xfrm>
          <a:prstGeom prst="rect">
            <a:avLst/>
          </a:prstGeom>
          <a:noFill/>
          <a:ln/>
        </p:spPr>
        <p:txBody>
          <a:bodyPr wrap="square" lIns="0" tIns="0" rIns="0" bIns="0" rtlCol="0" anchor="ctr"/>
          <a:lstStyle/>
          <a:p>
            <a:pPr indent="0" marL="0">
              <a:buNone/>
            </a:pPr>
            <a:r>
              <a:rPr lang="en-US" sz="1100" dirty="0">
                <a:solidFill>
                  <a:srgbClr val="B4BCD0"/>
                </a:solidFill>
                <a:latin typeface="Arial" pitchFamily="34" charset="0"/>
                <a:ea typeface="Arial" pitchFamily="34" charset="-122"/>
                <a:cs typeface="Arial" pitchFamily="34" charset="-120"/>
              </a:rPr>
              <a:t>Community support</a:t>
            </a:r>
            <a:endParaRPr lang="en-US" sz="1100" dirty="0"/>
          </a:p>
        </p:txBody>
      </p:sp>
      <p:sp>
        <p:nvSpPr>
          <p:cNvPr id="13" name="Shape 11"/>
          <p:cNvSpPr/>
          <p:nvPr/>
        </p:nvSpPr>
        <p:spPr>
          <a:xfrm>
            <a:off x="932688" y="5010912"/>
            <a:ext cx="2761488" cy="0"/>
          </a:xfrm>
          <a:prstGeom prst="line">
            <a:avLst/>
          </a:prstGeom>
          <a:noFill/>
          <a:ln w="9525">
            <a:solidFill>
              <a:srgbClr val="26282E"/>
            </a:solidFill>
            <a:prstDash val="solid"/>
          </a:ln>
        </p:spPr>
      </p:sp>
      <p:sp>
        <p:nvSpPr>
          <p:cNvPr id="14" name="Text 12"/>
          <p:cNvSpPr/>
          <p:nvPr/>
        </p:nvSpPr>
        <p:spPr>
          <a:xfrm>
            <a:off x="932688" y="5120640"/>
            <a:ext cx="2798064" cy="320040"/>
          </a:xfrm>
          <a:prstGeom prst="rect">
            <a:avLst/>
          </a:prstGeom>
          <a:noFill/>
          <a:ln/>
        </p:spPr>
        <p:txBody>
          <a:bodyPr wrap="square" lIns="0" tIns="0" rIns="0" bIns="0" rtlCol="0" anchor="ctr"/>
          <a:lstStyle/>
          <a:p>
            <a:pPr indent="0" marL="0">
              <a:buNone/>
            </a:pPr>
            <a:r>
              <a:rPr lang="en-US" sz="1050" i="1" dirty="0">
                <a:solidFill>
                  <a:srgbClr val="8A8F98"/>
                </a:solidFill>
                <a:latin typeface="Arial" pitchFamily="34" charset="0"/>
                <a:ea typeface="Arial" pitchFamily="34" charset="-122"/>
                <a:cs typeface="Arial" pitchFamily="34" charset="-120"/>
              </a:rPr>
              <a:t>Gets teams in the door</a:t>
            </a:r>
            <a:endParaRPr lang="en-US" sz="1050" dirty="0"/>
          </a:p>
        </p:txBody>
      </p:sp>
      <p:sp>
        <p:nvSpPr>
          <p:cNvPr id="15" name="Shape 13"/>
          <p:cNvSpPr/>
          <p:nvPr/>
        </p:nvSpPr>
        <p:spPr>
          <a:xfrm>
            <a:off x="4270248" y="2468880"/>
            <a:ext cx="3346704" cy="3108960"/>
          </a:xfrm>
          <a:prstGeom prst="roundRect">
            <a:avLst>
              <a:gd name="adj" fmla="val 2647"/>
            </a:avLst>
          </a:prstGeom>
          <a:solidFill>
            <a:srgbClr val="12132A"/>
          </a:solidFill>
          <a:ln w="12700">
            <a:solidFill>
              <a:srgbClr val="3A3B6A"/>
            </a:solidFill>
            <a:prstDash val="solid"/>
          </a:ln>
          <a:effectLst>
            <a:outerShdw sx="100000" sy="100000" kx="0" ky="0" algn="bl" rotWithShape="0" blurRad="127000" dist="50800" dir="5400000">
              <a:srgbClr val="000000">
                <a:alpha val="35000"/>
              </a:srgbClr>
            </a:outerShdw>
          </a:effectLst>
        </p:spPr>
      </p:sp>
      <p:sp>
        <p:nvSpPr>
          <p:cNvPr id="16" name="Shape 14"/>
          <p:cNvSpPr/>
          <p:nvPr/>
        </p:nvSpPr>
        <p:spPr>
          <a:xfrm>
            <a:off x="5120640" y="2313432"/>
            <a:ext cx="1645920" cy="310896"/>
          </a:xfrm>
          <a:prstGeom prst="roundRect">
            <a:avLst>
              <a:gd name="adj" fmla="val 50000"/>
            </a:avLst>
          </a:prstGeom>
          <a:solidFill>
            <a:srgbClr val="1A1B3A"/>
          </a:solidFill>
          <a:ln w="12700">
            <a:solidFill>
              <a:srgbClr val="3A3B6A"/>
            </a:solidFill>
            <a:prstDash val="solid"/>
          </a:ln>
        </p:spPr>
      </p:sp>
      <p:sp>
        <p:nvSpPr>
          <p:cNvPr id="17" name="Text 15"/>
          <p:cNvSpPr/>
          <p:nvPr/>
        </p:nvSpPr>
        <p:spPr>
          <a:xfrm>
            <a:off x="5120640" y="2313432"/>
            <a:ext cx="1645920" cy="310896"/>
          </a:xfrm>
          <a:prstGeom prst="rect">
            <a:avLst/>
          </a:prstGeom>
          <a:noFill/>
          <a:ln/>
        </p:spPr>
        <p:txBody>
          <a:bodyPr wrap="square" lIns="0" tIns="0" rIns="0" bIns="0" rtlCol="0" anchor="ctr"/>
          <a:lstStyle/>
          <a:p>
            <a:pPr algn="ctr" indent="0" marL="0">
              <a:buNone/>
            </a:pPr>
            <a:r>
              <a:rPr lang="en-US" sz="1000" b="1" dirty="0">
                <a:solidFill>
                  <a:srgbClr val="B59AFF"/>
                </a:solidFill>
                <a:latin typeface="Arial" pitchFamily="34" charset="0"/>
                <a:ea typeface="Arial" pitchFamily="34" charset="-122"/>
                <a:cs typeface="Arial" pitchFamily="34" charset="-120"/>
              </a:rPr>
              <a:t>MOST POPULAR</a:t>
            </a:r>
            <a:endParaRPr lang="en-US" sz="1000" dirty="0"/>
          </a:p>
        </p:txBody>
      </p:sp>
      <p:sp>
        <p:nvSpPr>
          <p:cNvPr id="18" name="Text 16"/>
          <p:cNvSpPr/>
          <p:nvPr/>
        </p:nvSpPr>
        <p:spPr>
          <a:xfrm>
            <a:off x="4562856" y="2743200"/>
            <a:ext cx="2798064" cy="365760"/>
          </a:xfrm>
          <a:prstGeom prst="rect">
            <a:avLst/>
          </a:prstGeom>
          <a:noFill/>
          <a:ln/>
        </p:spPr>
        <p:txBody>
          <a:bodyPr wrap="square" lIns="0" tIns="0" rIns="0" bIns="0" rtlCol="0" anchor="ctr"/>
          <a:lstStyle/>
          <a:p>
            <a:pPr indent="0" marL="0">
              <a:buNone/>
            </a:pPr>
            <a:r>
              <a:rPr lang="en-US" sz="1600" b="1" dirty="0">
                <a:solidFill>
                  <a:srgbClr val="F7F8F8"/>
                </a:solidFill>
                <a:latin typeface="Arial" pitchFamily="34" charset="0"/>
                <a:ea typeface="Arial" pitchFamily="34" charset="-122"/>
                <a:cs typeface="Arial" pitchFamily="34" charset="-120"/>
              </a:rPr>
              <a:t>Team</a:t>
            </a:r>
            <a:endParaRPr lang="en-US" sz="1600" dirty="0"/>
          </a:p>
        </p:txBody>
      </p:sp>
      <p:sp>
        <p:nvSpPr>
          <p:cNvPr id="19" name="Text 17"/>
          <p:cNvSpPr/>
          <p:nvPr/>
        </p:nvSpPr>
        <p:spPr>
          <a:xfrm>
            <a:off x="4562856" y="3127248"/>
            <a:ext cx="2798064" cy="594360"/>
          </a:xfrm>
          <a:prstGeom prst="rect">
            <a:avLst/>
          </a:prstGeom>
          <a:noFill/>
          <a:ln/>
        </p:spPr>
        <p:txBody>
          <a:bodyPr wrap="square" lIns="0" tIns="0" rIns="0" bIns="0" rtlCol="0" anchor="ctr"/>
          <a:lstStyle/>
          <a:p>
            <a:pPr indent="0" marL="0">
              <a:buNone/>
            </a:pPr>
            <a:r>
              <a:rPr lang="en-US" sz="3000" b="1" dirty="0">
                <a:solidFill>
                  <a:srgbClr val="B59AFF"/>
                </a:solidFill>
                <a:latin typeface="Arial" pitchFamily="34" charset="0"/>
                <a:ea typeface="Arial" pitchFamily="34" charset="-122"/>
                <a:cs typeface="Arial" pitchFamily="34" charset="-120"/>
              </a:rPr>
              <a:t>~$30</a:t>
            </a:r>
            <a:pPr indent="0" marL="0">
              <a:buNone/>
            </a:pPr>
            <a:r>
              <a:rPr lang="en-US" sz="1200" dirty="0">
                <a:solidFill>
                  <a:srgbClr val="8A8F98"/>
                </a:solidFill>
                <a:latin typeface="Arial" pitchFamily="34" charset="0"/>
                <a:ea typeface="Arial" pitchFamily="34" charset="-122"/>
                <a:cs typeface="Arial" pitchFamily="34" charset="-120"/>
              </a:rPr>
              <a:t> /dev / mo</a:t>
            </a:r>
            <a:endParaRPr lang="en-US" sz="3000" dirty="0"/>
          </a:p>
        </p:txBody>
      </p:sp>
      <p:sp>
        <p:nvSpPr>
          <p:cNvPr id="20" name="Text 18"/>
          <p:cNvSpPr/>
          <p:nvPr/>
        </p:nvSpPr>
        <p:spPr>
          <a:xfrm>
            <a:off x="4562856" y="3931920"/>
            <a:ext cx="274320" cy="274320"/>
          </a:xfrm>
          <a:prstGeom prst="rect">
            <a:avLst/>
          </a:prstGeom>
          <a:noFill/>
          <a:ln/>
        </p:spPr>
        <p:txBody>
          <a:bodyPr wrap="square" lIns="0" tIns="0" rIns="0" bIns="0" rtlCol="0" anchor="ctr"/>
          <a:lstStyle/>
          <a:p>
            <a:pPr indent="0" marL="0">
              <a:buNone/>
            </a:pPr>
            <a:r>
              <a:rPr lang="en-US" sz="1100" b="1" dirty="0">
                <a:solidFill>
                  <a:srgbClr val="B59AFF"/>
                </a:solidFill>
                <a:latin typeface="Arial" pitchFamily="34" charset="0"/>
                <a:ea typeface="Arial" pitchFamily="34" charset="-122"/>
                <a:cs typeface="Arial" pitchFamily="34" charset="-120"/>
              </a:rPr>
              <a:t>✓</a:t>
            </a:r>
            <a:endParaRPr lang="en-US" sz="1100" dirty="0"/>
          </a:p>
        </p:txBody>
      </p:sp>
      <p:sp>
        <p:nvSpPr>
          <p:cNvPr id="21" name="Text 19"/>
          <p:cNvSpPr/>
          <p:nvPr/>
        </p:nvSpPr>
        <p:spPr>
          <a:xfrm>
            <a:off x="4837176" y="3931920"/>
            <a:ext cx="2523744" cy="274320"/>
          </a:xfrm>
          <a:prstGeom prst="rect">
            <a:avLst/>
          </a:prstGeom>
          <a:noFill/>
          <a:ln/>
        </p:spPr>
        <p:txBody>
          <a:bodyPr wrap="square" lIns="0" tIns="0" rIns="0" bIns="0" rtlCol="0" anchor="ctr"/>
          <a:lstStyle/>
          <a:p>
            <a:pPr indent="0" marL="0">
              <a:buNone/>
            </a:pPr>
            <a:r>
              <a:rPr lang="en-US" sz="1100" dirty="0">
                <a:solidFill>
                  <a:srgbClr val="B4BCD0"/>
                </a:solidFill>
                <a:latin typeface="Arial" pitchFamily="34" charset="0"/>
                <a:ea typeface="Arial" pitchFamily="34" charset="-122"/>
                <a:cs typeface="Arial" pitchFamily="34" charset="-120"/>
              </a:rPr>
              <a:t>Managed hosting</a:t>
            </a:r>
            <a:endParaRPr lang="en-US" sz="1100" dirty="0"/>
          </a:p>
        </p:txBody>
      </p:sp>
      <p:sp>
        <p:nvSpPr>
          <p:cNvPr id="22" name="Text 20"/>
          <p:cNvSpPr/>
          <p:nvPr/>
        </p:nvSpPr>
        <p:spPr>
          <a:xfrm>
            <a:off x="4562856" y="4343400"/>
            <a:ext cx="274320" cy="274320"/>
          </a:xfrm>
          <a:prstGeom prst="rect">
            <a:avLst/>
          </a:prstGeom>
          <a:noFill/>
          <a:ln/>
        </p:spPr>
        <p:txBody>
          <a:bodyPr wrap="square" lIns="0" tIns="0" rIns="0" bIns="0" rtlCol="0" anchor="ctr"/>
          <a:lstStyle/>
          <a:p>
            <a:pPr indent="0" marL="0">
              <a:buNone/>
            </a:pPr>
            <a:r>
              <a:rPr lang="en-US" sz="1100" b="1" dirty="0">
                <a:solidFill>
                  <a:srgbClr val="B59AFF"/>
                </a:solidFill>
                <a:latin typeface="Arial" pitchFamily="34" charset="0"/>
                <a:ea typeface="Arial" pitchFamily="34" charset="-122"/>
                <a:cs typeface="Arial" pitchFamily="34" charset="-120"/>
              </a:rPr>
              <a:t>✓</a:t>
            </a:r>
            <a:endParaRPr lang="en-US" sz="1100" dirty="0"/>
          </a:p>
        </p:txBody>
      </p:sp>
      <p:sp>
        <p:nvSpPr>
          <p:cNvPr id="23" name="Text 21"/>
          <p:cNvSpPr/>
          <p:nvPr/>
        </p:nvSpPr>
        <p:spPr>
          <a:xfrm>
            <a:off x="4837176" y="4343400"/>
            <a:ext cx="2523744" cy="274320"/>
          </a:xfrm>
          <a:prstGeom prst="rect">
            <a:avLst/>
          </a:prstGeom>
          <a:noFill/>
          <a:ln/>
        </p:spPr>
        <p:txBody>
          <a:bodyPr wrap="square" lIns="0" tIns="0" rIns="0" bIns="0" rtlCol="0" anchor="ctr"/>
          <a:lstStyle/>
          <a:p>
            <a:pPr indent="0" marL="0">
              <a:buNone/>
            </a:pPr>
            <a:r>
              <a:rPr lang="en-US" sz="1100" dirty="0">
                <a:solidFill>
                  <a:srgbClr val="B4BCD0"/>
                </a:solidFill>
                <a:latin typeface="Arial" pitchFamily="34" charset="0"/>
                <a:ea typeface="Arial" pitchFamily="34" charset="-122"/>
                <a:cs typeface="Arial" pitchFamily="34" charset="-120"/>
              </a:rPr>
              <a:t>Code review agents</a:t>
            </a:r>
            <a:endParaRPr lang="en-US" sz="1100" dirty="0"/>
          </a:p>
        </p:txBody>
      </p:sp>
      <p:sp>
        <p:nvSpPr>
          <p:cNvPr id="24" name="Text 22"/>
          <p:cNvSpPr/>
          <p:nvPr/>
        </p:nvSpPr>
        <p:spPr>
          <a:xfrm>
            <a:off x="4562856" y="4754880"/>
            <a:ext cx="274320" cy="274320"/>
          </a:xfrm>
          <a:prstGeom prst="rect">
            <a:avLst/>
          </a:prstGeom>
          <a:noFill/>
          <a:ln/>
        </p:spPr>
        <p:txBody>
          <a:bodyPr wrap="square" lIns="0" tIns="0" rIns="0" bIns="0" rtlCol="0" anchor="ctr"/>
          <a:lstStyle/>
          <a:p>
            <a:pPr indent="0" marL="0">
              <a:buNone/>
            </a:pPr>
            <a:r>
              <a:rPr lang="en-US" sz="1100" b="1" dirty="0">
                <a:solidFill>
                  <a:srgbClr val="B59AFF"/>
                </a:solidFill>
                <a:latin typeface="Arial" pitchFamily="34" charset="0"/>
                <a:ea typeface="Arial" pitchFamily="34" charset="-122"/>
                <a:cs typeface="Arial" pitchFamily="34" charset="-120"/>
              </a:rPr>
              <a:t>✓</a:t>
            </a:r>
            <a:endParaRPr lang="en-US" sz="1100" dirty="0"/>
          </a:p>
        </p:txBody>
      </p:sp>
      <p:sp>
        <p:nvSpPr>
          <p:cNvPr id="25" name="Text 23"/>
          <p:cNvSpPr/>
          <p:nvPr/>
        </p:nvSpPr>
        <p:spPr>
          <a:xfrm>
            <a:off x="4837176" y="4754880"/>
            <a:ext cx="2523744" cy="274320"/>
          </a:xfrm>
          <a:prstGeom prst="rect">
            <a:avLst/>
          </a:prstGeom>
          <a:noFill/>
          <a:ln/>
        </p:spPr>
        <p:txBody>
          <a:bodyPr wrap="square" lIns="0" tIns="0" rIns="0" bIns="0" rtlCol="0" anchor="ctr"/>
          <a:lstStyle/>
          <a:p>
            <a:pPr indent="0" marL="0">
              <a:buNone/>
            </a:pPr>
            <a:r>
              <a:rPr lang="en-US" sz="1100" dirty="0">
                <a:solidFill>
                  <a:srgbClr val="B4BCD0"/>
                </a:solidFill>
                <a:latin typeface="Arial" pitchFamily="34" charset="0"/>
                <a:ea typeface="Arial" pitchFamily="34" charset="-122"/>
                <a:cs typeface="Arial" pitchFamily="34" charset="-120"/>
              </a:rPr>
              <a:t>Shared memory and telemetry</a:t>
            </a:r>
            <a:endParaRPr lang="en-US" sz="1100" dirty="0"/>
          </a:p>
        </p:txBody>
      </p:sp>
      <p:sp>
        <p:nvSpPr>
          <p:cNvPr id="26" name="Shape 24"/>
          <p:cNvSpPr/>
          <p:nvPr/>
        </p:nvSpPr>
        <p:spPr>
          <a:xfrm>
            <a:off x="4562856" y="5010912"/>
            <a:ext cx="2761488" cy="0"/>
          </a:xfrm>
          <a:prstGeom prst="line">
            <a:avLst/>
          </a:prstGeom>
          <a:noFill/>
          <a:ln w="9525">
            <a:solidFill>
              <a:srgbClr val="26282E"/>
            </a:solidFill>
            <a:prstDash val="solid"/>
          </a:ln>
        </p:spPr>
      </p:sp>
      <p:sp>
        <p:nvSpPr>
          <p:cNvPr id="27" name="Text 25"/>
          <p:cNvSpPr/>
          <p:nvPr/>
        </p:nvSpPr>
        <p:spPr>
          <a:xfrm>
            <a:off x="4562856" y="5120640"/>
            <a:ext cx="2798064" cy="320040"/>
          </a:xfrm>
          <a:prstGeom prst="rect">
            <a:avLst/>
          </a:prstGeom>
          <a:noFill/>
          <a:ln/>
        </p:spPr>
        <p:txBody>
          <a:bodyPr wrap="square" lIns="0" tIns="0" rIns="0" bIns="0" rtlCol="0" anchor="ctr"/>
          <a:lstStyle/>
          <a:p>
            <a:pPr indent="0" marL="0">
              <a:buNone/>
            </a:pPr>
            <a:r>
              <a:rPr lang="en-US" sz="1050" i="1" dirty="0">
                <a:solidFill>
                  <a:srgbClr val="8A8F98"/>
                </a:solidFill>
                <a:latin typeface="Arial" pitchFamily="34" charset="0"/>
                <a:ea typeface="Arial" pitchFamily="34" charset="-122"/>
                <a:cs typeface="Arial" pitchFamily="34" charset="-120"/>
              </a:rPr>
              <a:t>Where the revenue comes from</a:t>
            </a:r>
            <a:endParaRPr lang="en-US" sz="1050" dirty="0"/>
          </a:p>
        </p:txBody>
      </p:sp>
      <p:sp>
        <p:nvSpPr>
          <p:cNvPr id="28" name="Shape 26"/>
          <p:cNvSpPr/>
          <p:nvPr/>
        </p:nvSpPr>
        <p:spPr>
          <a:xfrm>
            <a:off x="7900416" y="2468880"/>
            <a:ext cx="3346704" cy="3108960"/>
          </a:xfrm>
          <a:prstGeom prst="roundRect">
            <a:avLst>
              <a:gd name="adj" fmla="val 2647"/>
            </a:avLst>
          </a:prstGeom>
          <a:solidFill>
            <a:srgbClr val="131418"/>
          </a:solidFill>
          <a:ln w="12700">
            <a:solidFill>
              <a:srgbClr val="26282E"/>
            </a:solidFill>
            <a:prstDash val="solid"/>
          </a:ln>
          <a:effectLst>
            <a:outerShdw sx="100000" sy="100000" kx="0" ky="0" algn="bl" rotWithShape="0" blurRad="127000" dist="50800" dir="5400000">
              <a:srgbClr val="000000">
                <a:alpha val="35000"/>
              </a:srgbClr>
            </a:outerShdw>
          </a:effectLst>
        </p:spPr>
      </p:sp>
      <p:sp>
        <p:nvSpPr>
          <p:cNvPr id="29" name="Text 27"/>
          <p:cNvSpPr/>
          <p:nvPr/>
        </p:nvSpPr>
        <p:spPr>
          <a:xfrm>
            <a:off x="8193024" y="2743200"/>
            <a:ext cx="2798064" cy="365760"/>
          </a:xfrm>
          <a:prstGeom prst="rect">
            <a:avLst/>
          </a:prstGeom>
          <a:noFill/>
          <a:ln/>
        </p:spPr>
        <p:txBody>
          <a:bodyPr wrap="square" lIns="0" tIns="0" rIns="0" bIns="0" rtlCol="0" anchor="ctr"/>
          <a:lstStyle/>
          <a:p>
            <a:pPr indent="0" marL="0">
              <a:buNone/>
            </a:pPr>
            <a:r>
              <a:rPr lang="en-US" sz="1600" b="1" dirty="0">
                <a:solidFill>
                  <a:srgbClr val="F7F8F8"/>
                </a:solidFill>
                <a:latin typeface="Arial" pitchFamily="34" charset="0"/>
                <a:ea typeface="Arial" pitchFamily="34" charset="-122"/>
                <a:cs typeface="Arial" pitchFamily="34" charset="-120"/>
              </a:rPr>
              <a:t>Enterprise</a:t>
            </a:r>
            <a:endParaRPr lang="en-US" sz="1600" dirty="0"/>
          </a:p>
        </p:txBody>
      </p:sp>
      <p:sp>
        <p:nvSpPr>
          <p:cNvPr id="30" name="Text 28"/>
          <p:cNvSpPr/>
          <p:nvPr/>
        </p:nvSpPr>
        <p:spPr>
          <a:xfrm>
            <a:off x="8193024" y="3127248"/>
            <a:ext cx="2798064" cy="594360"/>
          </a:xfrm>
          <a:prstGeom prst="rect">
            <a:avLst/>
          </a:prstGeom>
          <a:noFill/>
          <a:ln/>
        </p:spPr>
        <p:txBody>
          <a:bodyPr wrap="square" lIns="0" tIns="0" rIns="0" bIns="0" rtlCol="0" anchor="ctr"/>
          <a:lstStyle/>
          <a:p>
            <a:pPr indent="0" marL="0">
              <a:buNone/>
            </a:pPr>
            <a:r>
              <a:rPr lang="en-US" sz="3000" b="1" dirty="0">
                <a:solidFill>
                  <a:srgbClr val="4ADE80"/>
                </a:solidFill>
                <a:latin typeface="Arial" pitchFamily="34" charset="0"/>
                <a:ea typeface="Arial" pitchFamily="34" charset="-122"/>
                <a:cs typeface="Arial" pitchFamily="34" charset="-120"/>
              </a:rPr>
              <a:t>Custom</a:t>
            </a:r>
            <a:endParaRPr lang="en-US" sz="3000" dirty="0"/>
          </a:p>
        </p:txBody>
      </p:sp>
      <p:sp>
        <p:nvSpPr>
          <p:cNvPr id="31" name="Text 29"/>
          <p:cNvSpPr/>
          <p:nvPr/>
        </p:nvSpPr>
        <p:spPr>
          <a:xfrm>
            <a:off x="8193024" y="3931920"/>
            <a:ext cx="274320" cy="274320"/>
          </a:xfrm>
          <a:prstGeom prst="rect">
            <a:avLst/>
          </a:prstGeom>
          <a:noFill/>
          <a:ln/>
        </p:spPr>
        <p:txBody>
          <a:bodyPr wrap="square" lIns="0" tIns="0" rIns="0" bIns="0" rtlCol="0" anchor="ctr"/>
          <a:lstStyle/>
          <a:p>
            <a:pPr indent="0" marL="0">
              <a:buNone/>
            </a:pPr>
            <a:r>
              <a:rPr lang="en-US" sz="1100" b="1" dirty="0">
                <a:solidFill>
                  <a:srgbClr val="4ADE80"/>
                </a:solidFill>
                <a:latin typeface="Arial" pitchFamily="34" charset="0"/>
                <a:ea typeface="Arial" pitchFamily="34" charset="-122"/>
                <a:cs typeface="Arial" pitchFamily="34" charset="-120"/>
              </a:rPr>
              <a:t>✓</a:t>
            </a:r>
            <a:endParaRPr lang="en-US" sz="1100" dirty="0"/>
          </a:p>
        </p:txBody>
      </p:sp>
      <p:sp>
        <p:nvSpPr>
          <p:cNvPr id="32" name="Text 30"/>
          <p:cNvSpPr/>
          <p:nvPr/>
        </p:nvSpPr>
        <p:spPr>
          <a:xfrm>
            <a:off x="8467344" y="3931920"/>
            <a:ext cx="2523744" cy="274320"/>
          </a:xfrm>
          <a:prstGeom prst="rect">
            <a:avLst/>
          </a:prstGeom>
          <a:noFill/>
          <a:ln/>
        </p:spPr>
        <p:txBody>
          <a:bodyPr wrap="square" lIns="0" tIns="0" rIns="0" bIns="0" rtlCol="0" anchor="ctr"/>
          <a:lstStyle/>
          <a:p>
            <a:pPr indent="0" marL="0">
              <a:buNone/>
            </a:pPr>
            <a:r>
              <a:rPr lang="en-US" sz="1100" dirty="0">
                <a:solidFill>
                  <a:srgbClr val="B4BCD0"/>
                </a:solidFill>
                <a:latin typeface="Arial" pitchFamily="34" charset="0"/>
                <a:ea typeface="Arial" pitchFamily="34" charset="-122"/>
                <a:cs typeface="Arial" pitchFamily="34" charset="-120"/>
              </a:rPr>
              <a:t>SSO, audit, on-prem</a:t>
            </a:r>
            <a:endParaRPr lang="en-US" sz="1100" dirty="0"/>
          </a:p>
        </p:txBody>
      </p:sp>
      <p:sp>
        <p:nvSpPr>
          <p:cNvPr id="33" name="Text 31"/>
          <p:cNvSpPr/>
          <p:nvPr/>
        </p:nvSpPr>
        <p:spPr>
          <a:xfrm>
            <a:off x="8193024" y="4343400"/>
            <a:ext cx="274320" cy="274320"/>
          </a:xfrm>
          <a:prstGeom prst="rect">
            <a:avLst/>
          </a:prstGeom>
          <a:noFill/>
          <a:ln/>
        </p:spPr>
        <p:txBody>
          <a:bodyPr wrap="square" lIns="0" tIns="0" rIns="0" bIns="0" rtlCol="0" anchor="ctr"/>
          <a:lstStyle/>
          <a:p>
            <a:pPr indent="0" marL="0">
              <a:buNone/>
            </a:pPr>
            <a:r>
              <a:rPr lang="en-US" sz="1100" b="1" dirty="0">
                <a:solidFill>
                  <a:srgbClr val="4ADE80"/>
                </a:solidFill>
                <a:latin typeface="Arial" pitchFamily="34" charset="0"/>
                <a:ea typeface="Arial" pitchFamily="34" charset="-122"/>
                <a:cs typeface="Arial" pitchFamily="34" charset="-120"/>
              </a:rPr>
              <a:t>✓</a:t>
            </a:r>
            <a:endParaRPr lang="en-US" sz="1100" dirty="0"/>
          </a:p>
        </p:txBody>
      </p:sp>
      <p:sp>
        <p:nvSpPr>
          <p:cNvPr id="34" name="Text 32"/>
          <p:cNvSpPr/>
          <p:nvPr/>
        </p:nvSpPr>
        <p:spPr>
          <a:xfrm>
            <a:off x="8467344" y="4343400"/>
            <a:ext cx="2523744" cy="274320"/>
          </a:xfrm>
          <a:prstGeom prst="rect">
            <a:avLst/>
          </a:prstGeom>
          <a:noFill/>
          <a:ln/>
        </p:spPr>
        <p:txBody>
          <a:bodyPr wrap="square" lIns="0" tIns="0" rIns="0" bIns="0" rtlCol="0" anchor="ctr"/>
          <a:lstStyle/>
          <a:p>
            <a:pPr indent="0" marL="0">
              <a:buNone/>
            </a:pPr>
            <a:r>
              <a:rPr lang="en-US" sz="1100" dirty="0">
                <a:solidFill>
                  <a:srgbClr val="B4BCD0"/>
                </a:solidFill>
                <a:latin typeface="Arial" pitchFamily="34" charset="0"/>
                <a:ea typeface="Arial" pitchFamily="34" charset="-122"/>
                <a:cs typeface="Arial" pitchFamily="34" charset="-120"/>
              </a:rPr>
              <a:t>SLA and onboarding</a:t>
            </a:r>
            <a:endParaRPr lang="en-US" sz="1100" dirty="0"/>
          </a:p>
        </p:txBody>
      </p:sp>
      <p:sp>
        <p:nvSpPr>
          <p:cNvPr id="35" name="Text 33"/>
          <p:cNvSpPr/>
          <p:nvPr/>
        </p:nvSpPr>
        <p:spPr>
          <a:xfrm>
            <a:off x="8193024" y="4754880"/>
            <a:ext cx="274320" cy="274320"/>
          </a:xfrm>
          <a:prstGeom prst="rect">
            <a:avLst/>
          </a:prstGeom>
          <a:noFill/>
          <a:ln/>
        </p:spPr>
        <p:txBody>
          <a:bodyPr wrap="square" lIns="0" tIns="0" rIns="0" bIns="0" rtlCol="0" anchor="ctr"/>
          <a:lstStyle/>
          <a:p>
            <a:pPr indent="0" marL="0">
              <a:buNone/>
            </a:pPr>
            <a:r>
              <a:rPr lang="en-US" sz="1100" b="1" dirty="0">
                <a:solidFill>
                  <a:srgbClr val="4ADE80"/>
                </a:solidFill>
                <a:latin typeface="Arial" pitchFamily="34" charset="0"/>
                <a:ea typeface="Arial" pitchFamily="34" charset="-122"/>
                <a:cs typeface="Arial" pitchFamily="34" charset="-120"/>
              </a:rPr>
              <a:t>✓</a:t>
            </a:r>
            <a:endParaRPr lang="en-US" sz="1100" dirty="0"/>
          </a:p>
        </p:txBody>
      </p:sp>
      <p:sp>
        <p:nvSpPr>
          <p:cNvPr id="36" name="Text 34"/>
          <p:cNvSpPr/>
          <p:nvPr/>
        </p:nvSpPr>
        <p:spPr>
          <a:xfrm>
            <a:off x="8467344" y="4754880"/>
            <a:ext cx="2523744" cy="274320"/>
          </a:xfrm>
          <a:prstGeom prst="rect">
            <a:avLst/>
          </a:prstGeom>
          <a:noFill/>
          <a:ln/>
        </p:spPr>
        <p:txBody>
          <a:bodyPr wrap="square" lIns="0" tIns="0" rIns="0" bIns="0" rtlCol="0" anchor="ctr"/>
          <a:lstStyle/>
          <a:p>
            <a:pPr indent="0" marL="0">
              <a:buNone/>
            </a:pPr>
            <a:r>
              <a:rPr lang="en-US" sz="1100" dirty="0">
                <a:solidFill>
                  <a:srgbClr val="B4BCD0"/>
                </a:solidFill>
                <a:latin typeface="Arial" pitchFamily="34" charset="0"/>
                <a:ea typeface="Arial" pitchFamily="34" charset="-122"/>
                <a:cs typeface="Arial" pitchFamily="34" charset="-120"/>
              </a:rPr>
              <a:t>Governance and analytics</a:t>
            </a:r>
            <a:endParaRPr lang="en-US" sz="1100" dirty="0"/>
          </a:p>
        </p:txBody>
      </p:sp>
      <p:sp>
        <p:nvSpPr>
          <p:cNvPr id="37" name="Shape 35"/>
          <p:cNvSpPr/>
          <p:nvPr/>
        </p:nvSpPr>
        <p:spPr>
          <a:xfrm>
            <a:off x="8193024" y="5010912"/>
            <a:ext cx="2761488" cy="0"/>
          </a:xfrm>
          <a:prstGeom prst="line">
            <a:avLst/>
          </a:prstGeom>
          <a:noFill/>
          <a:ln w="9525">
            <a:solidFill>
              <a:srgbClr val="26282E"/>
            </a:solidFill>
            <a:prstDash val="solid"/>
          </a:ln>
        </p:spPr>
      </p:sp>
      <p:sp>
        <p:nvSpPr>
          <p:cNvPr id="38" name="Text 36"/>
          <p:cNvSpPr/>
          <p:nvPr/>
        </p:nvSpPr>
        <p:spPr>
          <a:xfrm>
            <a:off x="8193024" y="5120640"/>
            <a:ext cx="2798064" cy="320040"/>
          </a:xfrm>
          <a:prstGeom prst="rect">
            <a:avLst/>
          </a:prstGeom>
          <a:noFill/>
          <a:ln/>
        </p:spPr>
        <p:txBody>
          <a:bodyPr wrap="square" lIns="0" tIns="0" rIns="0" bIns="0" rtlCol="0" anchor="ctr"/>
          <a:lstStyle/>
          <a:p>
            <a:pPr indent="0" marL="0">
              <a:buNone/>
            </a:pPr>
            <a:r>
              <a:rPr lang="en-US" sz="1050" i="1" dirty="0">
                <a:solidFill>
                  <a:srgbClr val="8A8F98"/>
                </a:solidFill>
                <a:latin typeface="Arial" pitchFamily="34" charset="0"/>
                <a:ea typeface="Arial" pitchFamily="34" charset="-122"/>
                <a:cs typeface="Arial" pitchFamily="34" charset="-120"/>
              </a:rPr>
              <a:t>Where accounts grow</a:t>
            </a:r>
            <a:endParaRPr lang="en-US" sz="1050" dirty="0"/>
          </a:p>
        </p:txBody>
      </p:sp>
      <p:sp>
        <p:nvSpPr>
          <p:cNvPr id="39" name="Text 37"/>
          <p:cNvSpPr/>
          <p:nvPr/>
        </p:nvSpPr>
        <p:spPr>
          <a:xfrm>
            <a:off x="640080" y="5897880"/>
            <a:ext cx="10927080" cy="365760"/>
          </a:xfrm>
          <a:prstGeom prst="rect">
            <a:avLst/>
          </a:prstGeom>
          <a:noFill/>
          <a:ln/>
        </p:spPr>
        <p:txBody>
          <a:bodyPr wrap="square" lIns="0" tIns="0" rIns="0" bIns="0" rtlCol="0" anchor="ctr"/>
          <a:lstStyle/>
          <a:p>
            <a:pPr algn="ctr" indent="0" marL="0">
              <a:buNone/>
            </a:pPr>
            <a:r>
              <a:rPr lang="en-US" sz="1150" dirty="0">
                <a:solidFill>
                  <a:srgbClr val="8A8F98"/>
                </a:solidFill>
                <a:latin typeface="Arial" pitchFamily="34" charset="0"/>
                <a:ea typeface="Arial" pitchFamily="34" charset="-122"/>
                <a:cs typeface="Arial" pitchFamily="34" charset="-120"/>
              </a:rPr>
              <a:t>Teams start on the free self-hosted version. As agent use spreads, they move to paid seats and the account grows.</a:t>
            </a:r>
            <a:endParaRPr lang="en-US" sz="1150" dirty="0"/>
          </a:p>
        </p:txBody>
      </p:sp>
      <p:sp>
        <p:nvSpPr>
          <p:cNvPr id="40" name="Text 38"/>
          <p:cNvSpPr/>
          <p:nvPr/>
        </p:nvSpPr>
        <p:spPr>
          <a:xfrm>
            <a:off x="640080" y="6400800"/>
            <a:ext cx="4572000" cy="274320"/>
          </a:xfrm>
          <a:prstGeom prst="rect">
            <a:avLst/>
          </a:prstGeom>
          <a:noFill/>
          <a:ln/>
        </p:spPr>
        <p:txBody>
          <a:bodyPr wrap="square" lIns="0" tIns="0" rIns="0" bIns="0" rtlCol="0" anchor="ctr"/>
          <a:lstStyle/>
          <a:p>
            <a:pPr algn="l" indent="0" marL="0">
              <a:buNone/>
            </a:pPr>
            <a:r>
              <a:rPr lang="en-US" sz="900" dirty="0">
                <a:solidFill>
                  <a:srgbClr val="8A8F98"/>
                </a:solidFill>
                <a:latin typeface="Arial" pitchFamily="34" charset="0"/>
                <a:ea typeface="Arial" pitchFamily="34" charset="-122"/>
                <a:cs typeface="Arial" pitchFamily="34" charset="-120"/>
              </a:rPr>
              <a:t>Biblio  ·  Wonderly</a:t>
            </a:r>
            <a:endParaRPr lang="en-US" sz="900" dirty="0"/>
          </a:p>
        </p:txBody>
      </p:sp>
      <p:sp>
        <p:nvSpPr>
          <p:cNvPr id="41" name="Text 39"/>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8A8F98"/>
                </a:solidFill>
                <a:latin typeface="Courier New" pitchFamily="34" charset="0"/>
                <a:ea typeface="Courier New" pitchFamily="34" charset="-122"/>
                <a:cs typeface="Courier New"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090A"/>
        </a:solidFill>
      </p:bgPr>
    </p:bg>
    <p:spTree>
      <p:nvGrpSpPr>
        <p:cNvPr id="1" name=""/>
        <p:cNvGrpSpPr/>
        <p:nvPr/>
      </p:nvGrpSpPr>
      <p:grpSpPr>
        <a:xfrm>
          <a:off x="0" y="0"/>
          <a:ext cx="0" cy="0"/>
          <a:chOff x="0" y="0"/>
          <a:chExt cx="0" cy="0"/>
        </a:xfrm>
      </p:grpSpPr>
      <p:sp>
        <p:nvSpPr>
          <p:cNvPr id="2" name="Text 0"/>
          <p:cNvSpPr/>
          <p:nvPr/>
        </p:nvSpPr>
        <p:spPr>
          <a:xfrm>
            <a:off x="640080" y="594360"/>
            <a:ext cx="7315200" cy="274320"/>
          </a:xfrm>
          <a:prstGeom prst="rect">
            <a:avLst/>
          </a:prstGeom>
          <a:noFill/>
          <a:ln/>
        </p:spPr>
        <p:txBody>
          <a:bodyPr wrap="square" lIns="0" tIns="0" rIns="0" bIns="0" rtlCol="0" anchor="ctr"/>
          <a:lstStyle/>
          <a:p>
            <a:pPr algn="l" indent="0" marL="0">
              <a:buNone/>
            </a:pPr>
            <a:r>
              <a:rPr lang="en-US" sz="1100" b="1" spc="300" kern="0" dirty="0">
                <a:solidFill>
                  <a:srgbClr val="B59AFF"/>
                </a:solidFill>
                <a:latin typeface="Arial" pitchFamily="34" charset="0"/>
                <a:ea typeface="Arial" pitchFamily="34" charset="-122"/>
                <a:cs typeface="Arial" pitchFamily="34" charset="-120"/>
              </a:rPr>
              <a:t>TRACTION &amp; GO-TO-MARKET</a:t>
            </a:r>
            <a:endParaRPr lang="en-US" sz="1100" dirty="0"/>
          </a:p>
        </p:txBody>
      </p:sp>
      <p:sp>
        <p:nvSpPr>
          <p:cNvPr id="3" name="Text 1"/>
          <p:cNvSpPr/>
          <p:nvPr/>
        </p:nvSpPr>
        <p:spPr>
          <a:xfrm>
            <a:off x="640080" y="960120"/>
            <a:ext cx="10972800" cy="1005840"/>
          </a:xfrm>
          <a:prstGeom prst="rect">
            <a:avLst/>
          </a:prstGeom>
          <a:noFill/>
          <a:ln/>
        </p:spPr>
        <p:txBody>
          <a:bodyPr wrap="square" lIns="0" tIns="0" rIns="0" bIns="0" rtlCol="0" anchor="t"/>
          <a:lstStyle/>
          <a:p>
            <a:pPr algn="l" indent="0" marL="0">
              <a:lnSpc>
                <a:spcPct val="100000"/>
              </a:lnSpc>
              <a:buNone/>
            </a:pPr>
            <a:r>
              <a:rPr lang="en-US" sz="2800" b="1" dirty="0">
                <a:solidFill>
                  <a:srgbClr val="F7F8F8"/>
                </a:solidFill>
                <a:latin typeface="Arial" pitchFamily="34" charset="0"/>
                <a:ea typeface="Arial" pitchFamily="34" charset="-122"/>
                <a:cs typeface="Arial" pitchFamily="34" charset="-120"/>
              </a:rPr>
              <a:t>Running inside Wonderly.</a:t>
            </a:r>
            <a:endParaRPr lang="en-US" sz="2800" dirty="0"/>
          </a:p>
          <a:p>
            <a:pPr algn="l" indent="0" marL="0">
              <a:lnSpc>
                <a:spcPct val="100000"/>
              </a:lnSpc>
              <a:buNone/>
            </a:pPr>
            <a:r>
              <a:rPr lang="en-US" sz="2800" b="1" dirty="0">
                <a:solidFill>
                  <a:srgbClr val="F7F8F8"/>
                </a:solidFill>
                <a:latin typeface="Arial" pitchFamily="34" charset="0"/>
                <a:ea typeface="Arial" pitchFamily="34" charset="-122"/>
                <a:cs typeface="Arial" pitchFamily="34" charset="-120"/>
              </a:rPr>
              <a:t>Opening up to design partners.</a:t>
            </a:r>
            <a:endParaRPr lang="en-US" sz="2800" dirty="0"/>
          </a:p>
        </p:txBody>
      </p:sp>
      <p:sp>
        <p:nvSpPr>
          <p:cNvPr id="4" name="Shape 2"/>
          <p:cNvSpPr/>
          <p:nvPr/>
        </p:nvSpPr>
        <p:spPr>
          <a:xfrm>
            <a:off x="640080" y="2377440"/>
            <a:ext cx="5029200" cy="1051560"/>
          </a:xfrm>
          <a:prstGeom prst="roundRect">
            <a:avLst>
              <a:gd name="adj" fmla="val 7826"/>
            </a:avLst>
          </a:prstGeom>
          <a:solidFill>
            <a:srgbClr val="131418"/>
          </a:solidFill>
          <a:ln w="12700">
            <a:solidFill>
              <a:srgbClr val="26282E"/>
            </a:solidFill>
            <a:prstDash val="solid"/>
          </a:ln>
          <a:effectLst>
            <a:outerShdw sx="100000" sy="100000" kx="0" ky="0" algn="bl" rotWithShape="0" blurRad="127000" dist="50800" dir="5400000">
              <a:srgbClr val="000000">
                <a:alpha val="35000"/>
              </a:srgbClr>
            </a:outerShdw>
          </a:effectLst>
        </p:spPr>
      </p:sp>
      <p:sp>
        <p:nvSpPr>
          <p:cNvPr id="5" name="Text 3"/>
          <p:cNvSpPr/>
          <p:nvPr/>
        </p:nvSpPr>
        <p:spPr>
          <a:xfrm>
            <a:off x="914400" y="2514600"/>
            <a:ext cx="4572000" cy="411480"/>
          </a:xfrm>
          <a:prstGeom prst="rect">
            <a:avLst/>
          </a:prstGeom>
          <a:noFill/>
          <a:ln/>
        </p:spPr>
        <p:txBody>
          <a:bodyPr wrap="square" lIns="0" tIns="0" rIns="0" bIns="0" rtlCol="0" anchor="ctr"/>
          <a:lstStyle/>
          <a:p>
            <a:pPr indent="0" marL="0">
              <a:buNone/>
            </a:pPr>
            <a:r>
              <a:rPr lang="en-US" sz="1900" b="1" dirty="0">
                <a:solidFill>
                  <a:srgbClr val="4ADE80"/>
                </a:solidFill>
                <a:latin typeface="Arial" pitchFamily="34" charset="0"/>
                <a:ea typeface="Arial" pitchFamily="34" charset="-122"/>
                <a:cs typeface="Arial" pitchFamily="34" charset="-120"/>
              </a:rPr>
              <a:t>In production</a:t>
            </a:r>
            <a:endParaRPr lang="en-US" sz="1900" dirty="0"/>
          </a:p>
        </p:txBody>
      </p:sp>
      <p:sp>
        <p:nvSpPr>
          <p:cNvPr id="6" name="Text 4"/>
          <p:cNvSpPr/>
          <p:nvPr/>
        </p:nvSpPr>
        <p:spPr>
          <a:xfrm>
            <a:off x="914400" y="2944368"/>
            <a:ext cx="4572000" cy="411480"/>
          </a:xfrm>
          <a:prstGeom prst="rect">
            <a:avLst/>
          </a:prstGeom>
          <a:noFill/>
          <a:ln/>
        </p:spPr>
        <p:txBody>
          <a:bodyPr wrap="square" lIns="0" tIns="0" rIns="0" bIns="0" rtlCol="0" anchor="ctr"/>
          <a:lstStyle/>
          <a:p>
            <a:pPr indent="0" marL="0">
              <a:lnSpc>
                <a:spcPct val="112000"/>
              </a:lnSpc>
              <a:buNone/>
            </a:pPr>
            <a:r>
              <a:rPr lang="en-US" sz="1050" dirty="0">
                <a:solidFill>
                  <a:srgbClr val="8A8F98"/>
                </a:solidFill>
                <a:latin typeface="Arial" pitchFamily="34" charset="0"/>
                <a:ea typeface="Arial" pitchFamily="34" charset="-122"/>
                <a:cs typeface="Arial" pitchFamily="34" charset="-120"/>
              </a:rPr>
              <a:t>Used by Wonderly's own engineering team today</a:t>
            </a:r>
            <a:endParaRPr lang="en-US" sz="1050" dirty="0"/>
          </a:p>
        </p:txBody>
      </p:sp>
      <p:sp>
        <p:nvSpPr>
          <p:cNvPr id="7" name="Shape 5"/>
          <p:cNvSpPr/>
          <p:nvPr/>
        </p:nvSpPr>
        <p:spPr>
          <a:xfrm>
            <a:off x="640080" y="3584448"/>
            <a:ext cx="5029200" cy="1051560"/>
          </a:xfrm>
          <a:prstGeom prst="roundRect">
            <a:avLst>
              <a:gd name="adj" fmla="val 7826"/>
            </a:avLst>
          </a:prstGeom>
          <a:solidFill>
            <a:srgbClr val="131418"/>
          </a:solidFill>
          <a:ln w="12700">
            <a:solidFill>
              <a:srgbClr val="26282E"/>
            </a:solidFill>
            <a:prstDash val="solid"/>
          </a:ln>
          <a:effectLst>
            <a:outerShdw sx="100000" sy="100000" kx="0" ky="0" algn="bl" rotWithShape="0" blurRad="127000" dist="50800" dir="5400000">
              <a:srgbClr val="000000">
                <a:alpha val="35000"/>
              </a:srgbClr>
            </a:outerShdw>
          </a:effectLst>
        </p:spPr>
      </p:sp>
      <p:sp>
        <p:nvSpPr>
          <p:cNvPr id="8" name="Text 6"/>
          <p:cNvSpPr/>
          <p:nvPr/>
        </p:nvSpPr>
        <p:spPr>
          <a:xfrm>
            <a:off x="914400" y="3721608"/>
            <a:ext cx="4572000" cy="411480"/>
          </a:xfrm>
          <a:prstGeom prst="rect">
            <a:avLst/>
          </a:prstGeom>
          <a:noFill/>
          <a:ln/>
        </p:spPr>
        <p:txBody>
          <a:bodyPr wrap="square" lIns="0" tIns="0" rIns="0" bIns="0" rtlCol="0" anchor="ctr"/>
          <a:lstStyle/>
          <a:p>
            <a:pPr indent="0" marL="0">
              <a:buNone/>
            </a:pPr>
            <a:r>
              <a:rPr lang="en-US" sz="1900" b="1" dirty="0">
                <a:solidFill>
                  <a:srgbClr val="B59AFF"/>
                </a:solidFill>
                <a:latin typeface="Arial" pitchFamily="34" charset="0"/>
                <a:ea typeface="Arial" pitchFamily="34" charset="-122"/>
                <a:cs typeface="Arial" pitchFamily="34" charset="-120"/>
              </a:rPr>
              <a:t>6 agents</a:t>
            </a:r>
            <a:endParaRPr lang="en-US" sz="1900" dirty="0"/>
          </a:p>
        </p:txBody>
      </p:sp>
      <p:sp>
        <p:nvSpPr>
          <p:cNvPr id="9" name="Text 7"/>
          <p:cNvSpPr/>
          <p:nvPr/>
        </p:nvSpPr>
        <p:spPr>
          <a:xfrm>
            <a:off x="914400" y="4151376"/>
            <a:ext cx="4572000" cy="411480"/>
          </a:xfrm>
          <a:prstGeom prst="rect">
            <a:avLst/>
          </a:prstGeom>
          <a:noFill/>
          <a:ln/>
        </p:spPr>
        <p:txBody>
          <a:bodyPr wrap="square" lIns="0" tIns="0" rIns="0" bIns="0" rtlCol="0" anchor="ctr"/>
          <a:lstStyle/>
          <a:p>
            <a:pPr indent="0" marL="0">
              <a:lnSpc>
                <a:spcPct val="112000"/>
              </a:lnSpc>
              <a:buNone/>
            </a:pPr>
            <a:r>
              <a:rPr lang="en-US" sz="1050" dirty="0">
                <a:solidFill>
                  <a:srgbClr val="8A8F98"/>
                </a:solidFill>
                <a:latin typeface="Arial" pitchFamily="34" charset="0"/>
                <a:ea typeface="Arial" pitchFamily="34" charset="-122"/>
                <a:cs typeface="Arial" pitchFamily="34" charset="-120"/>
              </a:rPr>
              <a:t>Works with Claude Code, Codex, Cursor, Copilot, OpenCode, and VS Code</a:t>
            </a:r>
            <a:endParaRPr lang="en-US" sz="1050" dirty="0"/>
          </a:p>
        </p:txBody>
      </p:sp>
      <p:sp>
        <p:nvSpPr>
          <p:cNvPr id="10" name="Shape 8"/>
          <p:cNvSpPr/>
          <p:nvPr/>
        </p:nvSpPr>
        <p:spPr>
          <a:xfrm>
            <a:off x="640080" y="4791456"/>
            <a:ext cx="5029200" cy="1051560"/>
          </a:xfrm>
          <a:prstGeom prst="roundRect">
            <a:avLst>
              <a:gd name="adj" fmla="val 7826"/>
            </a:avLst>
          </a:prstGeom>
          <a:solidFill>
            <a:srgbClr val="131418"/>
          </a:solidFill>
          <a:ln w="12700">
            <a:solidFill>
              <a:srgbClr val="26282E"/>
            </a:solidFill>
            <a:prstDash val="solid"/>
          </a:ln>
          <a:effectLst>
            <a:outerShdw sx="100000" sy="100000" kx="0" ky="0" algn="bl" rotWithShape="0" blurRad="127000" dist="50800" dir="5400000">
              <a:srgbClr val="000000">
                <a:alpha val="35000"/>
              </a:srgbClr>
            </a:outerShdw>
          </a:effectLst>
        </p:spPr>
      </p:sp>
      <p:sp>
        <p:nvSpPr>
          <p:cNvPr id="11" name="Text 9"/>
          <p:cNvSpPr/>
          <p:nvPr/>
        </p:nvSpPr>
        <p:spPr>
          <a:xfrm>
            <a:off x="914400" y="4928616"/>
            <a:ext cx="4572000" cy="411480"/>
          </a:xfrm>
          <a:prstGeom prst="rect">
            <a:avLst/>
          </a:prstGeom>
          <a:noFill/>
          <a:ln/>
        </p:spPr>
        <p:txBody>
          <a:bodyPr wrap="square" lIns="0" tIns="0" rIns="0" bIns="0" rtlCol="0" anchor="ctr"/>
          <a:lstStyle/>
          <a:p>
            <a:pPr indent="0" marL="0">
              <a:buNone/>
            </a:pPr>
            <a:r>
              <a:rPr lang="en-US" sz="1900" b="1" dirty="0">
                <a:solidFill>
                  <a:srgbClr val="7C7FFF"/>
                </a:solidFill>
                <a:latin typeface="Arial" pitchFamily="34" charset="0"/>
                <a:ea typeface="Arial" pitchFamily="34" charset="-122"/>
                <a:cs typeface="Arial" pitchFamily="34" charset="-120"/>
              </a:rPr>
              <a:t>Open core</a:t>
            </a:r>
            <a:endParaRPr lang="en-US" sz="1900" dirty="0"/>
          </a:p>
        </p:txBody>
      </p:sp>
      <p:sp>
        <p:nvSpPr>
          <p:cNvPr id="12" name="Text 10"/>
          <p:cNvSpPr/>
          <p:nvPr/>
        </p:nvSpPr>
        <p:spPr>
          <a:xfrm>
            <a:off x="914400" y="5358384"/>
            <a:ext cx="4572000" cy="411480"/>
          </a:xfrm>
          <a:prstGeom prst="rect">
            <a:avLst/>
          </a:prstGeom>
          <a:noFill/>
          <a:ln/>
        </p:spPr>
        <p:txBody>
          <a:bodyPr wrap="square" lIns="0" tIns="0" rIns="0" bIns="0" rtlCol="0" anchor="ctr"/>
          <a:lstStyle/>
          <a:p>
            <a:pPr indent="0" marL="0">
              <a:lnSpc>
                <a:spcPct val="112000"/>
              </a:lnSpc>
              <a:buNone/>
            </a:pPr>
            <a:r>
              <a:rPr lang="en-US" sz="1050" dirty="0">
                <a:solidFill>
                  <a:srgbClr val="8A8F98"/>
                </a:solidFill>
                <a:latin typeface="Arial" pitchFamily="34" charset="0"/>
                <a:ea typeface="Arial" pitchFamily="34" charset="-122"/>
                <a:cs typeface="Arial" pitchFamily="34" charset="-120"/>
              </a:rPr>
              <a:t>Public repo developers can adopt on their own</a:t>
            </a:r>
            <a:endParaRPr lang="en-US" sz="1050" dirty="0"/>
          </a:p>
        </p:txBody>
      </p:sp>
      <p:sp>
        <p:nvSpPr>
          <p:cNvPr id="13" name="Text 11"/>
          <p:cNvSpPr/>
          <p:nvPr/>
        </p:nvSpPr>
        <p:spPr>
          <a:xfrm>
            <a:off x="6080760" y="2331720"/>
            <a:ext cx="5440680" cy="365760"/>
          </a:xfrm>
          <a:prstGeom prst="rect">
            <a:avLst/>
          </a:prstGeom>
          <a:noFill/>
          <a:ln/>
        </p:spPr>
        <p:txBody>
          <a:bodyPr wrap="square" lIns="0" tIns="0" rIns="0" bIns="0" rtlCol="0" anchor="ctr"/>
          <a:lstStyle/>
          <a:p>
            <a:pPr indent="0" marL="0">
              <a:buNone/>
            </a:pPr>
            <a:r>
              <a:rPr lang="en-US" sz="1400" b="1" dirty="0">
                <a:solidFill>
                  <a:srgbClr val="F7F8F8"/>
                </a:solidFill>
                <a:latin typeface="Arial" pitchFamily="34" charset="0"/>
                <a:ea typeface="Arial" pitchFamily="34" charset="-122"/>
                <a:cs typeface="Arial" pitchFamily="34" charset="-120"/>
              </a:rPr>
              <a:t>How it spreads</a:t>
            </a:r>
            <a:endParaRPr lang="en-US" sz="1400" dirty="0"/>
          </a:p>
        </p:txBody>
      </p:sp>
      <p:sp>
        <p:nvSpPr>
          <p:cNvPr id="14" name="Shape 12"/>
          <p:cNvSpPr/>
          <p:nvPr/>
        </p:nvSpPr>
        <p:spPr>
          <a:xfrm>
            <a:off x="6080760" y="2788920"/>
            <a:ext cx="384048" cy="384048"/>
          </a:xfrm>
          <a:prstGeom prst="ellipse">
            <a:avLst/>
          </a:prstGeom>
          <a:solidFill>
            <a:srgbClr val="1A1B3A"/>
          </a:solidFill>
          <a:ln w="12700">
            <a:solidFill>
              <a:srgbClr val="3A3B6A"/>
            </a:solidFill>
            <a:prstDash val="solid"/>
          </a:ln>
        </p:spPr>
      </p:sp>
      <p:sp>
        <p:nvSpPr>
          <p:cNvPr id="15" name="Text 13"/>
          <p:cNvSpPr/>
          <p:nvPr/>
        </p:nvSpPr>
        <p:spPr>
          <a:xfrm>
            <a:off x="6080760" y="2788920"/>
            <a:ext cx="384048" cy="384048"/>
          </a:xfrm>
          <a:prstGeom prst="rect">
            <a:avLst/>
          </a:prstGeom>
          <a:noFill/>
          <a:ln/>
        </p:spPr>
        <p:txBody>
          <a:bodyPr wrap="square" lIns="0" tIns="0" rIns="0" bIns="0" rtlCol="0" anchor="ctr"/>
          <a:lstStyle/>
          <a:p>
            <a:pPr algn="ctr" indent="0" marL="0">
              <a:buNone/>
            </a:pPr>
            <a:r>
              <a:rPr lang="en-US" sz="1300" b="1" dirty="0">
                <a:solidFill>
                  <a:srgbClr val="B59AFF"/>
                </a:solidFill>
                <a:latin typeface="Arial" pitchFamily="34" charset="0"/>
                <a:ea typeface="Arial" pitchFamily="34" charset="-122"/>
                <a:cs typeface="Arial" pitchFamily="34" charset="-120"/>
              </a:rPr>
              <a:t>1</a:t>
            </a:r>
            <a:endParaRPr lang="en-US" sz="1300" dirty="0"/>
          </a:p>
        </p:txBody>
      </p:sp>
      <p:sp>
        <p:nvSpPr>
          <p:cNvPr id="16" name="Text 14"/>
          <p:cNvSpPr/>
          <p:nvPr/>
        </p:nvSpPr>
        <p:spPr>
          <a:xfrm>
            <a:off x="6629400" y="2752344"/>
            <a:ext cx="4892040" cy="292608"/>
          </a:xfrm>
          <a:prstGeom prst="rect">
            <a:avLst/>
          </a:prstGeom>
          <a:noFill/>
          <a:ln/>
        </p:spPr>
        <p:txBody>
          <a:bodyPr wrap="square" lIns="0" tIns="0" rIns="0" bIns="0" rtlCol="0" anchor="ctr"/>
          <a:lstStyle/>
          <a:p>
            <a:pPr indent="0" marL="0">
              <a:buNone/>
            </a:pPr>
            <a:r>
              <a:rPr lang="en-US" sz="1300" b="1" dirty="0">
                <a:solidFill>
                  <a:srgbClr val="F7F8F8"/>
                </a:solidFill>
                <a:latin typeface="Arial" pitchFamily="34" charset="0"/>
                <a:ea typeface="Arial" pitchFamily="34" charset="-122"/>
                <a:cs typeface="Arial" pitchFamily="34" charset="-120"/>
              </a:rPr>
              <a:t>Open-source start</a:t>
            </a:r>
            <a:endParaRPr lang="en-US" sz="1300" dirty="0"/>
          </a:p>
        </p:txBody>
      </p:sp>
      <p:sp>
        <p:nvSpPr>
          <p:cNvPr id="17" name="Text 15"/>
          <p:cNvSpPr/>
          <p:nvPr/>
        </p:nvSpPr>
        <p:spPr>
          <a:xfrm>
            <a:off x="6629400" y="3035808"/>
            <a:ext cx="4892040" cy="411480"/>
          </a:xfrm>
          <a:prstGeom prst="rect">
            <a:avLst/>
          </a:prstGeom>
          <a:noFill/>
          <a:ln/>
        </p:spPr>
        <p:txBody>
          <a:bodyPr wrap="square" lIns="0" tIns="0" rIns="0" bIns="0" rtlCol="0" anchor="ctr"/>
          <a:lstStyle/>
          <a:p>
            <a:pPr indent="0" marL="0">
              <a:lnSpc>
                <a:spcPct val="112000"/>
              </a:lnSpc>
              <a:buNone/>
            </a:pPr>
            <a:r>
              <a:rPr lang="en-US" sz="1050" dirty="0">
                <a:solidFill>
                  <a:srgbClr val="8A8F98"/>
                </a:solidFill>
                <a:latin typeface="Arial" pitchFamily="34" charset="0"/>
                <a:ea typeface="Arial" pitchFamily="34" charset="-122"/>
                <a:cs typeface="Arial" pitchFamily="34" charset="-120"/>
              </a:rPr>
              <a:t>A developer finds the self-hosted server and starts using it.</a:t>
            </a:r>
            <a:endParaRPr lang="en-US" sz="1050" dirty="0"/>
          </a:p>
        </p:txBody>
      </p:sp>
      <p:sp>
        <p:nvSpPr>
          <p:cNvPr id="18" name="Shape 16"/>
          <p:cNvSpPr/>
          <p:nvPr/>
        </p:nvSpPr>
        <p:spPr>
          <a:xfrm>
            <a:off x="6080760" y="3630168"/>
            <a:ext cx="384048" cy="384048"/>
          </a:xfrm>
          <a:prstGeom prst="ellipse">
            <a:avLst/>
          </a:prstGeom>
          <a:solidFill>
            <a:srgbClr val="1A1B3A"/>
          </a:solidFill>
          <a:ln w="12700">
            <a:solidFill>
              <a:srgbClr val="3A3B6A"/>
            </a:solidFill>
            <a:prstDash val="solid"/>
          </a:ln>
        </p:spPr>
      </p:sp>
      <p:sp>
        <p:nvSpPr>
          <p:cNvPr id="19" name="Text 17"/>
          <p:cNvSpPr/>
          <p:nvPr/>
        </p:nvSpPr>
        <p:spPr>
          <a:xfrm>
            <a:off x="6080760" y="3630168"/>
            <a:ext cx="384048" cy="384048"/>
          </a:xfrm>
          <a:prstGeom prst="rect">
            <a:avLst/>
          </a:prstGeom>
          <a:noFill/>
          <a:ln/>
        </p:spPr>
        <p:txBody>
          <a:bodyPr wrap="square" lIns="0" tIns="0" rIns="0" bIns="0" rtlCol="0" anchor="ctr"/>
          <a:lstStyle/>
          <a:p>
            <a:pPr algn="ctr" indent="0" marL="0">
              <a:buNone/>
            </a:pPr>
            <a:r>
              <a:rPr lang="en-US" sz="1300" b="1" dirty="0">
                <a:solidFill>
                  <a:srgbClr val="B59AFF"/>
                </a:solidFill>
                <a:latin typeface="Arial" pitchFamily="34" charset="0"/>
                <a:ea typeface="Arial" pitchFamily="34" charset="-122"/>
                <a:cs typeface="Arial" pitchFamily="34" charset="-120"/>
              </a:rPr>
              <a:t>2</a:t>
            </a:r>
            <a:endParaRPr lang="en-US" sz="1300" dirty="0"/>
          </a:p>
        </p:txBody>
      </p:sp>
      <p:sp>
        <p:nvSpPr>
          <p:cNvPr id="20" name="Text 18"/>
          <p:cNvSpPr/>
          <p:nvPr/>
        </p:nvSpPr>
        <p:spPr>
          <a:xfrm>
            <a:off x="6629400" y="3593592"/>
            <a:ext cx="4892040" cy="292608"/>
          </a:xfrm>
          <a:prstGeom prst="rect">
            <a:avLst/>
          </a:prstGeom>
          <a:noFill/>
          <a:ln/>
        </p:spPr>
        <p:txBody>
          <a:bodyPr wrap="square" lIns="0" tIns="0" rIns="0" bIns="0" rtlCol="0" anchor="ctr"/>
          <a:lstStyle/>
          <a:p>
            <a:pPr indent="0" marL="0">
              <a:buNone/>
            </a:pPr>
            <a:r>
              <a:rPr lang="en-US" sz="1300" b="1" dirty="0">
                <a:solidFill>
                  <a:srgbClr val="F7F8F8"/>
                </a:solidFill>
                <a:latin typeface="Arial" pitchFamily="34" charset="0"/>
                <a:ea typeface="Arial" pitchFamily="34" charset="-122"/>
                <a:cs typeface="Arial" pitchFamily="34" charset="-120"/>
              </a:rPr>
              <a:t>A team signs on</a:t>
            </a:r>
            <a:endParaRPr lang="en-US" sz="1300" dirty="0"/>
          </a:p>
        </p:txBody>
      </p:sp>
      <p:sp>
        <p:nvSpPr>
          <p:cNvPr id="21" name="Text 19"/>
          <p:cNvSpPr/>
          <p:nvPr/>
        </p:nvSpPr>
        <p:spPr>
          <a:xfrm>
            <a:off x="6629400" y="3877056"/>
            <a:ext cx="4892040" cy="411480"/>
          </a:xfrm>
          <a:prstGeom prst="rect">
            <a:avLst/>
          </a:prstGeom>
          <a:noFill/>
          <a:ln/>
        </p:spPr>
        <p:txBody>
          <a:bodyPr wrap="square" lIns="0" tIns="0" rIns="0" bIns="0" rtlCol="0" anchor="ctr"/>
          <a:lstStyle/>
          <a:p>
            <a:pPr indent="0" marL="0">
              <a:lnSpc>
                <a:spcPct val="112000"/>
              </a:lnSpc>
              <a:buNone/>
            </a:pPr>
            <a:r>
              <a:rPr lang="en-US" sz="1050" dirty="0">
                <a:solidFill>
                  <a:srgbClr val="8A8F98"/>
                </a:solidFill>
                <a:latin typeface="Arial" pitchFamily="34" charset="0"/>
                <a:ea typeface="Arial" pitchFamily="34" charset="-122"/>
                <a:cs typeface="Arial" pitchFamily="34" charset="-120"/>
              </a:rPr>
              <a:t>That team moves to managed Biblio for review and memory.</a:t>
            </a:r>
            <a:endParaRPr lang="en-US" sz="1050" dirty="0"/>
          </a:p>
        </p:txBody>
      </p:sp>
      <p:sp>
        <p:nvSpPr>
          <p:cNvPr id="22" name="Shape 20"/>
          <p:cNvSpPr/>
          <p:nvPr/>
        </p:nvSpPr>
        <p:spPr>
          <a:xfrm>
            <a:off x="6080760" y="4471416"/>
            <a:ext cx="384048" cy="384048"/>
          </a:xfrm>
          <a:prstGeom prst="ellipse">
            <a:avLst/>
          </a:prstGeom>
          <a:solidFill>
            <a:srgbClr val="1A1B3A"/>
          </a:solidFill>
          <a:ln w="12700">
            <a:solidFill>
              <a:srgbClr val="3A3B6A"/>
            </a:solidFill>
            <a:prstDash val="solid"/>
          </a:ln>
        </p:spPr>
      </p:sp>
      <p:sp>
        <p:nvSpPr>
          <p:cNvPr id="23" name="Text 21"/>
          <p:cNvSpPr/>
          <p:nvPr/>
        </p:nvSpPr>
        <p:spPr>
          <a:xfrm>
            <a:off x="6080760" y="4471416"/>
            <a:ext cx="384048" cy="384048"/>
          </a:xfrm>
          <a:prstGeom prst="rect">
            <a:avLst/>
          </a:prstGeom>
          <a:noFill/>
          <a:ln/>
        </p:spPr>
        <p:txBody>
          <a:bodyPr wrap="square" lIns="0" tIns="0" rIns="0" bIns="0" rtlCol="0" anchor="ctr"/>
          <a:lstStyle/>
          <a:p>
            <a:pPr algn="ctr" indent="0" marL="0">
              <a:buNone/>
            </a:pPr>
            <a:r>
              <a:rPr lang="en-US" sz="1300" b="1" dirty="0">
                <a:solidFill>
                  <a:srgbClr val="B59AFF"/>
                </a:solidFill>
                <a:latin typeface="Arial" pitchFamily="34" charset="0"/>
                <a:ea typeface="Arial" pitchFamily="34" charset="-122"/>
                <a:cs typeface="Arial" pitchFamily="34" charset="-120"/>
              </a:rPr>
              <a:t>3</a:t>
            </a:r>
            <a:endParaRPr lang="en-US" sz="1300" dirty="0"/>
          </a:p>
        </p:txBody>
      </p:sp>
      <p:sp>
        <p:nvSpPr>
          <p:cNvPr id="24" name="Text 22"/>
          <p:cNvSpPr/>
          <p:nvPr/>
        </p:nvSpPr>
        <p:spPr>
          <a:xfrm>
            <a:off x="6629400" y="4434840"/>
            <a:ext cx="4892040" cy="292608"/>
          </a:xfrm>
          <a:prstGeom prst="rect">
            <a:avLst/>
          </a:prstGeom>
          <a:noFill/>
          <a:ln/>
        </p:spPr>
        <p:txBody>
          <a:bodyPr wrap="square" lIns="0" tIns="0" rIns="0" bIns="0" rtlCol="0" anchor="ctr"/>
          <a:lstStyle/>
          <a:p>
            <a:pPr indent="0" marL="0">
              <a:buNone/>
            </a:pPr>
            <a:r>
              <a:rPr lang="en-US" sz="1300" b="1" dirty="0">
                <a:solidFill>
                  <a:srgbClr val="F7F8F8"/>
                </a:solidFill>
                <a:latin typeface="Arial" pitchFamily="34" charset="0"/>
                <a:ea typeface="Arial" pitchFamily="34" charset="-122"/>
                <a:cs typeface="Arial" pitchFamily="34" charset="-120"/>
              </a:rPr>
              <a:t>It spreads</a:t>
            </a:r>
            <a:endParaRPr lang="en-US" sz="1300" dirty="0"/>
          </a:p>
        </p:txBody>
      </p:sp>
      <p:sp>
        <p:nvSpPr>
          <p:cNvPr id="25" name="Text 23"/>
          <p:cNvSpPr/>
          <p:nvPr/>
        </p:nvSpPr>
        <p:spPr>
          <a:xfrm>
            <a:off x="6629400" y="4718304"/>
            <a:ext cx="4892040" cy="411480"/>
          </a:xfrm>
          <a:prstGeom prst="rect">
            <a:avLst/>
          </a:prstGeom>
          <a:noFill/>
          <a:ln/>
        </p:spPr>
        <p:txBody>
          <a:bodyPr wrap="square" lIns="0" tIns="0" rIns="0" bIns="0" rtlCol="0" anchor="ctr"/>
          <a:lstStyle/>
          <a:p>
            <a:pPr indent="0" marL="0">
              <a:lnSpc>
                <a:spcPct val="112000"/>
              </a:lnSpc>
              <a:buNone/>
            </a:pPr>
            <a:r>
              <a:rPr lang="en-US" sz="1050" dirty="0">
                <a:solidFill>
                  <a:srgbClr val="8A8F98"/>
                </a:solidFill>
                <a:latin typeface="Arial" pitchFamily="34" charset="0"/>
                <a:ea typeface="Arial" pitchFamily="34" charset="-122"/>
                <a:cs typeface="Arial" pitchFamily="34" charset="-120"/>
              </a:rPr>
              <a:t>Usage data makes the case to the CTO, and it rolls out across repos.</a:t>
            </a:r>
            <a:endParaRPr lang="en-US" sz="1050" dirty="0"/>
          </a:p>
        </p:txBody>
      </p:sp>
      <p:sp>
        <p:nvSpPr>
          <p:cNvPr id="26" name="Shape 24"/>
          <p:cNvSpPr/>
          <p:nvPr/>
        </p:nvSpPr>
        <p:spPr>
          <a:xfrm>
            <a:off x="6080760" y="5312664"/>
            <a:ext cx="384048" cy="384048"/>
          </a:xfrm>
          <a:prstGeom prst="ellipse">
            <a:avLst/>
          </a:prstGeom>
          <a:solidFill>
            <a:srgbClr val="1A1B3A"/>
          </a:solidFill>
          <a:ln w="12700">
            <a:solidFill>
              <a:srgbClr val="3A3B6A"/>
            </a:solidFill>
            <a:prstDash val="solid"/>
          </a:ln>
        </p:spPr>
      </p:sp>
      <p:sp>
        <p:nvSpPr>
          <p:cNvPr id="27" name="Text 25"/>
          <p:cNvSpPr/>
          <p:nvPr/>
        </p:nvSpPr>
        <p:spPr>
          <a:xfrm>
            <a:off x="6080760" y="5312664"/>
            <a:ext cx="384048" cy="384048"/>
          </a:xfrm>
          <a:prstGeom prst="rect">
            <a:avLst/>
          </a:prstGeom>
          <a:noFill/>
          <a:ln/>
        </p:spPr>
        <p:txBody>
          <a:bodyPr wrap="square" lIns="0" tIns="0" rIns="0" bIns="0" rtlCol="0" anchor="ctr"/>
          <a:lstStyle/>
          <a:p>
            <a:pPr algn="ctr" indent="0" marL="0">
              <a:buNone/>
            </a:pPr>
            <a:r>
              <a:rPr lang="en-US" sz="1300" b="1" dirty="0">
                <a:solidFill>
                  <a:srgbClr val="B59AFF"/>
                </a:solidFill>
                <a:latin typeface="Arial" pitchFamily="34" charset="0"/>
                <a:ea typeface="Arial" pitchFamily="34" charset="-122"/>
                <a:cs typeface="Arial" pitchFamily="34" charset="-120"/>
              </a:rPr>
              <a:t>4</a:t>
            </a:r>
            <a:endParaRPr lang="en-US" sz="1300" dirty="0"/>
          </a:p>
        </p:txBody>
      </p:sp>
      <p:sp>
        <p:nvSpPr>
          <p:cNvPr id="28" name="Text 26"/>
          <p:cNvSpPr/>
          <p:nvPr/>
        </p:nvSpPr>
        <p:spPr>
          <a:xfrm>
            <a:off x="6629400" y="5276088"/>
            <a:ext cx="4892040" cy="292608"/>
          </a:xfrm>
          <a:prstGeom prst="rect">
            <a:avLst/>
          </a:prstGeom>
          <a:noFill/>
          <a:ln/>
        </p:spPr>
        <p:txBody>
          <a:bodyPr wrap="square" lIns="0" tIns="0" rIns="0" bIns="0" rtlCol="0" anchor="ctr"/>
          <a:lstStyle/>
          <a:p>
            <a:pPr indent="0" marL="0">
              <a:buNone/>
            </a:pPr>
            <a:r>
              <a:rPr lang="en-US" sz="1300" b="1" dirty="0">
                <a:solidFill>
                  <a:srgbClr val="F7F8F8"/>
                </a:solidFill>
                <a:latin typeface="Arial" pitchFamily="34" charset="0"/>
                <a:ea typeface="Arial" pitchFamily="34" charset="-122"/>
                <a:cs typeface="Arial" pitchFamily="34" charset="-120"/>
              </a:rPr>
              <a:t>Enterprise deal</a:t>
            </a:r>
            <a:endParaRPr lang="en-US" sz="1300" dirty="0"/>
          </a:p>
        </p:txBody>
      </p:sp>
      <p:sp>
        <p:nvSpPr>
          <p:cNvPr id="29" name="Text 27"/>
          <p:cNvSpPr/>
          <p:nvPr/>
        </p:nvSpPr>
        <p:spPr>
          <a:xfrm>
            <a:off x="6629400" y="5559552"/>
            <a:ext cx="4892040" cy="411480"/>
          </a:xfrm>
          <a:prstGeom prst="rect">
            <a:avLst/>
          </a:prstGeom>
          <a:noFill/>
          <a:ln/>
        </p:spPr>
        <p:txBody>
          <a:bodyPr wrap="square" lIns="0" tIns="0" rIns="0" bIns="0" rtlCol="0" anchor="ctr"/>
          <a:lstStyle/>
          <a:p>
            <a:pPr indent="0" marL="0">
              <a:lnSpc>
                <a:spcPct val="112000"/>
              </a:lnSpc>
              <a:buNone/>
            </a:pPr>
            <a:r>
              <a:rPr lang="en-US" sz="1050" dirty="0">
                <a:solidFill>
                  <a:srgbClr val="8A8F98"/>
                </a:solidFill>
                <a:latin typeface="Arial" pitchFamily="34" charset="0"/>
                <a:ea typeface="Arial" pitchFamily="34" charset="-122"/>
                <a:cs typeface="Arial" pitchFamily="34" charset="-120"/>
              </a:rPr>
              <a:t>SSO, audit, and on-prem turn it into a company-wide contract.</a:t>
            </a:r>
            <a:endParaRPr lang="en-US" sz="1050" dirty="0"/>
          </a:p>
        </p:txBody>
      </p:sp>
      <p:sp>
        <p:nvSpPr>
          <p:cNvPr id="30" name="Text 28"/>
          <p:cNvSpPr/>
          <p:nvPr/>
        </p:nvSpPr>
        <p:spPr>
          <a:xfrm>
            <a:off x="640080" y="6400800"/>
            <a:ext cx="4572000" cy="274320"/>
          </a:xfrm>
          <a:prstGeom prst="rect">
            <a:avLst/>
          </a:prstGeom>
          <a:noFill/>
          <a:ln/>
        </p:spPr>
        <p:txBody>
          <a:bodyPr wrap="square" lIns="0" tIns="0" rIns="0" bIns="0" rtlCol="0" anchor="ctr"/>
          <a:lstStyle/>
          <a:p>
            <a:pPr algn="l" indent="0" marL="0">
              <a:buNone/>
            </a:pPr>
            <a:r>
              <a:rPr lang="en-US" sz="900" dirty="0">
                <a:solidFill>
                  <a:srgbClr val="8A8F98"/>
                </a:solidFill>
                <a:latin typeface="Arial" pitchFamily="34" charset="0"/>
                <a:ea typeface="Arial" pitchFamily="34" charset="-122"/>
                <a:cs typeface="Arial" pitchFamily="34" charset="-120"/>
              </a:rPr>
              <a:t>Biblio  ·  Wonderly</a:t>
            </a:r>
            <a:endParaRPr lang="en-US" sz="900" dirty="0"/>
          </a:p>
        </p:txBody>
      </p:sp>
      <p:sp>
        <p:nvSpPr>
          <p:cNvPr id="31" name="Text 29"/>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8A8F98"/>
                </a:solidFill>
                <a:latin typeface="Courier New" pitchFamily="34" charset="0"/>
                <a:ea typeface="Courier New" pitchFamily="34" charset="-122"/>
                <a:cs typeface="Courier New"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090A"/>
        </a:solidFill>
      </p:bgPr>
    </p:bg>
    <p:spTree>
      <p:nvGrpSpPr>
        <p:cNvPr id="1" name=""/>
        <p:cNvGrpSpPr/>
        <p:nvPr/>
      </p:nvGrpSpPr>
      <p:grpSpPr>
        <a:xfrm>
          <a:off x="0" y="0"/>
          <a:ext cx="0" cy="0"/>
          <a:chOff x="0" y="0"/>
          <a:chExt cx="0" cy="0"/>
        </a:xfrm>
      </p:grpSpPr>
      <p:sp>
        <p:nvSpPr>
          <p:cNvPr id="2" name="Text 0"/>
          <p:cNvSpPr/>
          <p:nvPr/>
        </p:nvSpPr>
        <p:spPr>
          <a:xfrm>
            <a:off x="640080" y="594360"/>
            <a:ext cx="7315200" cy="274320"/>
          </a:xfrm>
          <a:prstGeom prst="rect">
            <a:avLst/>
          </a:prstGeom>
          <a:noFill/>
          <a:ln/>
        </p:spPr>
        <p:txBody>
          <a:bodyPr wrap="square" lIns="0" tIns="0" rIns="0" bIns="0" rtlCol="0" anchor="ctr"/>
          <a:lstStyle/>
          <a:p>
            <a:pPr algn="l" indent="0" marL="0">
              <a:buNone/>
            </a:pPr>
            <a:r>
              <a:rPr lang="en-US" sz="1100" b="1" spc="300" kern="0" dirty="0">
                <a:solidFill>
                  <a:srgbClr val="B59AFF"/>
                </a:solidFill>
                <a:latin typeface="Arial" pitchFamily="34" charset="0"/>
                <a:ea typeface="Arial" pitchFamily="34" charset="-122"/>
                <a:cs typeface="Arial" pitchFamily="34" charset="-120"/>
              </a:rPr>
              <a:t>TEAM</a:t>
            </a:r>
            <a:endParaRPr lang="en-US" sz="1100" dirty="0"/>
          </a:p>
        </p:txBody>
      </p:sp>
      <p:sp>
        <p:nvSpPr>
          <p:cNvPr id="3" name="Text 1"/>
          <p:cNvSpPr/>
          <p:nvPr/>
        </p:nvSpPr>
        <p:spPr>
          <a:xfrm>
            <a:off x="640080" y="960120"/>
            <a:ext cx="10972800" cy="1005840"/>
          </a:xfrm>
          <a:prstGeom prst="rect">
            <a:avLst/>
          </a:prstGeom>
          <a:noFill/>
          <a:ln/>
        </p:spPr>
        <p:txBody>
          <a:bodyPr wrap="square" lIns="0" tIns="0" rIns="0" bIns="0" rtlCol="0" anchor="t"/>
          <a:lstStyle/>
          <a:p>
            <a:pPr algn="l" indent="0" marL="0">
              <a:lnSpc>
                <a:spcPct val="100000"/>
              </a:lnSpc>
              <a:buNone/>
            </a:pPr>
            <a:r>
              <a:rPr lang="en-US" sz="2800" b="1" dirty="0">
                <a:solidFill>
                  <a:srgbClr val="F7F8F8"/>
                </a:solidFill>
                <a:latin typeface="Arial" pitchFamily="34" charset="0"/>
                <a:ea typeface="Arial" pitchFamily="34" charset="-122"/>
                <a:cs typeface="Arial" pitchFamily="34" charset="-120"/>
              </a:rPr>
              <a:t>The people who built it</a:t>
            </a:r>
            <a:endParaRPr lang="en-US" sz="2800" dirty="0"/>
          </a:p>
          <a:p>
            <a:pPr algn="l" indent="0" marL="0">
              <a:lnSpc>
                <a:spcPct val="100000"/>
              </a:lnSpc>
              <a:buNone/>
            </a:pPr>
            <a:r>
              <a:rPr lang="en-US" sz="2800" b="1" dirty="0">
                <a:solidFill>
                  <a:srgbClr val="F7F8F8"/>
                </a:solidFill>
                <a:latin typeface="Arial" pitchFamily="34" charset="0"/>
                <a:ea typeface="Arial" pitchFamily="34" charset="-122"/>
                <a:cs typeface="Arial" pitchFamily="34" charset="-120"/>
              </a:rPr>
              <a:t>and run it.</a:t>
            </a:r>
            <a:endParaRPr lang="en-US" sz="2800" dirty="0"/>
          </a:p>
        </p:txBody>
      </p:sp>
      <p:sp>
        <p:nvSpPr>
          <p:cNvPr id="4" name="Shape 2"/>
          <p:cNvSpPr/>
          <p:nvPr/>
        </p:nvSpPr>
        <p:spPr>
          <a:xfrm>
            <a:off x="640080" y="2514600"/>
            <a:ext cx="3346704" cy="2743200"/>
          </a:xfrm>
          <a:prstGeom prst="roundRect">
            <a:avLst>
              <a:gd name="adj" fmla="val 3000"/>
            </a:avLst>
          </a:prstGeom>
          <a:solidFill>
            <a:srgbClr val="131418"/>
          </a:solidFill>
          <a:ln w="12700">
            <a:solidFill>
              <a:srgbClr val="26282E"/>
            </a:solidFill>
            <a:prstDash val="solid"/>
          </a:ln>
          <a:effectLst>
            <a:outerShdw sx="100000" sy="100000" kx="0" ky="0" algn="bl" rotWithShape="0" blurRad="127000" dist="50800" dir="5400000">
              <a:srgbClr val="000000">
                <a:alpha val="35000"/>
              </a:srgbClr>
            </a:outerShdw>
          </a:effectLst>
        </p:spPr>
      </p:sp>
      <p:sp>
        <p:nvSpPr>
          <p:cNvPr id="5" name="Shape 3"/>
          <p:cNvSpPr/>
          <p:nvPr/>
        </p:nvSpPr>
        <p:spPr>
          <a:xfrm>
            <a:off x="1810512" y="2834640"/>
            <a:ext cx="1005840" cy="1005840"/>
          </a:xfrm>
          <a:prstGeom prst="ellipse">
            <a:avLst/>
          </a:prstGeom>
          <a:solidFill>
            <a:srgbClr val="1A1B3A"/>
          </a:solidFill>
          <a:ln w="12700">
            <a:solidFill>
              <a:srgbClr val="3A3B6A"/>
            </a:solidFill>
            <a:prstDash val="solid"/>
          </a:ln>
        </p:spPr>
      </p:sp>
      <p:sp>
        <p:nvSpPr>
          <p:cNvPr id="6" name="Text 4"/>
          <p:cNvSpPr/>
          <p:nvPr/>
        </p:nvSpPr>
        <p:spPr>
          <a:xfrm>
            <a:off x="1810512" y="2834640"/>
            <a:ext cx="1005840" cy="1005840"/>
          </a:xfrm>
          <a:prstGeom prst="rect">
            <a:avLst/>
          </a:prstGeom>
          <a:noFill/>
          <a:ln/>
        </p:spPr>
        <p:txBody>
          <a:bodyPr wrap="square" lIns="0" tIns="0" rIns="0" bIns="0" rtlCol="0" anchor="ctr"/>
          <a:lstStyle/>
          <a:p>
            <a:pPr algn="ctr" indent="0" marL="0">
              <a:buNone/>
            </a:pPr>
            <a:r>
              <a:rPr lang="en-US" sz="2200" b="1" dirty="0">
                <a:solidFill>
                  <a:srgbClr val="B59AFF"/>
                </a:solidFill>
                <a:latin typeface="Arial" pitchFamily="34" charset="0"/>
                <a:ea typeface="Arial" pitchFamily="34" charset="-122"/>
                <a:cs typeface="Arial" pitchFamily="34" charset="-120"/>
              </a:rPr>
              <a:t>CC</a:t>
            </a:r>
            <a:endParaRPr lang="en-US" sz="2200" dirty="0"/>
          </a:p>
        </p:txBody>
      </p:sp>
      <p:sp>
        <p:nvSpPr>
          <p:cNvPr id="7" name="Text 5"/>
          <p:cNvSpPr/>
          <p:nvPr/>
        </p:nvSpPr>
        <p:spPr>
          <a:xfrm>
            <a:off x="914400" y="3977640"/>
            <a:ext cx="2798064" cy="320040"/>
          </a:xfrm>
          <a:prstGeom prst="rect">
            <a:avLst/>
          </a:prstGeom>
          <a:noFill/>
          <a:ln/>
        </p:spPr>
        <p:txBody>
          <a:bodyPr wrap="square" lIns="0" tIns="0" rIns="0" bIns="0" rtlCol="0" anchor="ctr"/>
          <a:lstStyle/>
          <a:p>
            <a:pPr algn="ctr" indent="0" marL="0">
              <a:buNone/>
            </a:pPr>
            <a:r>
              <a:rPr lang="en-US" sz="1500" b="1" dirty="0">
                <a:solidFill>
                  <a:srgbClr val="F7F8F8"/>
                </a:solidFill>
                <a:latin typeface="Arial" pitchFamily="34" charset="0"/>
                <a:ea typeface="Arial" pitchFamily="34" charset="-122"/>
                <a:cs typeface="Arial" pitchFamily="34" charset="-120"/>
              </a:rPr>
              <a:t>Charles Chen</a:t>
            </a:r>
            <a:endParaRPr lang="en-US" sz="1500" dirty="0"/>
          </a:p>
        </p:txBody>
      </p:sp>
      <p:sp>
        <p:nvSpPr>
          <p:cNvPr id="8" name="Text 6"/>
          <p:cNvSpPr/>
          <p:nvPr/>
        </p:nvSpPr>
        <p:spPr>
          <a:xfrm>
            <a:off x="914400" y="4297680"/>
            <a:ext cx="2798064" cy="274320"/>
          </a:xfrm>
          <a:prstGeom prst="rect">
            <a:avLst/>
          </a:prstGeom>
          <a:noFill/>
          <a:ln/>
        </p:spPr>
        <p:txBody>
          <a:bodyPr wrap="square" lIns="0" tIns="0" rIns="0" bIns="0" rtlCol="0" anchor="ctr"/>
          <a:lstStyle/>
          <a:p>
            <a:pPr algn="ctr" indent="0" marL="0">
              <a:buNone/>
            </a:pPr>
            <a:r>
              <a:rPr lang="en-US" sz="1100" dirty="0">
                <a:solidFill>
                  <a:srgbClr val="B59AFF"/>
                </a:solidFill>
                <a:latin typeface="Arial" pitchFamily="34" charset="0"/>
                <a:ea typeface="Arial" pitchFamily="34" charset="-122"/>
                <a:cs typeface="Arial" pitchFamily="34" charset="-120"/>
              </a:rPr>
              <a:t>Principal Software Engineer</a:t>
            </a:r>
            <a:endParaRPr lang="en-US" sz="1100" dirty="0"/>
          </a:p>
        </p:txBody>
      </p:sp>
      <p:sp>
        <p:nvSpPr>
          <p:cNvPr id="9" name="Text 7"/>
          <p:cNvSpPr/>
          <p:nvPr/>
        </p:nvSpPr>
        <p:spPr>
          <a:xfrm>
            <a:off x="932688" y="4617720"/>
            <a:ext cx="2761488" cy="594360"/>
          </a:xfrm>
          <a:prstGeom prst="rect">
            <a:avLst/>
          </a:prstGeom>
          <a:noFill/>
          <a:ln/>
        </p:spPr>
        <p:txBody>
          <a:bodyPr wrap="square" lIns="0" tIns="0" rIns="0" bIns="0" rtlCol="0" anchor="ctr"/>
          <a:lstStyle/>
          <a:p>
            <a:pPr algn="ctr" indent="0" marL="0">
              <a:lnSpc>
                <a:spcPct val="115000"/>
              </a:lnSpc>
              <a:buNone/>
            </a:pPr>
            <a:r>
              <a:rPr lang="en-US" sz="1050" dirty="0">
                <a:solidFill>
                  <a:srgbClr val="8A8F98"/>
                </a:solidFill>
                <a:latin typeface="Arial" pitchFamily="34" charset="0"/>
                <a:ea typeface="Arial" pitchFamily="34" charset="-122"/>
                <a:cs typeface="Arial" pitchFamily="34" charset="-120"/>
              </a:rPr>
              <a:t>Built Biblio at Wonderly. Background in MCP, retrieval, and developer tools.</a:t>
            </a:r>
            <a:endParaRPr lang="en-US" sz="1050" dirty="0"/>
          </a:p>
        </p:txBody>
      </p:sp>
      <p:sp>
        <p:nvSpPr>
          <p:cNvPr id="10" name="Shape 8"/>
          <p:cNvSpPr/>
          <p:nvPr/>
        </p:nvSpPr>
        <p:spPr>
          <a:xfrm>
            <a:off x="4270248" y="2514600"/>
            <a:ext cx="3346704" cy="2743200"/>
          </a:xfrm>
          <a:prstGeom prst="roundRect">
            <a:avLst>
              <a:gd name="adj" fmla="val 3000"/>
            </a:avLst>
          </a:prstGeom>
          <a:solidFill>
            <a:srgbClr val="131418"/>
          </a:solidFill>
          <a:ln w="12700">
            <a:solidFill>
              <a:srgbClr val="26282E"/>
            </a:solidFill>
            <a:prstDash val="solid"/>
          </a:ln>
          <a:effectLst>
            <a:outerShdw sx="100000" sy="100000" kx="0" ky="0" algn="bl" rotWithShape="0" blurRad="127000" dist="50800" dir="5400000">
              <a:srgbClr val="000000">
                <a:alpha val="35000"/>
              </a:srgbClr>
            </a:outerShdw>
          </a:effectLst>
        </p:spPr>
      </p:sp>
      <p:sp>
        <p:nvSpPr>
          <p:cNvPr id="11" name="Shape 9"/>
          <p:cNvSpPr/>
          <p:nvPr/>
        </p:nvSpPr>
        <p:spPr>
          <a:xfrm>
            <a:off x="5440680" y="2834640"/>
            <a:ext cx="1005840" cy="1005840"/>
          </a:xfrm>
          <a:prstGeom prst="ellipse">
            <a:avLst/>
          </a:prstGeom>
          <a:solidFill>
            <a:srgbClr val="1A1B3A"/>
          </a:solidFill>
          <a:ln w="12700">
            <a:solidFill>
              <a:srgbClr val="3A3B6A"/>
            </a:solidFill>
            <a:prstDash val="solid"/>
          </a:ln>
        </p:spPr>
      </p:sp>
      <p:sp>
        <p:nvSpPr>
          <p:cNvPr id="12" name="Text 10"/>
          <p:cNvSpPr/>
          <p:nvPr/>
        </p:nvSpPr>
        <p:spPr>
          <a:xfrm>
            <a:off x="5440680" y="2834640"/>
            <a:ext cx="1005840" cy="1005840"/>
          </a:xfrm>
          <a:prstGeom prst="rect">
            <a:avLst/>
          </a:prstGeom>
          <a:noFill/>
          <a:ln/>
        </p:spPr>
        <p:txBody>
          <a:bodyPr wrap="square" lIns="0" tIns="0" rIns="0" bIns="0" rtlCol="0" anchor="ctr"/>
          <a:lstStyle/>
          <a:p>
            <a:pPr algn="ctr" indent="0" marL="0">
              <a:buNone/>
            </a:pPr>
            <a:r>
              <a:rPr lang="en-US" sz="2200" b="1" dirty="0">
                <a:solidFill>
                  <a:srgbClr val="B59AFF"/>
                </a:solidFill>
                <a:latin typeface="Arial" pitchFamily="34" charset="0"/>
                <a:ea typeface="Arial" pitchFamily="34" charset="-122"/>
                <a:cs typeface="Arial" pitchFamily="34" charset="-120"/>
              </a:rPr>
              <a:t>—</a:t>
            </a:r>
            <a:endParaRPr lang="en-US" sz="2200" dirty="0"/>
          </a:p>
        </p:txBody>
      </p:sp>
      <p:sp>
        <p:nvSpPr>
          <p:cNvPr id="13" name="Text 11"/>
          <p:cNvSpPr/>
          <p:nvPr/>
        </p:nvSpPr>
        <p:spPr>
          <a:xfrm>
            <a:off x="4544568" y="3977640"/>
            <a:ext cx="2798064" cy="320040"/>
          </a:xfrm>
          <a:prstGeom prst="rect">
            <a:avLst/>
          </a:prstGeom>
          <a:noFill/>
          <a:ln/>
        </p:spPr>
        <p:txBody>
          <a:bodyPr wrap="square" lIns="0" tIns="0" rIns="0" bIns="0" rtlCol="0" anchor="ctr"/>
          <a:lstStyle/>
          <a:p>
            <a:pPr algn="ctr" indent="0" marL="0">
              <a:buNone/>
            </a:pPr>
            <a:r>
              <a:rPr lang="en-US" sz="1500" b="1" dirty="0">
                <a:solidFill>
                  <a:srgbClr val="F7F8F8"/>
                </a:solidFill>
                <a:latin typeface="Arial" pitchFamily="34" charset="0"/>
                <a:ea typeface="Arial" pitchFamily="34" charset="-122"/>
                <a:cs typeface="Arial" pitchFamily="34" charset="-120"/>
              </a:rPr>
              <a:t>Founder / CEO</a:t>
            </a:r>
            <a:endParaRPr lang="en-US" sz="1500" dirty="0"/>
          </a:p>
        </p:txBody>
      </p:sp>
      <p:sp>
        <p:nvSpPr>
          <p:cNvPr id="14" name="Text 12"/>
          <p:cNvSpPr/>
          <p:nvPr/>
        </p:nvSpPr>
        <p:spPr>
          <a:xfrm>
            <a:off x="4544568" y="4297680"/>
            <a:ext cx="2798064" cy="274320"/>
          </a:xfrm>
          <a:prstGeom prst="rect">
            <a:avLst/>
          </a:prstGeom>
          <a:noFill/>
          <a:ln/>
        </p:spPr>
        <p:txBody>
          <a:bodyPr wrap="square" lIns="0" tIns="0" rIns="0" bIns="0" rtlCol="0" anchor="ctr"/>
          <a:lstStyle/>
          <a:p>
            <a:pPr algn="ctr" indent="0" marL="0">
              <a:buNone/>
            </a:pPr>
            <a:r>
              <a:rPr lang="en-US" sz="1100" dirty="0">
                <a:solidFill>
                  <a:srgbClr val="B59AFF"/>
                </a:solidFill>
                <a:latin typeface="Arial" pitchFamily="34" charset="0"/>
                <a:ea typeface="Arial" pitchFamily="34" charset="-122"/>
                <a:cs typeface="Arial" pitchFamily="34" charset="-120"/>
              </a:rPr>
              <a:t>[Add name]</a:t>
            </a:r>
            <a:endParaRPr lang="en-US" sz="1100" dirty="0"/>
          </a:p>
        </p:txBody>
      </p:sp>
      <p:sp>
        <p:nvSpPr>
          <p:cNvPr id="15" name="Text 13"/>
          <p:cNvSpPr/>
          <p:nvPr/>
        </p:nvSpPr>
        <p:spPr>
          <a:xfrm>
            <a:off x="4562856" y="4617720"/>
            <a:ext cx="2761488" cy="594360"/>
          </a:xfrm>
          <a:prstGeom prst="rect">
            <a:avLst/>
          </a:prstGeom>
          <a:noFill/>
          <a:ln/>
        </p:spPr>
        <p:txBody>
          <a:bodyPr wrap="square" lIns="0" tIns="0" rIns="0" bIns="0" rtlCol="0" anchor="ctr"/>
          <a:lstStyle/>
          <a:p>
            <a:pPr algn="ctr" indent="0" marL="0">
              <a:lnSpc>
                <a:spcPct val="115000"/>
              </a:lnSpc>
              <a:buNone/>
            </a:pPr>
            <a:r>
              <a:rPr lang="en-US" sz="1050" dirty="0">
                <a:solidFill>
                  <a:srgbClr val="8A8F98"/>
                </a:solidFill>
                <a:latin typeface="Arial" pitchFamily="34" charset="0"/>
                <a:ea typeface="Arial" pitchFamily="34" charset="-122"/>
                <a:cs typeface="Arial" pitchFamily="34" charset="-120"/>
              </a:rPr>
              <a:t>Engineering leadership and GTM. Owns vision, fundraising, and enterprise relationships.</a:t>
            </a:r>
            <a:endParaRPr lang="en-US" sz="1050" dirty="0"/>
          </a:p>
        </p:txBody>
      </p:sp>
      <p:sp>
        <p:nvSpPr>
          <p:cNvPr id="16" name="Shape 14"/>
          <p:cNvSpPr/>
          <p:nvPr/>
        </p:nvSpPr>
        <p:spPr>
          <a:xfrm>
            <a:off x="7900416" y="2514600"/>
            <a:ext cx="3346704" cy="2743200"/>
          </a:xfrm>
          <a:prstGeom prst="roundRect">
            <a:avLst>
              <a:gd name="adj" fmla="val 3000"/>
            </a:avLst>
          </a:prstGeom>
          <a:solidFill>
            <a:srgbClr val="131418"/>
          </a:solidFill>
          <a:ln w="12700">
            <a:solidFill>
              <a:srgbClr val="26282E"/>
            </a:solidFill>
            <a:prstDash val="solid"/>
          </a:ln>
          <a:effectLst>
            <a:outerShdw sx="100000" sy="100000" kx="0" ky="0" algn="bl" rotWithShape="0" blurRad="127000" dist="50800" dir="5400000">
              <a:srgbClr val="000000">
                <a:alpha val="35000"/>
              </a:srgbClr>
            </a:outerShdw>
          </a:effectLst>
        </p:spPr>
      </p:sp>
      <p:sp>
        <p:nvSpPr>
          <p:cNvPr id="17" name="Shape 15"/>
          <p:cNvSpPr/>
          <p:nvPr/>
        </p:nvSpPr>
        <p:spPr>
          <a:xfrm>
            <a:off x="9070848" y="2834640"/>
            <a:ext cx="1005840" cy="1005840"/>
          </a:xfrm>
          <a:prstGeom prst="ellipse">
            <a:avLst/>
          </a:prstGeom>
          <a:solidFill>
            <a:srgbClr val="1A1B3A"/>
          </a:solidFill>
          <a:ln w="12700">
            <a:solidFill>
              <a:srgbClr val="3A3B6A"/>
            </a:solidFill>
            <a:prstDash val="solid"/>
          </a:ln>
        </p:spPr>
      </p:sp>
      <p:sp>
        <p:nvSpPr>
          <p:cNvPr id="18" name="Text 16"/>
          <p:cNvSpPr/>
          <p:nvPr/>
        </p:nvSpPr>
        <p:spPr>
          <a:xfrm>
            <a:off x="9070848" y="2834640"/>
            <a:ext cx="1005840" cy="1005840"/>
          </a:xfrm>
          <a:prstGeom prst="rect">
            <a:avLst/>
          </a:prstGeom>
          <a:noFill/>
          <a:ln/>
        </p:spPr>
        <p:txBody>
          <a:bodyPr wrap="square" lIns="0" tIns="0" rIns="0" bIns="0" rtlCol="0" anchor="ctr"/>
          <a:lstStyle/>
          <a:p>
            <a:pPr algn="ctr" indent="0" marL="0">
              <a:buNone/>
            </a:pPr>
            <a:r>
              <a:rPr lang="en-US" sz="2200" b="1" dirty="0">
                <a:solidFill>
                  <a:srgbClr val="B59AFF"/>
                </a:solidFill>
                <a:latin typeface="Arial" pitchFamily="34" charset="0"/>
                <a:ea typeface="Arial" pitchFamily="34" charset="-122"/>
                <a:cs typeface="Arial" pitchFamily="34" charset="-120"/>
              </a:rPr>
              <a:t>—</a:t>
            </a:r>
            <a:endParaRPr lang="en-US" sz="2200" dirty="0"/>
          </a:p>
        </p:txBody>
      </p:sp>
      <p:sp>
        <p:nvSpPr>
          <p:cNvPr id="19" name="Text 17"/>
          <p:cNvSpPr/>
          <p:nvPr/>
        </p:nvSpPr>
        <p:spPr>
          <a:xfrm>
            <a:off x="8174736" y="3977640"/>
            <a:ext cx="2798064" cy="320040"/>
          </a:xfrm>
          <a:prstGeom prst="rect">
            <a:avLst/>
          </a:prstGeom>
          <a:noFill/>
          <a:ln/>
        </p:spPr>
        <p:txBody>
          <a:bodyPr wrap="square" lIns="0" tIns="0" rIns="0" bIns="0" rtlCol="0" anchor="ctr"/>
          <a:lstStyle/>
          <a:p>
            <a:pPr algn="ctr" indent="0" marL="0">
              <a:buNone/>
            </a:pPr>
            <a:r>
              <a:rPr lang="en-US" sz="1500" b="1" dirty="0">
                <a:solidFill>
                  <a:srgbClr val="F7F8F8"/>
                </a:solidFill>
                <a:latin typeface="Arial" pitchFamily="34" charset="0"/>
                <a:ea typeface="Arial" pitchFamily="34" charset="-122"/>
                <a:cs typeface="Arial" pitchFamily="34" charset="-120"/>
              </a:rPr>
              <a:t>Founding Engineers</a:t>
            </a:r>
            <a:endParaRPr lang="en-US" sz="1500" dirty="0"/>
          </a:p>
        </p:txBody>
      </p:sp>
      <p:sp>
        <p:nvSpPr>
          <p:cNvPr id="20" name="Text 18"/>
          <p:cNvSpPr/>
          <p:nvPr/>
        </p:nvSpPr>
        <p:spPr>
          <a:xfrm>
            <a:off x="8174736" y="4297680"/>
            <a:ext cx="2798064" cy="274320"/>
          </a:xfrm>
          <a:prstGeom prst="rect">
            <a:avLst/>
          </a:prstGeom>
          <a:noFill/>
          <a:ln/>
        </p:spPr>
        <p:txBody>
          <a:bodyPr wrap="square" lIns="0" tIns="0" rIns="0" bIns="0" rtlCol="0" anchor="ctr"/>
          <a:lstStyle/>
          <a:p>
            <a:pPr algn="ctr" indent="0" marL="0">
              <a:buNone/>
            </a:pPr>
            <a:r>
              <a:rPr lang="en-US" sz="1100" dirty="0">
                <a:solidFill>
                  <a:srgbClr val="B59AFF"/>
                </a:solidFill>
                <a:latin typeface="Arial" pitchFamily="34" charset="0"/>
                <a:ea typeface="Arial" pitchFamily="34" charset="-122"/>
                <a:cs typeface="Arial" pitchFamily="34" charset="-120"/>
              </a:rPr>
              <a:t>[Add team]</a:t>
            </a:r>
            <a:endParaRPr lang="en-US" sz="1100" dirty="0"/>
          </a:p>
        </p:txBody>
      </p:sp>
      <p:sp>
        <p:nvSpPr>
          <p:cNvPr id="21" name="Text 19"/>
          <p:cNvSpPr/>
          <p:nvPr/>
        </p:nvSpPr>
        <p:spPr>
          <a:xfrm>
            <a:off x="8193024" y="4617720"/>
            <a:ext cx="2761488" cy="594360"/>
          </a:xfrm>
          <a:prstGeom prst="rect">
            <a:avLst/>
          </a:prstGeom>
          <a:noFill/>
          <a:ln/>
        </p:spPr>
        <p:txBody>
          <a:bodyPr wrap="square" lIns="0" tIns="0" rIns="0" bIns="0" rtlCol="0" anchor="ctr"/>
          <a:lstStyle/>
          <a:p>
            <a:pPr algn="ctr" indent="0" marL="0">
              <a:lnSpc>
                <a:spcPct val="115000"/>
              </a:lnSpc>
              <a:buNone/>
            </a:pPr>
            <a:r>
              <a:rPr lang="en-US" sz="1050" dirty="0">
                <a:solidFill>
                  <a:srgbClr val="8A8F98"/>
                </a:solidFill>
                <a:latin typeface="Arial" pitchFamily="34" charset="0"/>
                <a:ea typeface="Arial" pitchFamily="34" charset="-122"/>
                <a:cs typeface="Arial" pitchFamily="34" charset="-120"/>
              </a:rPr>
              <a:t>Building the rest of the system: indexing, review agents, memory graph, telemetry.</a:t>
            </a:r>
            <a:endParaRPr lang="en-US" sz="1050" dirty="0"/>
          </a:p>
        </p:txBody>
      </p:sp>
      <p:sp>
        <p:nvSpPr>
          <p:cNvPr id="22" name="Text 20"/>
          <p:cNvSpPr/>
          <p:nvPr/>
        </p:nvSpPr>
        <p:spPr>
          <a:xfrm>
            <a:off x="640080" y="5852160"/>
            <a:ext cx="10927080" cy="365760"/>
          </a:xfrm>
          <a:prstGeom prst="rect">
            <a:avLst/>
          </a:prstGeom>
          <a:noFill/>
          <a:ln/>
        </p:spPr>
        <p:txBody>
          <a:bodyPr wrap="square" lIns="0" tIns="0" rIns="0" bIns="0" rtlCol="0" anchor="ctr"/>
          <a:lstStyle/>
          <a:p>
            <a:pPr algn="ctr" indent="0" marL="0">
              <a:buNone/>
            </a:pPr>
            <a:r>
              <a:rPr lang="en-US" sz="1150" i="1" dirty="0">
                <a:solidFill>
                  <a:srgbClr val="8A8F98"/>
                </a:solidFill>
                <a:latin typeface="Arial" pitchFamily="34" charset="0"/>
                <a:ea typeface="Arial" pitchFamily="34" charset="-122"/>
                <a:cs typeface="Arial" pitchFamily="34" charset="-120"/>
              </a:rPr>
              <a:t>Built at Wonderly, to solve a problem the team kept hitting themselves.</a:t>
            </a:r>
            <a:endParaRPr lang="en-US" sz="1150" dirty="0"/>
          </a:p>
        </p:txBody>
      </p:sp>
      <p:sp>
        <p:nvSpPr>
          <p:cNvPr id="23" name="Text 21"/>
          <p:cNvSpPr/>
          <p:nvPr/>
        </p:nvSpPr>
        <p:spPr>
          <a:xfrm>
            <a:off x="640080" y="6400800"/>
            <a:ext cx="4572000" cy="274320"/>
          </a:xfrm>
          <a:prstGeom prst="rect">
            <a:avLst/>
          </a:prstGeom>
          <a:noFill/>
          <a:ln/>
        </p:spPr>
        <p:txBody>
          <a:bodyPr wrap="square" lIns="0" tIns="0" rIns="0" bIns="0" rtlCol="0" anchor="ctr"/>
          <a:lstStyle/>
          <a:p>
            <a:pPr algn="l" indent="0" marL="0">
              <a:buNone/>
            </a:pPr>
            <a:r>
              <a:rPr lang="en-US" sz="900" dirty="0">
                <a:solidFill>
                  <a:srgbClr val="8A8F98"/>
                </a:solidFill>
                <a:latin typeface="Arial" pitchFamily="34" charset="0"/>
                <a:ea typeface="Arial" pitchFamily="34" charset="-122"/>
                <a:cs typeface="Arial" pitchFamily="34" charset="-120"/>
              </a:rPr>
              <a:t>Biblio  ·  Wonderly</a:t>
            </a:r>
            <a:endParaRPr lang="en-US" sz="900" dirty="0"/>
          </a:p>
        </p:txBody>
      </p:sp>
      <p:sp>
        <p:nvSpPr>
          <p:cNvPr id="24" name="Text 22"/>
          <p:cNvSpPr/>
          <p:nvPr/>
        </p:nvSpPr>
        <p:spPr>
          <a:xfrm>
            <a:off x="10637215" y="6400800"/>
            <a:ext cx="914400" cy="274320"/>
          </a:xfrm>
          <a:prstGeom prst="rect">
            <a:avLst/>
          </a:prstGeom>
          <a:noFill/>
          <a:ln/>
        </p:spPr>
        <p:txBody>
          <a:bodyPr wrap="square" lIns="0" tIns="0" rIns="0" bIns="0" rtlCol="0" anchor="ctr"/>
          <a:lstStyle/>
          <a:p>
            <a:pPr algn="r" indent="0" marL="0">
              <a:buNone/>
            </a:pPr>
            <a:r>
              <a:rPr lang="en-US" sz="900" dirty="0">
                <a:solidFill>
                  <a:srgbClr val="8A8F98"/>
                </a:solidFill>
                <a:latin typeface="Courier New" pitchFamily="34" charset="0"/>
                <a:ea typeface="Courier New" pitchFamily="34" charset="-122"/>
                <a:cs typeface="Courier New"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090A"/>
        </a:solidFill>
      </p:bgPr>
    </p:bg>
    <p:spTree>
      <p:nvGrpSpPr>
        <p:cNvPr id="1" name=""/>
        <p:cNvGrpSpPr/>
        <p:nvPr/>
      </p:nvGrpSpPr>
      <p:grpSpPr>
        <a:xfrm>
          <a:off x="0" y="0"/>
          <a:ext cx="0" cy="0"/>
          <a:chOff x="0" y="0"/>
          <a:chExt cx="0" cy="0"/>
        </a:xfrm>
      </p:grpSpPr>
      <p:sp>
        <p:nvSpPr>
          <p:cNvPr id="2" name="Shape 0"/>
          <p:cNvSpPr/>
          <p:nvPr/>
        </p:nvSpPr>
        <p:spPr>
          <a:xfrm>
            <a:off x="6858000" y="3200400"/>
            <a:ext cx="7315200" cy="7315200"/>
          </a:xfrm>
          <a:prstGeom prst="ellipse">
            <a:avLst/>
          </a:prstGeom>
          <a:solidFill>
            <a:srgbClr val="141633">
              <a:alpha val="65000"/>
            </a:srgbClr>
          </a:solidFill>
          <a:ln/>
        </p:spPr>
      </p:sp>
      <p:sp>
        <p:nvSpPr>
          <p:cNvPr id="3" name="Text 1"/>
          <p:cNvSpPr/>
          <p:nvPr/>
        </p:nvSpPr>
        <p:spPr>
          <a:xfrm>
            <a:off x="640080" y="685800"/>
            <a:ext cx="7315200" cy="274320"/>
          </a:xfrm>
          <a:prstGeom prst="rect">
            <a:avLst/>
          </a:prstGeom>
          <a:noFill/>
          <a:ln/>
        </p:spPr>
        <p:txBody>
          <a:bodyPr wrap="square" lIns="0" tIns="0" rIns="0" bIns="0" rtlCol="0" anchor="ctr"/>
          <a:lstStyle/>
          <a:p>
            <a:pPr algn="l" indent="0" marL="0">
              <a:buNone/>
            </a:pPr>
            <a:r>
              <a:rPr lang="en-US" sz="1100" b="1" spc="300" kern="0" dirty="0">
                <a:solidFill>
                  <a:srgbClr val="B59AFF"/>
                </a:solidFill>
                <a:latin typeface="Arial" pitchFamily="34" charset="0"/>
                <a:ea typeface="Arial" pitchFamily="34" charset="-122"/>
                <a:cs typeface="Arial" pitchFamily="34" charset="-120"/>
              </a:rPr>
              <a:t>THE ASK</a:t>
            </a:r>
            <a:endParaRPr lang="en-US" sz="1100" dirty="0"/>
          </a:p>
        </p:txBody>
      </p:sp>
      <p:sp>
        <p:nvSpPr>
          <p:cNvPr id="4" name="Text 2"/>
          <p:cNvSpPr/>
          <p:nvPr/>
        </p:nvSpPr>
        <p:spPr>
          <a:xfrm>
            <a:off x="640080" y="1097280"/>
            <a:ext cx="10515600" cy="1371600"/>
          </a:xfrm>
          <a:prstGeom prst="rect">
            <a:avLst/>
          </a:prstGeom>
          <a:noFill/>
          <a:ln/>
        </p:spPr>
        <p:txBody>
          <a:bodyPr wrap="square" lIns="0" tIns="0" rIns="0" bIns="0" rtlCol="0" anchor="ctr"/>
          <a:lstStyle/>
          <a:p>
            <a:pPr indent="0" marL="0">
              <a:lnSpc>
                <a:spcPct val="102000"/>
              </a:lnSpc>
              <a:buNone/>
            </a:pPr>
            <a:r>
              <a:rPr lang="en-US" sz="3400" b="1" dirty="0">
                <a:solidFill>
                  <a:srgbClr val="F7F8F8"/>
                </a:solidFill>
                <a:latin typeface="Arial" pitchFamily="34" charset="0"/>
                <a:ea typeface="Arial" pitchFamily="34" charset="-122"/>
                <a:cs typeface="Arial" pitchFamily="34" charset="-120"/>
              </a:rPr>
              <a:t>Raising to bring this to</a:t>
            </a:r>
            <a:endParaRPr lang="en-US" sz="3400" dirty="0"/>
          </a:p>
          <a:p>
            <a:pPr indent="0" marL="0">
              <a:lnSpc>
                <a:spcPct val="102000"/>
              </a:lnSpc>
              <a:buNone/>
            </a:pPr>
            <a:r>
              <a:rPr lang="en-US" sz="3400" b="1" dirty="0">
                <a:solidFill>
                  <a:srgbClr val="F7F8F8"/>
                </a:solidFill>
                <a:latin typeface="Arial" pitchFamily="34" charset="0"/>
                <a:ea typeface="Arial" pitchFamily="34" charset="-122"/>
                <a:cs typeface="Arial" pitchFamily="34" charset="-120"/>
              </a:rPr>
              <a:t>every engineering team.</a:t>
            </a:r>
            <a:endParaRPr lang="en-US" sz="3400" dirty="0"/>
          </a:p>
        </p:txBody>
      </p:sp>
      <p:sp>
        <p:nvSpPr>
          <p:cNvPr id="5" name="Shape 3"/>
          <p:cNvSpPr/>
          <p:nvPr/>
        </p:nvSpPr>
        <p:spPr>
          <a:xfrm>
            <a:off x="640080" y="2788920"/>
            <a:ext cx="5029200" cy="1371600"/>
          </a:xfrm>
          <a:prstGeom prst="roundRect">
            <a:avLst>
              <a:gd name="adj" fmla="val 6000"/>
            </a:avLst>
          </a:prstGeom>
          <a:solidFill>
            <a:srgbClr val="12132A"/>
          </a:solidFill>
          <a:ln w="12700">
            <a:solidFill>
              <a:srgbClr val="3A3B6A"/>
            </a:solidFill>
            <a:prstDash val="solid"/>
          </a:ln>
          <a:effectLst>
            <a:outerShdw sx="100000" sy="100000" kx="0" ky="0" algn="bl" rotWithShape="0" blurRad="127000" dist="50800" dir="5400000">
              <a:srgbClr val="000000">
                <a:alpha val="35000"/>
              </a:srgbClr>
            </a:outerShdw>
          </a:effectLst>
        </p:spPr>
      </p:sp>
      <p:sp>
        <p:nvSpPr>
          <p:cNvPr id="6" name="Text 4"/>
          <p:cNvSpPr/>
          <p:nvPr/>
        </p:nvSpPr>
        <p:spPr>
          <a:xfrm>
            <a:off x="960120" y="2971800"/>
            <a:ext cx="4389120" cy="548640"/>
          </a:xfrm>
          <a:prstGeom prst="rect">
            <a:avLst/>
          </a:prstGeom>
          <a:noFill/>
          <a:ln/>
        </p:spPr>
        <p:txBody>
          <a:bodyPr wrap="square" lIns="0" tIns="0" rIns="0" bIns="0" rtlCol="0" anchor="ctr"/>
          <a:lstStyle/>
          <a:p>
            <a:pPr indent="0" marL="0">
              <a:buNone/>
            </a:pPr>
            <a:r>
              <a:rPr lang="en-US" sz="3000" b="1" dirty="0">
                <a:solidFill>
                  <a:srgbClr val="B59AFF"/>
                </a:solidFill>
                <a:latin typeface="Arial" pitchFamily="34" charset="0"/>
                <a:ea typeface="Arial" pitchFamily="34" charset="-122"/>
                <a:cs typeface="Arial" pitchFamily="34" charset="-120"/>
              </a:rPr>
              <a:t>$[ X ]M seed</a:t>
            </a:r>
            <a:endParaRPr lang="en-US" sz="3000" dirty="0"/>
          </a:p>
        </p:txBody>
      </p:sp>
      <p:sp>
        <p:nvSpPr>
          <p:cNvPr id="7" name="Text 5"/>
          <p:cNvSpPr/>
          <p:nvPr/>
        </p:nvSpPr>
        <p:spPr>
          <a:xfrm>
            <a:off x="960120" y="3566160"/>
            <a:ext cx="4389120" cy="457200"/>
          </a:xfrm>
          <a:prstGeom prst="rect">
            <a:avLst/>
          </a:prstGeom>
          <a:noFill/>
          <a:ln/>
        </p:spPr>
        <p:txBody>
          <a:bodyPr wrap="square" lIns="0" tIns="0" rIns="0" bIns="0" rtlCol="0" anchor="ctr"/>
          <a:lstStyle/>
          <a:p>
            <a:pPr indent="0" marL="0">
              <a:lnSpc>
                <a:spcPct val="110000"/>
              </a:lnSpc>
              <a:buNone/>
            </a:pPr>
            <a:r>
              <a:rPr lang="en-US" sz="1150" dirty="0">
                <a:solidFill>
                  <a:srgbClr val="8A8F98"/>
                </a:solidFill>
                <a:latin typeface="Arial" pitchFamily="34" charset="0"/>
                <a:ea typeface="Arial" pitchFamily="34" charset="-122"/>
                <a:cs typeface="Arial" pitchFamily="34" charset="-120"/>
              </a:rPr>
              <a:t>Enough runway to reach real revenue, 18 to 24 months</a:t>
            </a:r>
            <a:endParaRPr lang="en-US" sz="1150" dirty="0"/>
          </a:p>
        </p:txBody>
      </p:sp>
      <p:sp>
        <p:nvSpPr>
          <p:cNvPr id="8" name="Shape 6"/>
          <p:cNvSpPr/>
          <p:nvPr/>
        </p:nvSpPr>
        <p:spPr>
          <a:xfrm>
            <a:off x="6355080" y="2834640"/>
            <a:ext cx="54864" cy="868680"/>
          </a:xfrm>
          <a:prstGeom prst="rect">
            <a:avLst/>
          </a:prstGeom>
          <a:solidFill>
            <a:srgbClr val="7C7FFF"/>
          </a:solidFill>
          <a:ln/>
        </p:spPr>
      </p:sp>
      <p:sp>
        <p:nvSpPr>
          <p:cNvPr id="9" name="Text 7"/>
          <p:cNvSpPr/>
          <p:nvPr/>
        </p:nvSpPr>
        <p:spPr>
          <a:xfrm>
            <a:off x="6583680" y="2788920"/>
            <a:ext cx="4937760" cy="320040"/>
          </a:xfrm>
          <a:prstGeom prst="rect">
            <a:avLst/>
          </a:prstGeom>
          <a:noFill/>
          <a:ln/>
        </p:spPr>
        <p:txBody>
          <a:bodyPr wrap="square" lIns="0" tIns="0" rIns="0" bIns="0" rtlCol="0" anchor="ctr"/>
          <a:lstStyle/>
          <a:p>
            <a:pPr indent="0" marL="0">
              <a:buNone/>
            </a:pPr>
            <a:r>
              <a:rPr lang="en-US" sz="1400" b="1" dirty="0">
                <a:solidFill>
                  <a:srgbClr val="F7F8F8"/>
                </a:solidFill>
                <a:latin typeface="Arial" pitchFamily="34" charset="0"/>
                <a:ea typeface="Arial" pitchFamily="34" charset="-122"/>
                <a:cs typeface="Arial" pitchFamily="34" charset="-120"/>
              </a:rPr>
              <a:t>Product</a:t>
            </a:r>
            <a:endParaRPr lang="en-US" sz="1400" dirty="0"/>
          </a:p>
        </p:txBody>
      </p:sp>
      <p:sp>
        <p:nvSpPr>
          <p:cNvPr id="10" name="Text 8"/>
          <p:cNvSpPr/>
          <p:nvPr/>
        </p:nvSpPr>
        <p:spPr>
          <a:xfrm>
            <a:off x="6583680" y="3099816"/>
            <a:ext cx="4892040" cy="548640"/>
          </a:xfrm>
          <a:prstGeom prst="rect">
            <a:avLst/>
          </a:prstGeom>
          <a:noFill/>
          <a:ln/>
        </p:spPr>
        <p:txBody>
          <a:bodyPr wrap="square" lIns="0" tIns="0" rIns="0" bIns="0" rtlCol="0" anchor="ctr"/>
          <a:lstStyle/>
          <a:p>
            <a:pPr indent="0" marL="0">
              <a:lnSpc>
                <a:spcPct val="115000"/>
              </a:lnSpc>
              <a:buNone/>
            </a:pPr>
            <a:r>
              <a:rPr lang="en-US" sz="1100" dirty="0">
                <a:solidFill>
                  <a:srgbClr val="8A8F98"/>
                </a:solidFill>
                <a:latin typeface="Arial" pitchFamily="34" charset="0"/>
                <a:ea typeface="Arial" pitchFamily="34" charset="-122"/>
                <a:cs typeface="Arial" pitchFamily="34" charset="-120"/>
              </a:rPr>
              <a:t>Harden the managed platform and expand review agents, memory, and analytics.</a:t>
            </a:r>
            <a:endParaRPr lang="en-US" sz="1100" dirty="0"/>
          </a:p>
        </p:txBody>
      </p:sp>
      <p:sp>
        <p:nvSpPr>
          <p:cNvPr id="11" name="Shape 9"/>
          <p:cNvSpPr/>
          <p:nvPr/>
        </p:nvSpPr>
        <p:spPr>
          <a:xfrm>
            <a:off x="6355080" y="3822192"/>
            <a:ext cx="54864" cy="868680"/>
          </a:xfrm>
          <a:prstGeom prst="rect">
            <a:avLst/>
          </a:prstGeom>
          <a:solidFill>
            <a:srgbClr val="7C7FFF"/>
          </a:solidFill>
          <a:ln/>
        </p:spPr>
      </p:sp>
      <p:sp>
        <p:nvSpPr>
          <p:cNvPr id="12" name="Text 10"/>
          <p:cNvSpPr/>
          <p:nvPr/>
        </p:nvSpPr>
        <p:spPr>
          <a:xfrm>
            <a:off x="6583680" y="3776472"/>
            <a:ext cx="4937760" cy="320040"/>
          </a:xfrm>
          <a:prstGeom prst="rect">
            <a:avLst/>
          </a:prstGeom>
          <a:noFill/>
          <a:ln/>
        </p:spPr>
        <p:txBody>
          <a:bodyPr wrap="square" lIns="0" tIns="0" rIns="0" bIns="0" rtlCol="0" anchor="ctr"/>
          <a:lstStyle/>
          <a:p>
            <a:pPr indent="0" marL="0">
              <a:buNone/>
            </a:pPr>
            <a:r>
              <a:rPr lang="en-US" sz="1400" b="1" dirty="0">
                <a:solidFill>
                  <a:srgbClr val="F7F8F8"/>
                </a:solidFill>
                <a:latin typeface="Arial" pitchFamily="34" charset="0"/>
                <a:ea typeface="Arial" pitchFamily="34" charset="-122"/>
                <a:cs typeface="Arial" pitchFamily="34" charset="-120"/>
              </a:rPr>
              <a:t>Go-to-market</a:t>
            </a:r>
            <a:endParaRPr lang="en-US" sz="1400" dirty="0"/>
          </a:p>
        </p:txBody>
      </p:sp>
      <p:sp>
        <p:nvSpPr>
          <p:cNvPr id="13" name="Text 11"/>
          <p:cNvSpPr/>
          <p:nvPr/>
        </p:nvSpPr>
        <p:spPr>
          <a:xfrm>
            <a:off x="6583680" y="4087368"/>
            <a:ext cx="4892040" cy="548640"/>
          </a:xfrm>
          <a:prstGeom prst="rect">
            <a:avLst/>
          </a:prstGeom>
          <a:noFill/>
          <a:ln/>
        </p:spPr>
        <p:txBody>
          <a:bodyPr wrap="square" lIns="0" tIns="0" rIns="0" bIns="0" rtlCol="0" anchor="ctr"/>
          <a:lstStyle/>
          <a:p>
            <a:pPr indent="0" marL="0">
              <a:lnSpc>
                <a:spcPct val="115000"/>
              </a:lnSpc>
              <a:buNone/>
            </a:pPr>
            <a:r>
              <a:rPr lang="en-US" sz="1100" dirty="0">
                <a:solidFill>
                  <a:srgbClr val="8A8F98"/>
                </a:solidFill>
                <a:latin typeface="Arial" pitchFamily="34" charset="0"/>
                <a:ea typeface="Arial" pitchFamily="34" charset="-122"/>
                <a:cs typeface="Arial" pitchFamily="34" charset="-120"/>
              </a:rPr>
              <a:t>Run the design-partner program and grow the open-source base.</a:t>
            </a:r>
            <a:endParaRPr lang="en-US" sz="1100" dirty="0"/>
          </a:p>
        </p:txBody>
      </p:sp>
      <p:sp>
        <p:nvSpPr>
          <p:cNvPr id="14" name="Shape 12"/>
          <p:cNvSpPr/>
          <p:nvPr/>
        </p:nvSpPr>
        <p:spPr>
          <a:xfrm>
            <a:off x="6355080" y="4809744"/>
            <a:ext cx="54864" cy="868680"/>
          </a:xfrm>
          <a:prstGeom prst="rect">
            <a:avLst/>
          </a:prstGeom>
          <a:solidFill>
            <a:srgbClr val="7C7FFF"/>
          </a:solidFill>
          <a:ln/>
        </p:spPr>
      </p:sp>
      <p:sp>
        <p:nvSpPr>
          <p:cNvPr id="15" name="Text 13"/>
          <p:cNvSpPr/>
          <p:nvPr/>
        </p:nvSpPr>
        <p:spPr>
          <a:xfrm>
            <a:off x="6583680" y="4764024"/>
            <a:ext cx="4937760" cy="320040"/>
          </a:xfrm>
          <a:prstGeom prst="rect">
            <a:avLst/>
          </a:prstGeom>
          <a:noFill/>
          <a:ln/>
        </p:spPr>
        <p:txBody>
          <a:bodyPr wrap="square" lIns="0" tIns="0" rIns="0" bIns="0" rtlCol="0" anchor="ctr"/>
          <a:lstStyle/>
          <a:p>
            <a:pPr indent="0" marL="0">
              <a:buNone/>
            </a:pPr>
            <a:r>
              <a:rPr lang="en-US" sz="1400" b="1" dirty="0">
                <a:solidFill>
                  <a:srgbClr val="F7F8F8"/>
                </a:solidFill>
                <a:latin typeface="Arial" pitchFamily="34" charset="0"/>
                <a:ea typeface="Arial" pitchFamily="34" charset="-122"/>
                <a:cs typeface="Arial" pitchFamily="34" charset="-120"/>
              </a:rPr>
              <a:t>Team</a:t>
            </a:r>
            <a:endParaRPr lang="en-US" sz="1400" dirty="0"/>
          </a:p>
        </p:txBody>
      </p:sp>
      <p:sp>
        <p:nvSpPr>
          <p:cNvPr id="16" name="Text 14"/>
          <p:cNvSpPr/>
          <p:nvPr/>
        </p:nvSpPr>
        <p:spPr>
          <a:xfrm>
            <a:off x="6583680" y="5074920"/>
            <a:ext cx="4892040" cy="548640"/>
          </a:xfrm>
          <a:prstGeom prst="rect">
            <a:avLst/>
          </a:prstGeom>
          <a:noFill/>
          <a:ln/>
        </p:spPr>
        <p:txBody>
          <a:bodyPr wrap="square" lIns="0" tIns="0" rIns="0" bIns="0" rtlCol="0" anchor="ctr"/>
          <a:lstStyle/>
          <a:p>
            <a:pPr indent="0" marL="0">
              <a:lnSpc>
                <a:spcPct val="115000"/>
              </a:lnSpc>
              <a:buNone/>
            </a:pPr>
            <a:r>
              <a:rPr lang="en-US" sz="1100" dirty="0">
                <a:solidFill>
                  <a:srgbClr val="8A8F98"/>
                </a:solidFill>
                <a:latin typeface="Arial" pitchFamily="34" charset="0"/>
                <a:ea typeface="Arial" pitchFamily="34" charset="-122"/>
                <a:cs typeface="Arial" pitchFamily="34" charset="-120"/>
              </a:rPr>
              <a:t>Founding engineers and the first GTM hire.</a:t>
            </a:r>
            <a:endParaRPr lang="en-US" sz="1100" dirty="0"/>
          </a:p>
        </p:txBody>
      </p:sp>
      <p:sp>
        <p:nvSpPr>
          <p:cNvPr id="17" name="Text 15"/>
          <p:cNvSpPr/>
          <p:nvPr/>
        </p:nvSpPr>
        <p:spPr>
          <a:xfrm>
            <a:off x="640080" y="5669280"/>
            <a:ext cx="8229600" cy="365760"/>
          </a:xfrm>
          <a:prstGeom prst="rect">
            <a:avLst/>
          </a:prstGeom>
          <a:noFill/>
          <a:ln/>
        </p:spPr>
        <p:txBody>
          <a:bodyPr wrap="square" lIns="0" tIns="0" rIns="0" bIns="0" rtlCol="0" anchor="ctr"/>
          <a:lstStyle/>
          <a:p>
            <a:pPr indent="0" marL="0">
              <a:buNone/>
            </a:pPr>
            <a:r>
              <a:rPr lang="en-US" sz="1400" b="1" dirty="0">
                <a:solidFill>
                  <a:srgbClr val="F7F8F8"/>
                </a:solidFill>
                <a:latin typeface="Arial" pitchFamily="34" charset="0"/>
                <a:ea typeface="Arial" pitchFamily="34" charset="-122"/>
                <a:cs typeface="Arial" pitchFamily="34" charset="-120"/>
              </a:rPr>
              <a:t>Want to see it on a real PR? Happy to walk you through one.</a:t>
            </a:r>
            <a:endParaRPr lang="en-US" sz="1400" dirty="0"/>
          </a:p>
        </p:txBody>
      </p:sp>
      <p:sp>
        <p:nvSpPr>
          <p:cNvPr id="18" name="Text 16"/>
          <p:cNvSpPr/>
          <p:nvPr/>
        </p:nvSpPr>
        <p:spPr>
          <a:xfrm>
            <a:off x="640080" y="6126480"/>
            <a:ext cx="8229600" cy="274320"/>
          </a:xfrm>
          <a:prstGeom prst="rect">
            <a:avLst/>
          </a:prstGeom>
          <a:noFill/>
          <a:ln/>
        </p:spPr>
        <p:txBody>
          <a:bodyPr wrap="square" lIns="0" tIns="0" rIns="0" bIns="0" rtlCol="0" anchor="ctr"/>
          <a:lstStyle/>
          <a:p>
            <a:pPr indent="0" marL="0">
              <a:buNone/>
            </a:pPr>
            <a:r>
              <a:rPr lang="en-US" sz="1050" dirty="0">
                <a:solidFill>
                  <a:srgbClr val="8A8F98"/>
                </a:solidFill>
                <a:latin typeface="Courier New" pitchFamily="34" charset="0"/>
                <a:ea typeface="Courier New" pitchFamily="34" charset="-122"/>
                <a:cs typeface="Courier New" pitchFamily="34" charset="-120"/>
              </a:rPr>
              <a:t>gary.chao@weaccelerate.com  ·  biblio.wonderly.info</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Biblio — Investor Deck</dc:title>
  <dc:subject>PptxGenJS Presentation</dc:subject>
  <dc:creator>Wonderly</dc:creator>
  <cp:lastModifiedBy>Wonderly</cp:lastModifiedBy>
  <cp:revision>1</cp:revision>
  <dcterms:created xsi:type="dcterms:W3CDTF">2026-06-14T10:16:27Z</dcterms:created>
  <dcterms:modified xsi:type="dcterms:W3CDTF">2026-06-14T10:16:27Z</dcterms:modified>
</cp:coreProperties>
</file>